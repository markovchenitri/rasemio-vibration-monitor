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70" r:id="rId4"/>
    <p:sldId id="264" r:id="rId5"/>
    <p:sldId id="265" r:id="rId6"/>
    <p:sldId id="266" r:id="rId7"/>
    <p:sldId id="263" r:id="rId8"/>
    <p:sldId id="258" r:id="rId9"/>
    <p:sldId id="257" r:id="rId10"/>
    <p:sldId id="260" r:id="rId11"/>
    <p:sldId id="259" r:id="rId12"/>
    <p:sldId id="261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1CDCE1-6E49-D2EF-3192-67F7C2119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0D307C-C8A9-52F7-0403-C1E0715B3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451AD2-4F74-9B40-E482-BA8E4BD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951B78-6CDD-4BD6-78C4-ED44D5FB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FBF443-24D3-3514-4E09-92F9A3AB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62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DD9F8F-64F5-5453-09F4-F595B924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9BD500-4CF5-5F95-0C3D-FEC2ECB84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E1A140-0FD8-22B0-48E4-CC8A022E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E736FD-C315-CA9B-F563-2EF0668E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E8C003-B99F-8728-38C6-62B8B2B9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739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71B2DF-8A31-BF34-E317-92541257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4305FA-D5D2-D9BF-7C8A-F7AD0142C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EAE03F-84A9-5ED7-55B1-A5D28979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5EA3A2-0BB7-20EF-B3F1-6A7A1C7D7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544EC6-6B0A-472E-CF98-7B31B84F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889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1A087-43DD-2A1F-1A9E-F12A8E22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A7EA18-79EC-143A-4E52-31282D755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B23F40-2389-BB93-F9FC-94829DE02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FE9C08-C2E7-FF1E-F0EB-524420F07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D11717-DDDA-FCA5-C3F2-EFB5E9A8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BDAB12-DD7D-83C2-646A-9FE711A6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098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E5CB1A-D0AD-AC96-CA24-F1C3FB34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F54137-5176-2FD8-F30D-DE931FE52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118153A-61A5-6C5B-D757-EF5B2348D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0B07E0D-6A61-935F-4F9A-235B41638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EEEC16F-B0B3-64FF-742A-8473EF0B3F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00E0876-9527-D44F-99F6-0FCCC0B4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C8C275-6E77-C4E0-26D8-E16AC974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FC2907-28AF-2B7A-8304-6C14A017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00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5EE870-1597-3B99-1BC5-E6EEF1D4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17F40DE-1AD2-5851-9B17-D3D6FCDD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2EB1B07-BCDC-8B76-BFDC-147EED34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98E653-0B1C-99E2-EB52-D5FEF1ABB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5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DF8130-8F56-E28B-C717-958841A6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46D0059-9FA2-B982-305B-37B8CCC1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28FDBB-B3B8-2D10-E394-8F26C211B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51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A28463-DEFC-4308-08B1-4BF152A2B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17E211-88CF-52CF-BC53-2AC0A1AD9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0FE9C67-691D-5BB9-F1B3-82D920B3B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0213A4-8507-309E-DF37-9DCA0BA87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8DEA68-CAC1-C99D-DCED-B27B9C03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FD1194-70AC-8758-C086-C7615850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34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790A64-C950-AD10-3333-15BE26D0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055947A-5DDF-4C27-EAA5-4E8BD7EFD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3FF22E1-4337-E6DC-4DDB-A19A0344E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CEF577-06EC-F05F-6D69-78186B39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ACF76B-420B-6304-3977-6946153C0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0DB325-4C4D-BB38-4E85-B6E679A3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770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A8D07-63DC-43F2-431C-AAF987CC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D1951D8-D858-7F8E-E90D-2530C87B1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A992B5-3BB9-B6D1-B6AC-EF55E7BF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E49549-343A-6F99-57FF-F1B6A8BC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F470D3-1101-4E51-3472-3DB636AE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83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BDFCC2D-F17D-C092-D260-412F7541A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2B58676-5824-2007-643F-16A2E4E58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E8C596-FCC3-55A8-2012-BA7ABFF8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ADBFA1-593C-31D5-A07E-6ADC9E47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E98D1C-C7C5-F180-E79A-79AD3B37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52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0C47042-08B3-3AEF-0BFC-A49D9809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318EBE-A169-C152-AD15-C8F7C9B59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15F8EA-9109-072F-A2D1-82B51D501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CE663-13FF-4BA1-9C77-CA93496CA5A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DCF60C-8C3F-421C-8B3D-5DAC99618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92D49F-C4B4-50C7-00D1-6DF958EC7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0E4B5-8081-47D9-BB84-0B4312970B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59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Macro-Enabled_Worksheet.xlsm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package" Target="../embeddings/Microsoft_Excel_Macro-Enabled_Worksheet1.xlsm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D400700-B1CF-03DE-527E-3E2105A74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690" y="1465407"/>
            <a:ext cx="6945926" cy="2603202"/>
          </a:xfrm>
          <a:prstGeom prst="rect">
            <a:avLst/>
          </a:prstGeom>
        </p:spPr>
      </p:pic>
      <p:sp>
        <p:nvSpPr>
          <p:cNvPr id="7" name="圖說文字: 直線 6">
            <a:extLst>
              <a:ext uri="{FF2B5EF4-FFF2-40B4-BE49-F238E27FC236}">
                <a16:creationId xmlns:a16="http://schemas.microsoft.com/office/drawing/2014/main" id="{7DE717F1-C5CE-9FAA-ED20-FB32218561E3}"/>
              </a:ext>
            </a:extLst>
          </p:cNvPr>
          <p:cNvSpPr/>
          <p:nvPr/>
        </p:nvSpPr>
        <p:spPr>
          <a:xfrm>
            <a:off x="10178472" y="1995770"/>
            <a:ext cx="1487055" cy="636593"/>
          </a:xfrm>
          <a:prstGeom prst="borderCallout1">
            <a:avLst>
              <a:gd name="adj1" fmla="val 46001"/>
              <a:gd name="adj2" fmla="val 2705"/>
              <a:gd name="adj3" fmla="val 91038"/>
              <a:gd name="adj4" fmla="val -112051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2.</a:t>
            </a:r>
            <a:r>
              <a:rPr lang="zh-TW" altLang="en-US" sz="1400" dirty="0">
                <a:solidFill>
                  <a:schemeClr val="tx1"/>
                </a:solidFill>
              </a:rPr>
              <a:t>進監視選單，選擇圖表</a:t>
            </a:r>
          </a:p>
        </p:txBody>
      </p:sp>
      <p:sp>
        <p:nvSpPr>
          <p:cNvPr id="11" name="圖說文字: 直線 10">
            <a:extLst>
              <a:ext uri="{FF2B5EF4-FFF2-40B4-BE49-F238E27FC236}">
                <a16:creationId xmlns:a16="http://schemas.microsoft.com/office/drawing/2014/main" id="{0BC85566-D5F8-6E4C-165D-B447DDB75514}"/>
              </a:ext>
            </a:extLst>
          </p:cNvPr>
          <p:cNvSpPr/>
          <p:nvPr/>
        </p:nvSpPr>
        <p:spPr>
          <a:xfrm>
            <a:off x="1080652" y="3325091"/>
            <a:ext cx="1330038" cy="346364"/>
          </a:xfrm>
          <a:prstGeom prst="borderCallout1">
            <a:avLst>
              <a:gd name="adj1" fmla="val 40668"/>
              <a:gd name="adj2" fmla="val 101316"/>
              <a:gd name="adj3" fmla="val -68887"/>
              <a:gd name="adj4" fmla="val 143429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1.</a:t>
            </a:r>
            <a:r>
              <a:rPr lang="zh-TW" altLang="en-US" sz="1400" dirty="0">
                <a:solidFill>
                  <a:schemeClr val="tx1"/>
                </a:solidFill>
              </a:rPr>
              <a:t>驅動器連線</a:t>
            </a:r>
          </a:p>
        </p:txBody>
      </p:sp>
    </p:spTree>
    <p:extLst>
      <p:ext uri="{BB962C8B-B14F-4D97-AF65-F5344CB8AC3E}">
        <p14:creationId xmlns:p14="http://schemas.microsoft.com/office/powerpoint/2010/main" val="79438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D7B525B-C34B-DA8D-5A51-2F81E7A22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047" y="824779"/>
            <a:ext cx="9284662" cy="4982150"/>
          </a:xfrm>
          <a:prstGeom prst="rect">
            <a:avLst/>
          </a:prstGeom>
        </p:spPr>
      </p:pic>
      <p:sp>
        <p:nvSpPr>
          <p:cNvPr id="7" name="圖說文字: 直線 6">
            <a:extLst>
              <a:ext uri="{FF2B5EF4-FFF2-40B4-BE49-F238E27FC236}">
                <a16:creationId xmlns:a16="http://schemas.microsoft.com/office/drawing/2014/main" id="{FBFDA2DA-35DD-7083-670F-B9D0D76DDECB}"/>
              </a:ext>
            </a:extLst>
          </p:cNvPr>
          <p:cNvSpPr/>
          <p:nvPr/>
        </p:nvSpPr>
        <p:spPr>
          <a:xfrm>
            <a:off x="120070" y="2382981"/>
            <a:ext cx="1330038" cy="932873"/>
          </a:xfrm>
          <a:prstGeom prst="borderCallout1">
            <a:avLst>
              <a:gd name="adj1" fmla="val 40668"/>
              <a:gd name="adj2" fmla="val 101316"/>
              <a:gd name="adj3" fmla="val -13441"/>
              <a:gd name="adj4" fmla="val 141345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3.</a:t>
            </a:r>
            <a:r>
              <a:rPr lang="zh-TW" altLang="en-US" sz="1400" dirty="0">
                <a:solidFill>
                  <a:schemeClr val="tx1"/>
                </a:solidFill>
              </a:rPr>
              <a:t>選擇對應手臂動作完整週期之時間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2E2FBE-76A1-4163-9E9A-A00E027F5625}"/>
              </a:ext>
            </a:extLst>
          </p:cNvPr>
          <p:cNvSpPr/>
          <p:nvPr/>
        </p:nvSpPr>
        <p:spPr>
          <a:xfrm>
            <a:off x="1919047" y="1644072"/>
            <a:ext cx="1378335" cy="544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圖說文字: 直線 9">
            <a:extLst>
              <a:ext uri="{FF2B5EF4-FFF2-40B4-BE49-F238E27FC236}">
                <a16:creationId xmlns:a16="http://schemas.microsoft.com/office/drawing/2014/main" id="{4DE081D7-AC2A-0F89-D71D-B3F29377B7D1}"/>
              </a:ext>
            </a:extLst>
          </p:cNvPr>
          <p:cNvSpPr/>
          <p:nvPr/>
        </p:nvSpPr>
        <p:spPr>
          <a:xfrm>
            <a:off x="7439889" y="267854"/>
            <a:ext cx="1330038" cy="361087"/>
          </a:xfrm>
          <a:prstGeom prst="borderCallout1">
            <a:avLst>
              <a:gd name="adj1" fmla="val 48342"/>
              <a:gd name="adj2" fmla="val -4239"/>
              <a:gd name="adj3" fmla="val 244910"/>
              <a:gd name="adj4" fmla="val -71849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4.</a:t>
            </a:r>
            <a:r>
              <a:rPr lang="zh-TW" altLang="en-US" sz="1400" dirty="0">
                <a:solidFill>
                  <a:schemeClr val="tx1"/>
                </a:solidFill>
              </a:rPr>
              <a:t> 開始量測</a:t>
            </a:r>
          </a:p>
        </p:txBody>
      </p:sp>
      <p:sp>
        <p:nvSpPr>
          <p:cNvPr id="12" name="圖說文字: 直線 11">
            <a:extLst>
              <a:ext uri="{FF2B5EF4-FFF2-40B4-BE49-F238E27FC236}">
                <a16:creationId xmlns:a16="http://schemas.microsoft.com/office/drawing/2014/main" id="{9891EC7A-9B97-464D-709E-41008EFB6234}"/>
              </a:ext>
            </a:extLst>
          </p:cNvPr>
          <p:cNvSpPr/>
          <p:nvPr/>
        </p:nvSpPr>
        <p:spPr>
          <a:xfrm>
            <a:off x="4087093" y="263669"/>
            <a:ext cx="1768764" cy="361087"/>
          </a:xfrm>
          <a:prstGeom prst="borderCallout1">
            <a:avLst>
              <a:gd name="adj1" fmla="val 48342"/>
              <a:gd name="adj2" fmla="val -4239"/>
              <a:gd name="adj3" fmla="val 203983"/>
              <a:gd name="adj4" fmla="val -66105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5.</a:t>
            </a:r>
            <a:r>
              <a:rPr lang="zh-TW" altLang="en-US" sz="1400" dirty="0">
                <a:solidFill>
                  <a:schemeClr val="tx1"/>
                </a:solidFill>
              </a:rPr>
              <a:t>量測完後轉成</a:t>
            </a:r>
            <a:r>
              <a:rPr lang="en-US" altLang="zh-TW" sz="1400" dirty="0">
                <a:solidFill>
                  <a:schemeClr val="tx1"/>
                </a:solidFill>
              </a:rPr>
              <a:t>FFT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C91F62-E909-B2FA-A60A-185D746EEBF2}"/>
              </a:ext>
            </a:extLst>
          </p:cNvPr>
          <p:cNvSpPr/>
          <p:nvPr/>
        </p:nvSpPr>
        <p:spPr>
          <a:xfrm>
            <a:off x="2410883" y="1051071"/>
            <a:ext cx="394662" cy="2789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ACD29FC-D786-79FC-F281-B16784AD8D2B}"/>
              </a:ext>
            </a:extLst>
          </p:cNvPr>
          <p:cNvSpPr txBox="1"/>
          <p:nvPr/>
        </p:nvSpPr>
        <p:spPr>
          <a:xfrm>
            <a:off x="8926946" y="171398"/>
            <a:ext cx="17687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*</a:t>
            </a:r>
            <a:r>
              <a:rPr lang="zh-TW" altLang="en-US" sz="1200" b="1" dirty="0">
                <a:solidFill>
                  <a:srgbClr val="FF0000"/>
                </a:solidFill>
              </a:rPr>
              <a:t>開始量測前先將手臂   </a:t>
            </a:r>
            <a:endParaRPr lang="en-US" altLang="zh-TW" sz="1200" b="1" dirty="0">
              <a:solidFill>
                <a:srgbClr val="FF0000"/>
              </a:solidFill>
            </a:endParaRPr>
          </a:p>
          <a:p>
            <a:r>
              <a:rPr lang="zh-TW" altLang="en-US" sz="1200" b="1" dirty="0">
                <a:solidFill>
                  <a:srgbClr val="FF0000"/>
                </a:solidFill>
              </a:rPr>
              <a:t>   運行要被偵測之動作</a:t>
            </a:r>
          </a:p>
        </p:txBody>
      </p:sp>
    </p:spTree>
    <p:extLst>
      <p:ext uri="{BB962C8B-B14F-4D97-AF65-F5344CB8AC3E}">
        <p14:creationId xmlns:p14="http://schemas.microsoft.com/office/powerpoint/2010/main" val="46353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52379-BABA-7EE4-1DCB-815C178B1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28FE669-EFF1-B3DD-E36B-0ED117F54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75" y="424872"/>
            <a:ext cx="12209075" cy="566886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D5DD123-9B34-B644-CE8D-07B4924FFF2A}"/>
              </a:ext>
            </a:extLst>
          </p:cNvPr>
          <p:cNvSpPr/>
          <p:nvPr/>
        </p:nvSpPr>
        <p:spPr>
          <a:xfrm>
            <a:off x="4784784" y="4330460"/>
            <a:ext cx="954657" cy="891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680657-58A9-273B-0BB8-EC8E6884C7FE}"/>
              </a:ext>
            </a:extLst>
          </p:cNvPr>
          <p:cNvSpPr/>
          <p:nvPr/>
        </p:nvSpPr>
        <p:spPr>
          <a:xfrm>
            <a:off x="203200" y="2495910"/>
            <a:ext cx="1394910" cy="376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圖說文字: 直線 2">
            <a:extLst>
              <a:ext uri="{FF2B5EF4-FFF2-40B4-BE49-F238E27FC236}">
                <a16:creationId xmlns:a16="http://schemas.microsoft.com/office/drawing/2014/main" id="{1558C010-9D90-8A6B-3619-CC8B7E9FF2AE}"/>
              </a:ext>
            </a:extLst>
          </p:cNvPr>
          <p:cNvSpPr/>
          <p:nvPr/>
        </p:nvSpPr>
        <p:spPr>
          <a:xfrm>
            <a:off x="268071" y="4067049"/>
            <a:ext cx="1330038" cy="1419351"/>
          </a:xfrm>
          <a:prstGeom prst="borderCallout1">
            <a:avLst>
              <a:gd name="adj1" fmla="val -916"/>
              <a:gd name="adj2" fmla="val 47149"/>
              <a:gd name="adj3" fmla="val -112451"/>
              <a:gd name="adj4" fmla="val 44123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6.</a:t>
            </a:r>
            <a:r>
              <a:rPr lang="zh-TW" altLang="en-US" sz="1400" dirty="0">
                <a:solidFill>
                  <a:schemeClr val="tx1"/>
                </a:solidFill>
              </a:rPr>
              <a:t>用光標及放大功能分段找出電機速度與轉矩不匹配處，再將頻率輸入至濾波器中</a:t>
            </a:r>
          </a:p>
        </p:txBody>
      </p:sp>
    </p:spTree>
    <p:extLst>
      <p:ext uri="{BB962C8B-B14F-4D97-AF65-F5344CB8AC3E}">
        <p14:creationId xmlns:p14="http://schemas.microsoft.com/office/powerpoint/2010/main" val="427448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D015104-E541-A4D8-7E38-652B7D252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21" y="0"/>
            <a:ext cx="7295029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6764E22-B96F-473D-92C1-6D8B106D72D4}"/>
              </a:ext>
            </a:extLst>
          </p:cNvPr>
          <p:cNvSpPr/>
          <p:nvPr/>
        </p:nvSpPr>
        <p:spPr>
          <a:xfrm>
            <a:off x="6188364" y="120073"/>
            <a:ext cx="1265381" cy="923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1AC6BE-4BF8-C097-B02B-074CD935EC9D}"/>
              </a:ext>
            </a:extLst>
          </p:cNvPr>
          <p:cNvSpPr/>
          <p:nvPr/>
        </p:nvSpPr>
        <p:spPr>
          <a:xfrm>
            <a:off x="2179783" y="868218"/>
            <a:ext cx="1383570" cy="1754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圖說文字: 直線 8">
            <a:extLst>
              <a:ext uri="{FF2B5EF4-FFF2-40B4-BE49-F238E27FC236}">
                <a16:creationId xmlns:a16="http://schemas.microsoft.com/office/drawing/2014/main" id="{908D4FB7-0659-7997-7769-4FC95E24722D}"/>
              </a:ext>
            </a:extLst>
          </p:cNvPr>
          <p:cNvSpPr/>
          <p:nvPr/>
        </p:nvSpPr>
        <p:spPr>
          <a:xfrm>
            <a:off x="249381" y="1274618"/>
            <a:ext cx="1330038" cy="346364"/>
          </a:xfrm>
          <a:prstGeom prst="borderCallout1">
            <a:avLst>
              <a:gd name="adj1" fmla="val 40668"/>
              <a:gd name="adj2" fmla="val 101316"/>
              <a:gd name="adj3" fmla="val -68887"/>
              <a:gd name="adj4" fmla="val 143429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1.</a:t>
            </a:r>
            <a:r>
              <a:rPr lang="zh-TW" altLang="en-US" sz="1400" dirty="0">
                <a:solidFill>
                  <a:schemeClr val="tx1"/>
                </a:solidFill>
              </a:rPr>
              <a:t>驅動器連線</a:t>
            </a:r>
          </a:p>
        </p:txBody>
      </p:sp>
      <p:sp>
        <p:nvSpPr>
          <p:cNvPr id="11" name="圖說文字: 直線 10">
            <a:extLst>
              <a:ext uri="{FF2B5EF4-FFF2-40B4-BE49-F238E27FC236}">
                <a16:creationId xmlns:a16="http://schemas.microsoft.com/office/drawing/2014/main" id="{D8CCA809-7CC0-5649-8B59-25089E27BF43}"/>
              </a:ext>
            </a:extLst>
          </p:cNvPr>
          <p:cNvSpPr/>
          <p:nvPr/>
        </p:nvSpPr>
        <p:spPr>
          <a:xfrm>
            <a:off x="9474812" y="697344"/>
            <a:ext cx="1330038" cy="771237"/>
          </a:xfrm>
          <a:prstGeom prst="borderCallout1">
            <a:avLst>
              <a:gd name="adj1" fmla="val 46001"/>
              <a:gd name="adj2" fmla="val -1462"/>
              <a:gd name="adj3" fmla="val -54133"/>
              <a:gd name="adj4" fmla="val -147542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2.</a:t>
            </a:r>
            <a:r>
              <a:rPr lang="zh-TW" altLang="en-US" sz="1400" dirty="0">
                <a:solidFill>
                  <a:schemeClr val="tx1"/>
                </a:solidFill>
              </a:rPr>
              <a:t>進入選單，選擇調諧</a:t>
            </a:r>
          </a:p>
        </p:txBody>
      </p:sp>
    </p:spTree>
    <p:extLst>
      <p:ext uri="{BB962C8B-B14F-4D97-AF65-F5344CB8AC3E}">
        <p14:creationId xmlns:p14="http://schemas.microsoft.com/office/powerpoint/2010/main" val="2836995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A21E86F-20DF-F017-FC4C-AE5E037DC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868" y="0"/>
            <a:ext cx="5606263" cy="6858000"/>
          </a:xfrm>
          <a:prstGeom prst="rect">
            <a:avLst/>
          </a:prstGeom>
        </p:spPr>
      </p:pic>
      <p:sp>
        <p:nvSpPr>
          <p:cNvPr id="7" name="圖說文字: 直線 6">
            <a:extLst>
              <a:ext uri="{FF2B5EF4-FFF2-40B4-BE49-F238E27FC236}">
                <a16:creationId xmlns:a16="http://schemas.microsoft.com/office/drawing/2014/main" id="{021AF200-0519-A205-0FAC-AFB9589C467D}"/>
              </a:ext>
            </a:extLst>
          </p:cNvPr>
          <p:cNvSpPr/>
          <p:nvPr/>
        </p:nvSpPr>
        <p:spPr>
          <a:xfrm>
            <a:off x="1413164" y="1320800"/>
            <a:ext cx="1722686" cy="498764"/>
          </a:xfrm>
          <a:prstGeom prst="borderCallout1">
            <a:avLst>
              <a:gd name="adj1" fmla="val 40668"/>
              <a:gd name="adj2" fmla="val 101316"/>
              <a:gd name="adj3" fmla="val -172887"/>
              <a:gd name="adj4" fmla="val 1974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3.</a:t>
            </a:r>
            <a:r>
              <a:rPr lang="zh-TW" altLang="en-US" sz="1400" dirty="0">
                <a:solidFill>
                  <a:schemeClr val="tx1"/>
                </a:solidFill>
              </a:rPr>
              <a:t>點選連續寫入，並確定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3A7F6D-276A-46A2-6512-385926ED8050}"/>
              </a:ext>
            </a:extLst>
          </p:cNvPr>
          <p:cNvSpPr/>
          <p:nvPr/>
        </p:nvSpPr>
        <p:spPr>
          <a:xfrm>
            <a:off x="4886036" y="157018"/>
            <a:ext cx="581891" cy="221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圖說文字: 直線 9">
            <a:extLst>
              <a:ext uri="{FF2B5EF4-FFF2-40B4-BE49-F238E27FC236}">
                <a16:creationId xmlns:a16="http://schemas.microsoft.com/office/drawing/2014/main" id="{D21C6D59-9B14-C069-1D8B-854720AE96B2}"/>
              </a:ext>
            </a:extLst>
          </p:cNvPr>
          <p:cNvSpPr/>
          <p:nvPr/>
        </p:nvSpPr>
        <p:spPr>
          <a:xfrm>
            <a:off x="9333345" y="1445491"/>
            <a:ext cx="1722686" cy="498764"/>
          </a:xfrm>
          <a:prstGeom prst="borderCallout1">
            <a:avLst>
              <a:gd name="adj1" fmla="val -73"/>
              <a:gd name="adj2" fmla="val 55742"/>
              <a:gd name="adj3" fmla="val -206220"/>
              <a:gd name="adj4" fmla="val -152646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4.</a:t>
            </a:r>
            <a:r>
              <a:rPr lang="zh-TW" altLang="en-US" sz="1400" dirty="0">
                <a:solidFill>
                  <a:schemeClr val="tx1"/>
                </a:solidFill>
              </a:rPr>
              <a:t>進入濾波器設置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F1EE92-B3E9-8725-C088-29B6F965A745}"/>
              </a:ext>
            </a:extLst>
          </p:cNvPr>
          <p:cNvSpPr/>
          <p:nvPr/>
        </p:nvSpPr>
        <p:spPr>
          <a:xfrm>
            <a:off x="6026726" y="157017"/>
            <a:ext cx="581891" cy="221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0159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23C63BC-F0A9-1602-E9D8-E4A7685F4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850" y="0"/>
            <a:ext cx="82763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D7DA55-EC80-1E07-DABB-C0B078D68538}"/>
              </a:ext>
            </a:extLst>
          </p:cNvPr>
          <p:cNvSpPr/>
          <p:nvPr/>
        </p:nvSpPr>
        <p:spPr>
          <a:xfrm>
            <a:off x="3980872" y="1440873"/>
            <a:ext cx="858983" cy="221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C80721-821B-9D41-35F0-F2B489551116}"/>
              </a:ext>
            </a:extLst>
          </p:cNvPr>
          <p:cNvSpPr/>
          <p:nvPr/>
        </p:nvSpPr>
        <p:spPr>
          <a:xfrm>
            <a:off x="2572327" y="2530764"/>
            <a:ext cx="2082800" cy="341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CA0EFF-859F-7825-396F-50575BFA93DF}"/>
              </a:ext>
            </a:extLst>
          </p:cNvPr>
          <p:cNvSpPr/>
          <p:nvPr/>
        </p:nvSpPr>
        <p:spPr>
          <a:xfrm>
            <a:off x="3906981" y="4089400"/>
            <a:ext cx="1080655" cy="5564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2024F3-B814-B105-2EE7-F8B75E4CDD24}"/>
              </a:ext>
            </a:extLst>
          </p:cNvPr>
          <p:cNvSpPr/>
          <p:nvPr/>
        </p:nvSpPr>
        <p:spPr>
          <a:xfrm>
            <a:off x="5146963" y="2059710"/>
            <a:ext cx="1041400" cy="7389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E4D8D6-4C3F-3E62-E65C-A96C5AB0D299}"/>
              </a:ext>
            </a:extLst>
          </p:cNvPr>
          <p:cNvSpPr/>
          <p:nvPr/>
        </p:nvSpPr>
        <p:spPr>
          <a:xfrm>
            <a:off x="5146963" y="3429000"/>
            <a:ext cx="1041400" cy="7389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圖說文字: 直線 16">
            <a:extLst>
              <a:ext uri="{FF2B5EF4-FFF2-40B4-BE49-F238E27FC236}">
                <a16:creationId xmlns:a16="http://schemas.microsoft.com/office/drawing/2014/main" id="{89C16649-26D1-D6B8-2EC5-8F29E9BF76CE}"/>
              </a:ext>
            </a:extLst>
          </p:cNvPr>
          <p:cNvSpPr/>
          <p:nvPr/>
        </p:nvSpPr>
        <p:spPr>
          <a:xfrm>
            <a:off x="239833" y="1560946"/>
            <a:ext cx="1722686" cy="498764"/>
          </a:xfrm>
          <a:prstGeom prst="borderCallout1">
            <a:avLst>
              <a:gd name="adj1" fmla="val 50958"/>
              <a:gd name="adj2" fmla="val 101161"/>
              <a:gd name="adj3" fmla="val -3986"/>
              <a:gd name="adj4" fmla="val 207969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5.</a:t>
            </a:r>
            <a:r>
              <a:rPr lang="zh-TW" altLang="en-US" sz="1400" dirty="0">
                <a:solidFill>
                  <a:schemeClr val="tx1"/>
                </a:solidFill>
              </a:rPr>
              <a:t>選擇手動設置</a:t>
            </a:r>
          </a:p>
        </p:txBody>
      </p:sp>
      <p:sp>
        <p:nvSpPr>
          <p:cNvPr id="19" name="圖說文字: 直線 18">
            <a:extLst>
              <a:ext uri="{FF2B5EF4-FFF2-40B4-BE49-F238E27FC236}">
                <a16:creationId xmlns:a16="http://schemas.microsoft.com/office/drawing/2014/main" id="{6072DE23-6E8A-7113-011E-41A32326AE37}"/>
              </a:ext>
            </a:extLst>
          </p:cNvPr>
          <p:cNvSpPr/>
          <p:nvPr/>
        </p:nvSpPr>
        <p:spPr>
          <a:xfrm>
            <a:off x="235164" y="2530764"/>
            <a:ext cx="1722686" cy="498764"/>
          </a:xfrm>
          <a:prstGeom prst="borderCallout1">
            <a:avLst>
              <a:gd name="adj1" fmla="val 50958"/>
              <a:gd name="adj2" fmla="val 101161"/>
              <a:gd name="adj3" fmla="val 18694"/>
              <a:gd name="adj4" fmla="val 129717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6.</a:t>
            </a:r>
            <a:r>
              <a:rPr lang="zh-TW" altLang="en-US" sz="1400" dirty="0">
                <a:solidFill>
                  <a:schemeClr val="tx1"/>
                </a:solidFill>
              </a:rPr>
              <a:t>輸入頻率</a:t>
            </a:r>
          </a:p>
        </p:txBody>
      </p:sp>
      <p:sp>
        <p:nvSpPr>
          <p:cNvPr id="21" name="圖說文字: 直線 20">
            <a:extLst>
              <a:ext uri="{FF2B5EF4-FFF2-40B4-BE49-F238E27FC236}">
                <a16:creationId xmlns:a16="http://schemas.microsoft.com/office/drawing/2014/main" id="{03549DC4-C5D7-6072-1EA6-347ED8812DF2}"/>
              </a:ext>
            </a:extLst>
          </p:cNvPr>
          <p:cNvSpPr/>
          <p:nvPr/>
        </p:nvSpPr>
        <p:spPr>
          <a:xfrm>
            <a:off x="235164" y="4511964"/>
            <a:ext cx="1722686" cy="498764"/>
          </a:xfrm>
          <a:prstGeom prst="borderCallout1">
            <a:avLst>
              <a:gd name="adj1" fmla="val 50958"/>
              <a:gd name="adj2" fmla="val 101161"/>
              <a:gd name="adj3" fmla="val -34227"/>
              <a:gd name="adj4" fmla="val 208516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7.</a:t>
            </a:r>
            <a:r>
              <a:rPr lang="zh-TW" altLang="en-US" sz="1400" dirty="0">
                <a:solidFill>
                  <a:schemeClr val="tx1"/>
                </a:solidFill>
              </a:rPr>
              <a:t>輸入深度</a:t>
            </a:r>
            <a:r>
              <a:rPr lang="en-US" altLang="zh-TW" sz="1400" dirty="0">
                <a:solidFill>
                  <a:schemeClr val="tx1"/>
                </a:solidFill>
              </a:rPr>
              <a:t>(dB)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4BDF95-2C0B-3355-ACDD-8BC9F31B63A7}"/>
              </a:ext>
            </a:extLst>
          </p:cNvPr>
          <p:cNvSpPr/>
          <p:nvPr/>
        </p:nvSpPr>
        <p:spPr>
          <a:xfrm>
            <a:off x="2229058" y="1121790"/>
            <a:ext cx="1013763" cy="1920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322E52-6173-94D0-A773-33BA4C4B7FC1}"/>
              </a:ext>
            </a:extLst>
          </p:cNvPr>
          <p:cNvSpPr/>
          <p:nvPr/>
        </p:nvSpPr>
        <p:spPr>
          <a:xfrm>
            <a:off x="4894851" y="1096176"/>
            <a:ext cx="1013763" cy="1920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DAC820-76D9-ECD1-B979-2BF69DF4478D}"/>
              </a:ext>
            </a:extLst>
          </p:cNvPr>
          <p:cNvSpPr/>
          <p:nvPr/>
        </p:nvSpPr>
        <p:spPr>
          <a:xfrm>
            <a:off x="6231604" y="1092082"/>
            <a:ext cx="1013763" cy="1920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A1EA2C-CA8D-BEFF-6DB3-9C42CE61AAC1}"/>
              </a:ext>
            </a:extLst>
          </p:cNvPr>
          <p:cNvSpPr/>
          <p:nvPr/>
        </p:nvSpPr>
        <p:spPr>
          <a:xfrm>
            <a:off x="7540077" y="1092082"/>
            <a:ext cx="1013763" cy="1920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1DF5757-D7B3-4B0A-4DC3-09919DFA9AA5}"/>
              </a:ext>
            </a:extLst>
          </p:cNvPr>
          <p:cNvSpPr/>
          <p:nvPr/>
        </p:nvSpPr>
        <p:spPr>
          <a:xfrm>
            <a:off x="8845615" y="1092082"/>
            <a:ext cx="1013763" cy="1920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圖說文字: 直線 32">
            <a:extLst>
              <a:ext uri="{FF2B5EF4-FFF2-40B4-BE49-F238E27FC236}">
                <a16:creationId xmlns:a16="http://schemas.microsoft.com/office/drawing/2014/main" id="{ECA4D2B5-F007-FD43-A4CB-341D032E6A9A}"/>
              </a:ext>
            </a:extLst>
          </p:cNvPr>
          <p:cNvSpPr/>
          <p:nvPr/>
        </p:nvSpPr>
        <p:spPr>
          <a:xfrm>
            <a:off x="10234150" y="1810328"/>
            <a:ext cx="1722686" cy="498764"/>
          </a:xfrm>
          <a:prstGeom prst="borderCallout1">
            <a:avLst>
              <a:gd name="adj1" fmla="val 49068"/>
              <a:gd name="adj2" fmla="val -1715"/>
              <a:gd name="adj3" fmla="val -81478"/>
              <a:gd name="adj4" fmla="val -47034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</a:rPr>
              <a:t>共五組可以輸入</a:t>
            </a:r>
          </a:p>
        </p:txBody>
      </p:sp>
    </p:spTree>
    <p:extLst>
      <p:ext uri="{BB962C8B-B14F-4D97-AF65-F5344CB8AC3E}">
        <p14:creationId xmlns:p14="http://schemas.microsoft.com/office/powerpoint/2010/main" val="229233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80A605-36F8-D14F-710E-AAEC7331F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加入濾波器震動值前後差異比較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7FAC278-CC3C-4081-FEA1-506933E5E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308325"/>
              </p:ext>
            </p:extLst>
          </p:nvPr>
        </p:nvGraphicFramePr>
        <p:xfrm>
          <a:off x="1133764" y="2685921"/>
          <a:ext cx="4103256" cy="123825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25814">
                  <a:extLst>
                    <a:ext uri="{9D8B030D-6E8A-4147-A177-3AD203B41FA5}">
                      <a16:colId xmlns:a16="http://schemas.microsoft.com/office/drawing/2014/main" val="4248720919"/>
                    </a:ext>
                  </a:extLst>
                </a:gridCol>
                <a:gridCol w="1025814">
                  <a:extLst>
                    <a:ext uri="{9D8B030D-6E8A-4147-A177-3AD203B41FA5}">
                      <a16:colId xmlns:a16="http://schemas.microsoft.com/office/drawing/2014/main" val="305077794"/>
                    </a:ext>
                  </a:extLst>
                </a:gridCol>
                <a:gridCol w="1025814">
                  <a:extLst>
                    <a:ext uri="{9D8B030D-6E8A-4147-A177-3AD203B41FA5}">
                      <a16:colId xmlns:a16="http://schemas.microsoft.com/office/drawing/2014/main" val="3336652058"/>
                    </a:ext>
                  </a:extLst>
                </a:gridCol>
                <a:gridCol w="1025814">
                  <a:extLst>
                    <a:ext uri="{9D8B030D-6E8A-4147-A177-3AD203B41FA5}">
                      <a16:colId xmlns:a16="http://schemas.microsoft.com/office/drawing/2014/main" val="2895871515"/>
                    </a:ext>
                  </a:extLst>
                </a:gridCol>
              </a:tblGrid>
              <a:tr h="205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Y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Z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31951011"/>
                  </a:ext>
                </a:extLst>
              </a:tr>
              <a:tr h="205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MIN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-0.4516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-0.42478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-0.58051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57761340"/>
                  </a:ext>
                </a:extLst>
              </a:tr>
              <a:tr h="205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MAX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0.55408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0.52927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0.701851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55832596"/>
                  </a:ext>
                </a:extLst>
              </a:tr>
              <a:tr h="205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Total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1362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763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959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7008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5449E3-1898-4F7D-8266-8D1234446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351279"/>
              </p:ext>
            </p:extLst>
          </p:nvPr>
        </p:nvGraphicFramePr>
        <p:xfrm>
          <a:off x="5945909" y="2685921"/>
          <a:ext cx="3973948" cy="123825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93487">
                  <a:extLst>
                    <a:ext uri="{9D8B030D-6E8A-4147-A177-3AD203B41FA5}">
                      <a16:colId xmlns:a16="http://schemas.microsoft.com/office/drawing/2014/main" val="2159403737"/>
                    </a:ext>
                  </a:extLst>
                </a:gridCol>
                <a:gridCol w="993487">
                  <a:extLst>
                    <a:ext uri="{9D8B030D-6E8A-4147-A177-3AD203B41FA5}">
                      <a16:colId xmlns:a16="http://schemas.microsoft.com/office/drawing/2014/main" val="3682782142"/>
                    </a:ext>
                  </a:extLst>
                </a:gridCol>
                <a:gridCol w="993487">
                  <a:extLst>
                    <a:ext uri="{9D8B030D-6E8A-4147-A177-3AD203B41FA5}">
                      <a16:colId xmlns:a16="http://schemas.microsoft.com/office/drawing/2014/main" val="779520343"/>
                    </a:ext>
                  </a:extLst>
                </a:gridCol>
                <a:gridCol w="993487">
                  <a:extLst>
                    <a:ext uri="{9D8B030D-6E8A-4147-A177-3AD203B41FA5}">
                      <a16:colId xmlns:a16="http://schemas.microsoft.com/office/drawing/2014/main" val="443992467"/>
                    </a:ext>
                  </a:extLst>
                </a:gridCol>
              </a:tblGrid>
              <a:tr h="205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Y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Z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35746065"/>
                  </a:ext>
                </a:extLst>
              </a:tr>
              <a:tr h="205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MIN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-0.39174</a:t>
                      </a:r>
                      <a:endParaRPr 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-0.50659</a:t>
                      </a:r>
                      <a:endParaRPr 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FF0000"/>
                          </a:solidFill>
                          <a:effectLst/>
                        </a:rPr>
                        <a:t>-0.5437</a:t>
                      </a:r>
                      <a:endParaRPr lang="zh-TW" sz="20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05349186"/>
                  </a:ext>
                </a:extLst>
              </a:tr>
              <a:tr h="205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MAX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0.374005</a:t>
                      </a:r>
                      <a:endParaRPr 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0.544856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0.537692</a:t>
                      </a:r>
                      <a:endParaRPr 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48580104"/>
                  </a:ext>
                </a:extLst>
              </a:tr>
              <a:tr h="205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Total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145</a:t>
                      </a:r>
                      <a:endParaRPr 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1142</a:t>
                      </a:r>
                      <a:endParaRPr 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240</a:t>
                      </a:r>
                      <a:endParaRPr 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8476564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C18FB08-6C02-DB68-EBAD-0C5768A3828F}"/>
              </a:ext>
            </a:extLst>
          </p:cNvPr>
          <p:cNvSpPr txBox="1"/>
          <p:nvPr/>
        </p:nvSpPr>
        <p:spPr>
          <a:xfrm>
            <a:off x="2746810" y="23054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濾波前</a:t>
            </a:r>
            <a:endParaRPr lang="en-US" altLang="zh-TW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F9EA2B2-3202-6267-CED9-49A22759E1E0}"/>
              </a:ext>
            </a:extLst>
          </p:cNvPr>
          <p:cNvSpPr txBox="1"/>
          <p:nvPr/>
        </p:nvSpPr>
        <p:spPr>
          <a:xfrm>
            <a:off x="7690866" y="23054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濾波後</a:t>
            </a:r>
            <a:endParaRPr lang="en-US" altLang="zh-TW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9FB9DAD-E10F-F025-0D56-AAF24A771B1B}"/>
              </a:ext>
            </a:extLst>
          </p:cNvPr>
          <p:cNvSpPr txBox="1"/>
          <p:nvPr/>
        </p:nvSpPr>
        <p:spPr>
          <a:xfrm>
            <a:off x="1133764" y="4734740"/>
            <a:ext cx="9236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 </a:t>
            </a:r>
            <a:r>
              <a:rPr lang="zh-TW" altLang="en-US" sz="2000" dirty="0"/>
              <a:t>結論</a:t>
            </a:r>
            <a:r>
              <a:rPr lang="en-US" altLang="zh-TW" sz="2000" dirty="0"/>
              <a:t>:</a:t>
            </a:r>
            <a:r>
              <a:rPr lang="zh-TW" altLang="en-US" sz="2000" dirty="0"/>
              <a:t> 加入</a:t>
            </a:r>
            <a:r>
              <a:rPr lang="en-US" altLang="zh-TW" sz="2000" dirty="0"/>
              <a:t>X</a:t>
            </a:r>
            <a:r>
              <a:rPr lang="zh-TW" altLang="en-US" sz="2000" dirty="0"/>
              <a:t>與</a:t>
            </a:r>
            <a:r>
              <a:rPr lang="en-US" altLang="zh-TW" sz="2000" dirty="0"/>
              <a:t>Z</a:t>
            </a:r>
            <a:r>
              <a:rPr lang="zh-TW" altLang="en-US" sz="2000" dirty="0"/>
              <a:t>軸最大最小值與超過</a:t>
            </a:r>
            <a:r>
              <a:rPr lang="en-US" altLang="zh-TW" sz="2000" dirty="0"/>
              <a:t>0.3G</a:t>
            </a:r>
            <a:r>
              <a:rPr lang="zh-TW" altLang="en-US" sz="2000" dirty="0"/>
              <a:t> 筆數有明顯下降，但</a:t>
            </a:r>
            <a:r>
              <a:rPr lang="en-US" altLang="zh-TW" sz="2000" dirty="0"/>
              <a:t>Y</a:t>
            </a:r>
            <a:r>
              <a:rPr lang="zh-TW" altLang="en-US" sz="2000" dirty="0"/>
              <a:t>軸改善較不明顯</a:t>
            </a:r>
          </a:p>
        </p:txBody>
      </p:sp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46D405BA-0394-80D8-B67D-FB1F24F7B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71983"/>
              </p:ext>
            </p:extLst>
          </p:nvPr>
        </p:nvGraphicFramePr>
        <p:xfrm>
          <a:off x="2700337" y="3982265"/>
          <a:ext cx="9144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2" imgW="914249" imgH="752475" progId="Excel.SheetMacroEnabled.12">
                  <p:embed/>
                </p:oleObj>
              </mc:Choice>
              <mc:Fallback>
                <p:oleObj name="Macro-Enabled Worksheet" showAsIcon="1" r:id="rId2" imgW="914249" imgH="752475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0337" y="3982265"/>
                        <a:ext cx="914400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78242A04-0F56-9A74-85F6-0E4D62E668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240602"/>
              </p:ext>
            </p:extLst>
          </p:nvPr>
        </p:nvGraphicFramePr>
        <p:xfrm>
          <a:off x="7690866" y="3999167"/>
          <a:ext cx="9144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4" imgW="914249" imgH="752475" progId="Excel.SheetMacroEnabled.12">
                  <p:embed/>
                </p:oleObj>
              </mc:Choice>
              <mc:Fallback>
                <p:oleObj name="Macro-Enabled Worksheet" showAsIcon="1" r:id="rId4" imgW="914249" imgH="752475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90866" y="3999167"/>
                        <a:ext cx="914400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699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654281A7-6AF6-0B38-2887-9C15B7911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16" y="0"/>
            <a:ext cx="10138968" cy="6858000"/>
          </a:xfrm>
          <a:prstGeom prst="rect">
            <a:avLst/>
          </a:prstGeom>
        </p:spPr>
      </p:pic>
      <p:sp>
        <p:nvSpPr>
          <p:cNvPr id="10" name="橢圓 9">
            <a:extLst>
              <a:ext uri="{FF2B5EF4-FFF2-40B4-BE49-F238E27FC236}">
                <a16:creationId xmlns:a16="http://schemas.microsoft.com/office/drawing/2014/main" id="{0D00EB88-FA14-7C97-3DF3-459A79BD1AD1}"/>
              </a:ext>
            </a:extLst>
          </p:cNvPr>
          <p:cNvSpPr/>
          <p:nvPr/>
        </p:nvSpPr>
        <p:spPr>
          <a:xfrm>
            <a:off x="7088036" y="4569125"/>
            <a:ext cx="396815" cy="3680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aseline="-25000" dirty="0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9580688A-B9E1-9DAF-5387-F2FF249556AA}"/>
              </a:ext>
            </a:extLst>
          </p:cNvPr>
          <p:cNvSpPr/>
          <p:nvPr/>
        </p:nvSpPr>
        <p:spPr>
          <a:xfrm>
            <a:off x="5794073" y="4086045"/>
            <a:ext cx="396815" cy="3680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15435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C3B3AF9-0D5E-95FB-4774-F75E563EA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510"/>
            <a:ext cx="12192000" cy="566093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7F95D45-18A5-9833-DA12-C56557AA8B1D}"/>
              </a:ext>
            </a:extLst>
          </p:cNvPr>
          <p:cNvSpPr/>
          <p:nvPr/>
        </p:nvSpPr>
        <p:spPr>
          <a:xfrm>
            <a:off x="4784784" y="4330460"/>
            <a:ext cx="954657" cy="891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CD10BA-B98B-EC7E-527D-103827BEA10C}"/>
              </a:ext>
            </a:extLst>
          </p:cNvPr>
          <p:cNvSpPr/>
          <p:nvPr/>
        </p:nvSpPr>
        <p:spPr>
          <a:xfrm>
            <a:off x="138023" y="2495909"/>
            <a:ext cx="1590135" cy="477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1843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86558-A0DF-EE5A-091C-74FD9FD3F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7506FBF-7DAF-7502-B85E-D9F31EBE4C4D}"/>
              </a:ext>
            </a:extLst>
          </p:cNvPr>
          <p:cNvSpPr/>
          <p:nvPr/>
        </p:nvSpPr>
        <p:spPr>
          <a:xfrm>
            <a:off x="1943819" y="3007743"/>
            <a:ext cx="2461404" cy="483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741B250-D414-44DF-BCE1-05674995F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210"/>
            <a:ext cx="12192000" cy="605519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8B42C73-B3EE-1678-6668-310E05623C10}"/>
              </a:ext>
            </a:extLst>
          </p:cNvPr>
          <p:cNvSpPr/>
          <p:nvPr/>
        </p:nvSpPr>
        <p:spPr>
          <a:xfrm>
            <a:off x="158151" y="2892725"/>
            <a:ext cx="1400355" cy="483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7423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27AFB6E-1248-DFD8-DBC9-CADBD0D67557}"/>
              </a:ext>
            </a:extLst>
          </p:cNvPr>
          <p:cNvSpPr/>
          <p:nvPr/>
        </p:nvSpPr>
        <p:spPr>
          <a:xfrm>
            <a:off x="1943819" y="3007743"/>
            <a:ext cx="2461404" cy="483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D5E6DE5-6547-7248-22AE-4189A43A8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974"/>
            <a:ext cx="12192000" cy="594805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3C99548-E76B-47AD-FC99-43E84BE3E87B}"/>
              </a:ext>
            </a:extLst>
          </p:cNvPr>
          <p:cNvSpPr/>
          <p:nvPr/>
        </p:nvSpPr>
        <p:spPr>
          <a:xfrm>
            <a:off x="221410" y="2766203"/>
            <a:ext cx="1388853" cy="483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2055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2B40BA-B8AF-6389-193C-B14AC9B6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74E607-0005-BA53-2336-68C3797E0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61C7A2E-4068-B025-0CC7-D20568ABB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66" y="0"/>
            <a:ext cx="11384468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996876-34DA-116F-8238-68CAB5B6C306}"/>
              </a:ext>
            </a:extLst>
          </p:cNvPr>
          <p:cNvSpPr/>
          <p:nvPr/>
        </p:nvSpPr>
        <p:spPr>
          <a:xfrm>
            <a:off x="560715" y="2219863"/>
            <a:ext cx="1388853" cy="483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815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218</Words>
  <Application>Microsoft Office PowerPoint</Application>
  <PresentationFormat>寬螢幕</PresentationFormat>
  <Paragraphs>50</Paragraphs>
  <Slides>12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Office 佈景主題</vt:lpstr>
      <vt:lpstr>Macro-Enabled Worksheet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加入濾波器震動值前後差異比較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歐陽澔</dc:creator>
  <cp:lastModifiedBy>歐陽澔</cp:lastModifiedBy>
  <cp:revision>6</cp:revision>
  <dcterms:created xsi:type="dcterms:W3CDTF">2026-08-21T01:45:26Z</dcterms:created>
  <dcterms:modified xsi:type="dcterms:W3CDTF">2026-08-26T07:10:01Z</dcterms:modified>
</cp:coreProperties>
</file>