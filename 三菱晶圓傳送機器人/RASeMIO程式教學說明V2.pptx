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50" r:id="rId1"/>
  </p:sldMasterIdLst>
  <p:notesMasterIdLst>
    <p:notesMasterId r:id="rId74"/>
  </p:notesMasterIdLst>
  <p:handoutMasterIdLst>
    <p:handoutMasterId r:id="rId75"/>
  </p:handoutMasterIdLst>
  <p:sldIdLst>
    <p:sldId id="373" r:id="rId2"/>
    <p:sldId id="372" r:id="rId3"/>
    <p:sldId id="375" r:id="rId4"/>
    <p:sldId id="374" r:id="rId5"/>
    <p:sldId id="376" r:id="rId6"/>
    <p:sldId id="310" r:id="rId7"/>
    <p:sldId id="311" r:id="rId8"/>
    <p:sldId id="312" r:id="rId9"/>
    <p:sldId id="313" r:id="rId10"/>
    <p:sldId id="402" r:id="rId11"/>
    <p:sldId id="377" r:id="rId12"/>
    <p:sldId id="378" r:id="rId13"/>
    <p:sldId id="383" r:id="rId14"/>
    <p:sldId id="379" r:id="rId15"/>
    <p:sldId id="380" r:id="rId16"/>
    <p:sldId id="381" r:id="rId17"/>
    <p:sldId id="382" r:id="rId18"/>
    <p:sldId id="385" r:id="rId19"/>
    <p:sldId id="384" r:id="rId20"/>
    <p:sldId id="386" r:id="rId21"/>
    <p:sldId id="388" r:id="rId22"/>
    <p:sldId id="389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40" r:id="rId36"/>
    <p:sldId id="434" r:id="rId37"/>
    <p:sldId id="403" r:id="rId38"/>
    <p:sldId id="404" r:id="rId39"/>
    <p:sldId id="406" r:id="rId40"/>
    <p:sldId id="408" r:id="rId41"/>
    <p:sldId id="407" r:id="rId42"/>
    <p:sldId id="405" r:id="rId43"/>
    <p:sldId id="409" r:id="rId44"/>
    <p:sldId id="410" r:id="rId45"/>
    <p:sldId id="411" r:id="rId46"/>
    <p:sldId id="412" r:id="rId47"/>
    <p:sldId id="413" r:id="rId48"/>
    <p:sldId id="414" r:id="rId49"/>
    <p:sldId id="415" r:id="rId50"/>
    <p:sldId id="416" r:id="rId51"/>
    <p:sldId id="417" r:id="rId52"/>
    <p:sldId id="418" r:id="rId53"/>
    <p:sldId id="419" r:id="rId54"/>
    <p:sldId id="420" r:id="rId55"/>
    <p:sldId id="421" r:id="rId56"/>
    <p:sldId id="422" r:id="rId57"/>
    <p:sldId id="423" r:id="rId58"/>
    <p:sldId id="424" r:id="rId59"/>
    <p:sldId id="425" r:id="rId60"/>
    <p:sldId id="426" r:id="rId61"/>
    <p:sldId id="427" r:id="rId62"/>
    <p:sldId id="428" r:id="rId63"/>
    <p:sldId id="429" r:id="rId64"/>
    <p:sldId id="430" r:id="rId65"/>
    <p:sldId id="431" r:id="rId66"/>
    <p:sldId id="432" r:id="rId67"/>
    <p:sldId id="433" r:id="rId68"/>
    <p:sldId id="435" r:id="rId69"/>
    <p:sldId id="436" r:id="rId70"/>
    <p:sldId id="437" r:id="rId71"/>
    <p:sldId id="438" r:id="rId72"/>
    <p:sldId id="439" r:id="rId73"/>
  </p:sldIdLst>
  <p:sldSz cx="9144000" cy="6858000" type="screen4x3"/>
  <p:notesSz cx="6799263" cy="99298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CCCC"/>
    <a:srgbClr val="CCFFFF"/>
    <a:srgbClr val="99FFCC"/>
    <a:srgbClr val="99CCFF"/>
    <a:srgbClr val="AFEFD2"/>
    <a:srgbClr val="FF9F9F"/>
    <a:srgbClr val="FF0000"/>
    <a:srgbClr val="CCFF99"/>
    <a:srgbClr val="BB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1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-3648" y="-102"/>
      </p:cViewPr>
      <p:guideLst>
        <p:guide orient="horz" pos="3128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46347" cy="49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43" y="2"/>
            <a:ext cx="2946347" cy="49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1600"/>
            <a:ext cx="2946347" cy="49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43" y="9431600"/>
            <a:ext cx="2946347" cy="49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650701-39C2-4C39-B774-AC0ACA9B5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59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5D6E0B5-C9D1-4321-9F3E-3F5A2FCA6E31}" type="datetimeFigureOut">
              <a:rPr lang="zh-TW" altLang="en-US"/>
              <a:pPr>
                <a:defRPr/>
              </a:pPr>
              <a:t>2025/6/11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8813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D86CCB-8F76-4AE6-907E-95309338C6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68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7" descr="E版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4110038"/>
            <a:ext cx="2762250" cy="274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2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6" name="Picture 26" descr="itri_CEL_A_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528638"/>
            <a:ext cx="3328988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1" name="Rectangle 2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46140" y="2584703"/>
            <a:ext cx="6596065" cy="1219201"/>
          </a:xfrm>
        </p:spPr>
        <p:txBody>
          <a:bodyPr anchor="t" anchorCtr="0"/>
          <a:lstStyle>
            <a:lvl1pPr>
              <a:defRPr sz="4400" b="1">
                <a:solidFill>
                  <a:srgbClr val="00B2B3"/>
                </a:solidFill>
              </a:defRPr>
            </a:lvl1pPr>
          </a:lstStyle>
          <a:p>
            <a:r>
              <a:rPr lang="zh-TW" altLang="en-US" dirty="0"/>
              <a:t>簡報標題</a:t>
            </a:r>
          </a:p>
        </p:txBody>
      </p:sp>
      <p:sp>
        <p:nvSpPr>
          <p:cNvPr id="30742" name="Rectangle 2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46141" y="5059680"/>
            <a:ext cx="6770872" cy="755904"/>
          </a:xfrm>
        </p:spPr>
        <p:txBody>
          <a:bodyPr anchor="b" anchorCtr="0"/>
          <a:lstStyle>
            <a:lvl1pPr mar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TW" altLang="en-US" sz="2000" dirty="0"/>
              <a:t>簡報單位 簡報人名稱</a:t>
            </a:r>
            <a:r>
              <a:rPr lang="en-US" altLang="zh-TW" sz="2000" dirty="0"/>
              <a:t> </a:t>
            </a:r>
            <a:r>
              <a:rPr lang="zh-TW" altLang="en-US" sz="2000" dirty="0"/>
              <a:t>職稱</a:t>
            </a: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546140" y="5902262"/>
            <a:ext cx="2788603" cy="43230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TW" altLang="en-US" dirty="0"/>
              <a:t>簡報日期</a:t>
            </a:r>
          </a:p>
        </p:txBody>
      </p:sp>
      <p:sp>
        <p:nvSpPr>
          <p:cNvPr id="13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©ITRI. 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工業技術研究院著作</a:t>
            </a:r>
          </a:p>
        </p:txBody>
      </p:sp>
    </p:spTree>
    <p:extLst>
      <p:ext uri="{BB962C8B-B14F-4D97-AF65-F5344CB8AC3E}">
        <p14:creationId xmlns:p14="http://schemas.microsoft.com/office/powerpoint/2010/main" val="273325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78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6126480" cy="4757737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圖片版面配置區 2"/>
          <p:cNvSpPr>
            <a:spLocks noGrp="1"/>
          </p:cNvSpPr>
          <p:nvPr>
            <p:ph type="pic" idx="11"/>
          </p:nvPr>
        </p:nvSpPr>
        <p:spPr>
          <a:xfrm>
            <a:off x="6721574" y="1439863"/>
            <a:ext cx="2098576" cy="47577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9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8360228" cy="3184388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50849" y="316992"/>
            <a:ext cx="8366579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圖片版面配置區 2"/>
          <p:cNvSpPr>
            <a:spLocks noGrp="1"/>
          </p:cNvSpPr>
          <p:nvPr>
            <p:ph type="pic" idx="11"/>
          </p:nvPr>
        </p:nvSpPr>
        <p:spPr>
          <a:xfrm>
            <a:off x="457200" y="4725145"/>
            <a:ext cx="8360228" cy="15841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31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035546"/>
          </a:xfrm>
        </p:spPr>
        <p:txBody>
          <a:bodyPr anchor="t" anchorCtr="0">
            <a:noAutofit/>
          </a:bodyPr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661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61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542733"/>
            <a:ext cx="4105275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4875" y="1542733"/>
            <a:ext cx="4106863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45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001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標題 7"/>
          <p:cNvSpPr>
            <a:spLocks noGrp="1"/>
          </p:cNvSpPr>
          <p:nvPr>
            <p:ph type="title"/>
          </p:nvPr>
        </p:nvSpPr>
        <p:spPr>
          <a:xfrm>
            <a:off x="450850" y="316992"/>
            <a:ext cx="8369300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3372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551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1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2855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19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9413" y="313944"/>
            <a:ext cx="2092325" cy="5864352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0850" y="313944"/>
            <a:ext cx="6126163" cy="586435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54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2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txBody>
          <a:bodyPr wrap="none" anchor="ctr"/>
          <a:lstStyle>
            <a:lvl1pPr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39863"/>
            <a:ext cx="8364538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9743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619875"/>
            <a:ext cx="5715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49" descr="itri_CEL_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838" y="6278563"/>
            <a:ext cx="12509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Line 50"/>
          <p:cNvSpPr>
            <a:spLocks noChangeShapeType="1"/>
          </p:cNvSpPr>
          <p:nvPr/>
        </p:nvSpPr>
        <p:spPr bwMode="auto">
          <a:xfrm>
            <a:off x="9145588" y="6202363"/>
            <a:ext cx="8667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Line 51"/>
          <p:cNvSpPr>
            <a:spLocks noChangeShapeType="1"/>
          </p:cNvSpPr>
          <p:nvPr/>
        </p:nvSpPr>
        <p:spPr bwMode="auto">
          <a:xfrm rot="5400000">
            <a:off x="7496175" y="7127876"/>
            <a:ext cx="5365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6" name="Text Box 52"/>
          <p:cNvSpPr txBox="1">
            <a:spLocks noChangeArrowheads="1"/>
          </p:cNvSpPr>
          <p:nvPr/>
        </p:nvSpPr>
        <p:spPr bwMode="auto">
          <a:xfrm>
            <a:off x="0" y="72009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zh-TW" altLang="en-US" sz="2400">
                <a:ea typeface="微軟正黑體" panose="020B0604030504040204" pitchFamily="34" charset="-120"/>
              </a:rPr>
              <a:t>建議字型：中文微軟正黑體，英文</a:t>
            </a:r>
            <a:r>
              <a:rPr lang="en-US" altLang="zh-TW" sz="2400">
                <a:ea typeface="微軟正黑體" panose="020B0604030504040204" pitchFamily="34" charset="-120"/>
              </a:rPr>
              <a:t>Arial</a:t>
            </a:r>
          </a:p>
        </p:txBody>
      </p:sp>
      <p:sp>
        <p:nvSpPr>
          <p:cNvPr id="11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©ITRI. 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工業技術研究院著作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5" r:id="rId2"/>
    <p:sldLayoutId id="2147483916" r:id="rId3"/>
    <p:sldLayoutId id="2147483917" r:id="rId4"/>
    <p:sldLayoutId id="2147483903" r:id="rId5"/>
    <p:sldLayoutId id="2147483904" r:id="rId6"/>
    <p:sldLayoutId id="2147483905" r:id="rId7"/>
    <p:sldLayoutId id="2147483906" r:id="rId8"/>
    <p:sldLayoutId id="2147483908" r:id="rId9"/>
    <p:sldLayoutId id="2147483914" r:id="rId10"/>
    <p:sldLayoutId id="2147483909" r:id="rId11"/>
    <p:sldLayoutId id="2147483910" r:id="rId12"/>
    <p:sldLayoutId id="2147483911" r:id="rId13"/>
    <p:sldLayoutId id="2147483912" r:id="rId14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rgbClr val="00B2B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BD5EA-4D2A-49E0-A96F-7167166DC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RASeMIO</a:t>
            </a:r>
            <a:r>
              <a:rPr lang="zh-TW" altLang="en-US" dirty="0"/>
              <a:t>程式教學說明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3D002C-135E-4CF4-9A3D-15E5D4168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196021-01EC-4FB6-89E1-451E80F2DF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A4017D-A7E2-402A-A34A-9AD17B343A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65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D011A88-6770-41BE-BEC4-DAD33899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RASeMIO</a:t>
            </a:r>
            <a:r>
              <a:rPr lang="zh-TW" altLang="en-US" dirty="0"/>
              <a:t>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1EC89B-197D-45EA-B1C4-867A46728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1F60A3D-46C2-449D-ACFC-A3FD7140C791}"/>
              </a:ext>
            </a:extLst>
          </p:cNvPr>
          <p:cNvGrpSpPr/>
          <p:nvPr/>
        </p:nvGrpSpPr>
        <p:grpSpPr>
          <a:xfrm>
            <a:off x="510764" y="618477"/>
            <a:ext cx="8540826" cy="2648840"/>
            <a:chOff x="323850" y="676833"/>
            <a:chExt cx="8540826" cy="2648840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61BE1497-52CD-4B7B-B0D6-E1B0F0E90D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12363" y="676833"/>
              <a:ext cx="2152313" cy="2599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F39415B-423A-498B-9D89-FE8D8FB534E0}"/>
                </a:ext>
              </a:extLst>
            </p:cNvPr>
            <p:cNvSpPr/>
            <p:nvPr/>
          </p:nvSpPr>
          <p:spPr bwMode="auto">
            <a:xfrm>
              <a:off x="6132255" y="2406799"/>
              <a:ext cx="1457450" cy="91887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400" b="1" dirty="0" err="1">
                  <a:solidFill>
                    <a:schemeClr val="bg1"/>
                  </a:solidFill>
                  <a:latin typeface="Arial" charset="0"/>
                </a:rPr>
                <a:t>eMIO</a:t>
              </a:r>
              <a:endParaRPr kumimoji="1" lang="zh-TW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6831D9EC-486F-4945-A14B-266732799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850" y="1245809"/>
              <a:ext cx="2738360" cy="154197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598CA821-2FA8-4D4B-9BF0-BA200BFA3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7300" y="1609277"/>
              <a:ext cx="1874142" cy="979490"/>
            </a:xfrm>
            <a:prstGeom prst="rect">
              <a:avLst/>
            </a:prstGeom>
          </p:spPr>
        </p:pic>
        <p:pic>
          <p:nvPicPr>
            <p:cNvPr id="44" name="Picture 2" descr="RTX (operating system) - Wikipedia">
              <a:extLst>
                <a:ext uri="{FF2B5EF4-FFF2-40B4-BE49-F238E27FC236}">
                  <a16:creationId xmlns:a16="http://schemas.microsoft.com/office/drawing/2014/main" id="{0AE7A7B5-BB99-4DE8-B8D7-775EA29D6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2255" y="2837451"/>
              <a:ext cx="689711" cy="488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5B18B44B-90C5-4F5F-974D-E50F3A2D3536}"/>
                </a:ext>
              </a:extLst>
            </p:cNvPr>
            <p:cNvSpPr/>
            <p:nvPr/>
          </p:nvSpPr>
          <p:spPr bwMode="auto">
            <a:xfrm>
              <a:off x="414210" y="2861535"/>
              <a:ext cx="2648986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400" b="1" dirty="0" err="1">
                  <a:solidFill>
                    <a:schemeClr val="bg1"/>
                  </a:solidFill>
                  <a:latin typeface="Arial" charset="0"/>
                </a:rPr>
                <a:t>RAS_Client</a:t>
              </a:r>
              <a:endParaRPr kumimoji="1" lang="zh-TW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DA504F7-932E-4950-AD21-671E53930824}"/>
                </a:ext>
              </a:extLst>
            </p:cNvPr>
            <p:cNvSpPr/>
            <p:nvPr/>
          </p:nvSpPr>
          <p:spPr bwMode="auto">
            <a:xfrm>
              <a:off x="3697300" y="2861535"/>
              <a:ext cx="1874142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400" b="1" dirty="0" err="1">
                  <a:solidFill>
                    <a:schemeClr val="bg1"/>
                  </a:solidFill>
                  <a:latin typeface="Arial" charset="0"/>
                </a:rPr>
                <a:t>RAS_Server</a:t>
              </a:r>
              <a:endParaRPr kumimoji="1" lang="zh-TW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A6A6FCAA-D9B9-491D-8F71-41F456F566E6}"/>
                </a:ext>
              </a:extLst>
            </p:cNvPr>
            <p:cNvCxnSpPr>
              <a:cxnSpLocks/>
              <a:endCxn id="42" idx="1"/>
            </p:cNvCxnSpPr>
            <p:nvPr/>
          </p:nvCxnSpPr>
          <p:spPr bwMode="auto">
            <a:xfrm>
              <a:off x="3063196" y="2099022"/>
              <a:ext cx="63410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C79D30C3-B22F-4517-BD9B-B9C8865C253B}"/>
                </a:ext>
              </a:extLst>
            </p:cNvPr>
            <p:cNvCxnSpPr>
              <a:cxnSpLocks/>
              <a:stCxn id="42" idx="3"/>
            </p:cNvCxnSpPr>
            <p:nvPr/>
          </p:nvCxnSpPr>
          <p:spPr bwMode="auto">
            <a:xfrm>
              <a:off x="5571442" y="2099022"/>
              <a:ext cx="15744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E6741153-0A49-40A5-8B82-DC429A4F82A3}"/>
                </a:ext>
              </a:extLst>
            </p:cNvPr>
            <p:cNvSpPr txBox="1"/>
            <p:nvPr/>
          </p:nvSpPr>
          <p:spPr>
            <a:xfrm>
              <a:off x="5571442" y="1808962"/>
              <a:ext cx="1457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Shared Memory</a:t>
              </a:r>
              <a:endParaRPr lang="zh-TW" altLang="en-US" sz="1400" dirty="0"/>
            </a:p>
          </p:txBody>
        </p:sp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D7906507-CD14-4FE8-A478-5B3BFC30F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0580" y="2415082"/>
              <a:ext cx="1320800" cy="347370"/>
            </a:xfrm>
            <a:prstGeom prst="rect">
              <a:avLst/>
            </a:prstGeom>
          </p:spPr>
        </p:pic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CDDC0287-46F2-4474-9A3E-76C0C3AF5EA4}"/>
                </a:ext>
              </a:extLst>
            </p:cNvPr>
            <p:cNvSpPr txBox="1"/>
            <p:nvPr/>
          </p:nvSpPr>
          <p:spPr>
            <a:xfrm>
              <a:off x="2998080" y="1822654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TCP/IP</a:t>
              </a:r>
              <a:endParaRPr lang="zh-TW" altLang="en-US" sz="1400" dirty="0"/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F7BD7FF4-C6BE-4151-9065-EB1C43A7FB73}"/>
              </a:ext>
            </a:extLst>
          </p:cNvPr>
          <p:cNvGrpSpPr/>
          <p:nvPr/>
        </p:nvGrpSpPr>
        <p:grpSpPr>
          <a:xfrm>
            <a:off x="368455" y="3401180"/>
            <a:ext cx="7380688" cy="3139892"/>
            <a:chOff x="195645" y="934157"/>
            <a:chExt cx="8608485" cy="5262403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B0752AE9-7602-4E3A-8DF0-773D7E3F76F5}"/>
                </a:ext>
              </a:extLst>
            </p:cNvPr>
            <p:cNvSpPr/>
            <p:nvPr/>
          </p:nvSpPr>
          <p:spPr bwMode="auto">
            <a:xfrm>
              <a:off x="445187" y="934159"/>
              <a:ext cx="8356083" cy="1056902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E1979E-1A0C-4AF5-BF7F-ECE8D1CB34B5}"/>
                </a:ext>
              </a:extLst>
            </p:cNvPr>
            <p:cNvSpPr/>
            <p:nvPr/>
          </p:nvSpPr>
          <p:spPr bwMode="auto">
            <a:xfrm>
              <a:off x="447957" y="1976125"/>
              <a:ext cx="8356082" cy="264303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8B65DF4-8F3F-49EE-B75F-E4AC1D7949F1}"/>
                </a:ext>
              </a:extLst>
            </p:cNvPr>
            <p:cNvSpPr/>
            <p:nvPr/>
          </p:nvSpPr>
          <p:spPr bwMode="auto">
            <a:xfrm>
              <a:off x="445188" y="4913966"/>
              <a:ext cx="8358852" cy="1282594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D4576AC-DBCF-4FCC-A141-75948DE3ECBE}"/>
                </a:ext>
              </a:extLst>
            </p:cNvPr>
            <p:cNvSpPr/>
            <p:nvPr/>
          </p:nvSpPr>
          <p:spPr bwMode="auto">
            <a:xfrm>
              <a:off x="441470" y="4606446"/>
              <a:ext cx="8362660" cy="314768"/>
            </a:xfrm>
            <a:prstGeom prst="rect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b="1" dirty="0">
                  <a:solidFill>
                    <a:srgbClr val="FF0000"/>
                  </a:solidFill>
                  <a:latin typeface="Arial" charset="0"/>
                </a:rPr>
                <a:t>Shared Memory</a:t>
              </a:r>
              <a:endParaRPr kumimoji="1" lang="zh-TW" altLang="en-US" sz="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96B7B7BB-D52D-47E2-936A-24D0CF75D86F}"/>
                </a:ext>
              </a:extLst>
            </p:cNvPr>
            <p:cNvSpPr/>
            <p:nvPr/>
          </p:nvSpPr>
          <p:spPr bwMode="auto">
            <a:xfrm>
              <a:off x="434971" y="4906718"/>
              <a:ext cx="1037606" cy="2746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Real Time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3FB4E9DF-2690-49AB-A6BA-CCCAC6CA44CC}"/>
                </a:ext>
              </a:extLst>
            </p:cNvPr>
            <p:cNvSpPr/>
            <p:nvPr/>
          </p:nvSpPr>
          <p:spPr bwMode="auto">
            <a:xfrm>
              <a:off x="447866" y="4351780"/>
              <a:ext cx="1035059" cy="2746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rgbClr val="0070C0"/>
                  </a:solidFill>
                  <a:latin typeface="Arial" charset="0"/>
                </a:rPr>
                <a:t>Windows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endParaRPr>
            </a:p>
          </p:txBody>
        </p:sp>
        <p:sp>
          <p:nvSpPr>
            <p:cNvPr id="83" name="箭號: 向下 82">
              <a:extLst>
                <a:ext uri="{FF2B5EF4-FFF2-40B4-BE49-F238E27FC236}">
                  <a16:creationId xmlns:a16="http://schemas.microsoft.com/office/drawing/2014/main" id="{9AC43269-139B-4D6C-865F-BCC3870D7A10}"/>
                </a:ext>
              </a:extLst>
            </p:cNvPr>
            <p:cNvSpPr/>
            <p:nvPr/>
          </p:nvSpPr>
          <p:spPr bwMode="auto">
            <a:xfrm>
              <a:off x="3815112" y="4261303"/>
              <a:ext cx="233371" cy="1046292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84" name="箭號: 向下 83">
              <a:extLst>
                <a:ext uri="{FF2B5EF4-FFF2-40B4-BE49-F238E27FC236}">
                  <a16:creationId xmlns:a16="http://schemas.microsoft.com/office/drawing/2014/main" id="{E29CC9B2-AE8A-4254-8FBD-43F451B7AD54}"/>
                </a:ext>
              </a:extLst>
            </p:cNvPr>
            <p:cNvSpPr/>
            <p:nvPr/>
          </p:nvSpPr>
          <p:spPr bwMode="auto">
            <a:xfrm rot="10800000">
              <a:off x="5174459" y="4274761"/>
              <a:ext cx="233371" cy="1032834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BE336701-9AAC-4577-AA91-97F86D055105}"/>
                </a:ext>
              </a:extLst>
            </p:cNvPr>
            <p:cNvSpPr/>
            <p:nvPr/>
          </p:nvSpPr>
          <p:spPr bwMode="auto">
            <a:xfrm>
              <a:off x="495215" y="3888467"/>
              <a:ext cx="8207406" cy="38428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Message Communication Function (MCF)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0DD840B-5C5E-4B58-A497-DD406CDD3480}"/>
                </a:ext>
              </a:extLst>
            </p:cNvPr>
            <p:cNvSpPr/>
            <p:nvPr/>
          </p:nvSpPr>
          <p:spPr bwMode="auto">
            <a:xfrm>
              <a:off x="3583902" y="3343801"/>
              <a:ext cx="2030028" cy="35614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Robot Control Library (RCL)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2082EE54-8C67-405C-81BF-70BE946D0502}"/>
                </a:ext>
              </a:extLst>
            </p:cNvPr>
            <p:cNvSpPr/>
            <p:nvPr/>
          </p:nvSpPr>
          <p:spPr bwMode="auto">
            <a:xfrm>
              <a:off x="5743270" y="3337230"/>
              <a:ext cx="1604392" cy="35614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Visual Programming Language (VPL)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1A5B8765-D3B3-438C-9E6E-EF7166662F28}"/>
                </a:ext>
              </a:extLst>
            </p:cNvPr>
            <p:cNvSpPr/>
            <p:nvPr/>
          </p:nvSpPr>
          <p:spPr bwMode="auto">
            <a:xfrm>
              <a:off x="1984092" y="3337230"/>
              <a:ext cx="1485704" cy="35614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TCP/IP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B4CBED1-0D75-4CE4-A1A8-85132A79406E}"/>
                </a:ext>
              </a:extLst>
            </p:cNvPr>
            <p:cNvSpPr/>
            <p:nvPr/>
          </p:nvSpPr>
          <p:spPr bwMode="auto">
            <a:xfrm>
              <a:off x="495215" y="3340174"/>
              <a:ext cx="1375852" cy="35614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I/O System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68AEA0D9-0E04-4129-BDB1-99AA19DF532F}"/>
                </a:ext>
              </a:extLst>
            </p:cNvPr>
            <p:cNvSpPr/>
            <p:nvPr/>
          </p:nvSpPr>
          <p:spPr bwMode="auto">
            <a:xfrm>
              <a:off x="7451353" y="3337230"/>
              <a:ext cx="1251268" cy="35614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Plugin System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4C2FF25-7C04-42C3-BB14-468F51A5185D}"/>
                </a:ext>
              </a:extLst>
            </p:cNvPr>
            <p:cNvSpPr/>
            <p:nvPr/>
          </p:nvSpPr>
          <p:spPr bwMode="auto">
            <a:xfrm>
              <a:off x="495215" y="2671928"/>
              <a:ext cx="8207406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ITRI Robot Application Library (IRAL)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B4F241C6-869D-4E6A-93EF-0BBEA80BAFF7}"/>
                </a:ext>
              </a:extLst>
            </p:cNvPr>
            <p:cNvSpPr/>
            <p:nvPr/>
          </p:nvSpPr>
          <p:spPr bwMode="auto">
            <a:xfrm>
              <a:off x="495215" y="2049403"/>
              <a:ext cx="8207406" cy="46463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RAS Server (RASS)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7D45C114-20FD-49EF-9096-D947CC541492}"/>
                </a:ext>
              </a:extLst>
            </p:cNvPr>
            <p:cNvCxnSpPr>
              <a:cxnSpLocks/>
              <a:stCxn id="85" idx="0"/>
              <a:endCxn id="86" idx="2"/>
            </p:cNvCxnSpPr>
            <p:nvPr/>
          </p:nvCxnSpPr>
          <p:spPr bwMode="auto">
            <a:xfrm flipH="1" flipV="1">
              <a:off x="4598916" y="3699946"/>
              <a:ext cx="2" cy="18852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接點: 肘形 93">
              <a:extLst>
                <a:ext uri="{FF2B5EF4-FFF2-40B4-BE49-F238E27FC236}">
                  <a16:creationId xmlns:a16="http://schemas.microsoft.com/office/drawing/2014/main" id="{55C6F584-6E57-4BB7-A68E-B1580E751B09}"/>
                </a:ext>
              </a:extLst>
            </p:cNvPr>
            <p:cNvCxnSpPr>
              <a:cxnSpLocks/>
              <a:stCxn id="85" idx="0"/>
              <a:endCxn id="87" idx="2"/>
            </p:cNvCxnSpPr>
            <p:nvPr/>
          </p:nvCxnSpPr>
          <p:spPr bwMode="auto">
            <a:xfrm rot="5400000" flipH="1" flipV="1">
              <a:off x="5474646" y="2817647"/>
              <a:ext cx="195092" cy="194654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接點: 肘形 94">
              <a:extLst>
                <a:ext uri="{FF2B5EF4-FFF2-40B4-BE49-F238E27FC236}">
                  <a16:creationId xmlns:a16="http://schemas.microsoft.com/office/drawing/2014/main" id="{AFAF8451-934B-4C20-AB11-BE9BEA0C05A0}"/>
                </a:ext>
              </a:extLst>
            </p:cNvPr>
            <p:cNvCxnSpPr>
              <a:cxnSpLocks/>
              <a:stCxn id="85" idx="0"/>
              <a:endCxn id="90" idx="2"/>
            </p:cNvCxnSpPr>
            <p:nvPr/>
          </p:nvCxnSpPr>
          <p:spPr bwMode="auto">
            <a:xfrm rot="5400000" flipH="1" flipV="1">
              <a:off x="6240406" y="2051887"/>
              <a:ext cx="195092" cy="3478069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接點: 肘形 95">
              <a:extLst>
                <a:ext uri="{FF2B5EF4-FFF2-40B4-BE49-F238E27FC236}">
                  <a16:creationId xmlns:a16="http://schemas.microsoft.com/office/drawing/2014/main" id="{2679AB8B-62D4-43EE-BB64-4E62A99E8542}"/>
                </a:ext>
              </a:extLst>
            </p:cNvPr>
            <p:cNvCxnSpPr>
              <a:cxnSpLocks/>
              <a:stCxn id="85" idx="0"/>
              <a:endCxn id="88" idx="2"/>
            </p:cNvCxnSpPr>
            <p:nvPr/>
          </p:nvCxnSpPr>
          <p:spPr bwMode="auto">
            <a:xfrm rot="16200000" flipV="1">
              <a:off x="3565385" y="2854934"/>
              <a:ext cx="195092" cy="187197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接點: 肘形 96">
              <a:extLst>
                <a:ext uri="{FF2B5EF4-FFF2-40B4-BE49-F238E27FC236}">
                  <a16:creationId xmlns:a16="http://schemas.microsoft.com/office/drawing/2014/main" id="{FF407329-2A38-454A-91A5-38EA0DFD43D3}"/>
                </a:ext>
              </a:extLst>
            </p:cNvPr>
            <p:cNvCxnSpPr>
              <a:cxnSpLocks/>
              <a:stCxn id="85" idx="0"/>
              <a:endCxn id="89" idx="2"/>
            </p:cNvCxnSpPr>
            <p:nvPr/>
          </p:nvCxnSpPr>
          <p:spPr bwMode="auto">
            <a:xfrm rot="16200000" flipV="1">
              <a:off x="2794956" y="2084504"/>
              <a:ext cx="192148" cy="3415777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接點: 肘形 97">
              <a:extLst>
                <a:ext uri="{FF2B5EF4-FFF2-40B4-BE49-F238E27FC236}">
                  <a16:creationId xmlns:a16="http://schemas.microsoft.com/office/drawing/2014/main" id="{235D7B81-5FE7-477D-95F2-0400C8D7B4CE}"/>
                </a:ext>
              </a:extLst>
            </p:cNvPr>
            <p:cNvCxnSpPr>
              <a:cxnSpLocks/>
              <a:stCxn id="88" idx="0"/>
              <a:endCxn id="91" idx="2"/>
            </p:cNvCxnSpPr>
            <p:nvPr/>
          </p:nvCxnSpPr>
          <p:spPr bwMode="auto">
            <a:xfrm rot="5400000" flipH="1" flipV="1">
              <a:off x="3497580" y="2235892"/>
              <a:ext cx="330702" cy="187197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接點: 肘形 98">
              <a:extLst>
                <a:ext uri="{FF2B5EF4-FFF2-40B4-BE49-F238E27FC236}">
                  <a16:creationId xmlns:a16="http://schemas.microsoft.com/office/drawing/2014/main" id="{1CD57F73-20AE-4FEC-AC84-21D860AB9157}"/>
                </a:ext>
              </a:extLst>
            </p:cNvPr>
            <p:cNvCxnSpPr>
              <a:cxnSpLocks/>
              <a:stCxn id="86" idx="0"/>
              <a:endCxn id="91" idx="2"/>
            </p:cNvCxnSpPr>
            <p:nvPr/>
          </p:nvCxnSpPr>
          <p:spPr bwMode="auto">
            <a:xfrm rot="5400000" flipH="1" flipV="1">
              <a:off x="4430281" y="3175164"/>
              <a:ext cx="337273" cy="2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接點: 肘形 99">
              <a:extLst>
                <a:ext uri="{FF2B5EF4-FFF2-40B4-BE49-F238E27FC236}">
                  <a16:creationId xmlns:a16="http://schemas.microsoft.com/office/drawing/2014/main" id="{3E432435-C678-4179-97A2-C1EF1DE6DC2C}"/>
                </a:ext>
              </a:extLst>
            </p:cNvPr>
            <p:cNvCxnSpPr>
              <a:cxnSpLocks/>
              <a:stCxn id="87" idx="0"/>
              <a:endCxn id="91" idx="2"/>
            </p:cNvCxnSpPr>
            <p:nvPr/>
          </p:nvCxnSpPr>
          <p:spPr bwMode="auto">
            <a:xfrm rot="16200000" flipV="1">
              <a:off x="5406841" y="2198605"/>
              <a:ext cx="330702" cy="1946548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接點: 肘形 100">
              <a:extLst>
                <a:ext uri="{FF2B5EF4-FFF2-40B4-BE49-F238E27FC236}">
                  <a16:creationId xmlns:a16="http://schemas.microsoft.com/office/drawing/2014/main" id="{0B7C90CC-7822-4E5A-962E-CAFB963356E6}"/>
                </a:ext>
              </a:extLst>
            </p:cNvPr>
            <p:cNvCxnSpPr>
              <a:cxnSpLocks/>
              <a:stCxn id="90" idx="0"/>
              <a:endCxn id="91" idx="2"/>
            </p:cNvCxnSpPr>
            <p:nvPr/>
          </p:nvCxnSpPr>
          <p:spPr bwMode="auto">
            <a:xfrm rot="16200000" flipV="1">
              <a:off x="6172602" y="1432844"/>
              <a:ext cx="330702" cy="3478069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接點: 肘形 101">
              <a:extLst>
                <a:ext uri="{FF2B5EF4-FFF2-40B4-BE49-F238E27FC236}">
                  <a16:creationId xmlns:a16="http://schemas.microsoft.com/office/drawing/2014/main" id="{B98F81E2-BB31-4B56-ADFB-6B5500CA6442}"/>
                </a:ext>
              </a:extLst>
            </p:cNvPr>
            <p:cNvCxnSpPr>
              <a:cxnSpLocks/>
              <a:stCxn id="89" idx="0"/>
              <a:endCxn id="91" idx="2"/>
            </p:cNvCxnSpPr>
            <p:nvPr/>
          </p:nvCxnSpPr>
          <p:spPr bwMode="auto">
            <a:xfrm rot="5400000" flipH="1" flipV="1">
              <a:off x="2724206" y="1465463"/>
              <a:ext cx="333646" cy="3415777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8E85A5BF-7C84-452C-B678-2675E6418C13}"/>
                </a:ext>
              </a:extLst>
            </p:cNvPr>
            <p:cNvCxnSpPr>
              <a:cxnSpLocks/>
              <a:stCxn id="91" idx="0"/>
              <a:endCxn id="92" idx="2"/>
            </p:cNvCxnSpPr>
            <p:nvPr/>
          </p:nvCxnSpPr>
          <p:spPr bwMode="auto">
            <a:xfrm flipV="1">
              <a:off x="4598918" y="2514033"/>
              <a:ext cx="0" cy="15789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82B8F2D-9213-4FE1-9ADF-9ADCE76F5F8E}"/>
                </a:ext>
              </a:extLst>
            </p:cNvPr>
            <p:cNvSpPr/>
            <p:nvPr/>
          </p:nvSpPr>
          <p:spPr bwMode="auto">
            <a:xfrm>
              <a:off x="504726" y="5307595"/>
              <a:ext cx="8207405" cy="36939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RCL</a:t>
              </a:r>
              <a:r>
                <a:rPr lang="zh-TW" altLang="en-US" sz="800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Real</a:t>
              </a:r>
              <a:r>
                <a:rPr lang="zh-TW" altLang="en-US" sz="800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Time</a:t>
              </a:r>
              <a:r>
                <a:rPr lang="zh-TW" altLang="en-US" sz="800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Kernel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F473F36B-7820-411D-9E8B-7948295069D4}"/>
                </a:ext>
              </a:extLst>
            </p:cNvPr>
            <p:cNvSpPr/>
            <p:nvPr/>
          </p:nvSpPr>
          <p:spPr bwMode="auto">
            <a:xfrm>
              <a:off x="3592332" y="5750844"/>
              <a:ext cx="2649448" cy="29720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Motion Interpolation/Control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B3B807F-4F98-43D6-8269-72CB067E5FBC}"/>
                </a:ext>
              </a:extLst>
            </p:cNvPr>
            <p:cNvSpPr/>
            <p:nvPr/>
          </p:nvSpPr>
          <p:spPr bwMode="auto">
            <a:xfrm>
              <a:off x="6333688" y="5750844"/>
              <a:ext cx="2378444" cy="29720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Robot Kinematics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5138940E-E116-4C06-9AA0-CEB5AD1B79CC}"/>
                </a:ext>
              </a:extLst>
            </p:cNvPr>
            <p:cNvSpPr/>
            <p:nvPr/>
          </p:nvSpPr>
          <p:spPr bwMode="auto">
            <a:xfrm>
              <a:off x="504726" y="5750844"/>
              <a:ext cx="3000719" cy="29720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E-CAT Communication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0AC0F5F0-F10B-419F-A71E-1A3EE872CCB8}"/>
                </a:ext>
              </a:extLst>
            </p:cNvPr>
            <p:cNvSpPr/>
            <p:nvPr/>
          </p:nvSpPr>
          <p:spPr bwMode="auto">
            <a:xfrm>
              <a:off x="495215" y="1389609"/>
              <a:ext cx="8216915" cy="31484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RAS Client (RASC)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0" name="箭號: 向下 109">
              <a:extLst>
                <a:ext uri="{FF2B5EF4-FFF2-40B4-BE49-F238E27FC236}">
                  <a16:creationId xmlns:a16="http://schemas.microsoft.com/office/drawing/2014/main" id="{B29F0AA6-261E-4960-BCF0-D5192C649FE9}"/>
                </a:ext>
              </a:extLst>
            </p:cNvPr>
            <p:cNvSpPr/>
            <p:nvPr/>
          </p:nvSpPr>
          <p:spPr bwMode="auto">
            <a:xfrm>
              <a:off x="4243217" y="1720558"/>
              <a:ext cx="233371" cy="340326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11" name="箭號: 向下 110">
              <a:extLst>
                <a:ext uri="{FF2B5EF4-FFF2-40B4-BE49-F238E27FC236}">
                  <a16:creationId xmlns:a16="http://schemas.microsoft.com/office/drawing/2014/main" id="{B2D03EEC-B90E-4520-887A-20946FC2D72D}"/>
                </a:ext>
              </a:extLst>
            </p:cNvPr>
            <p:cNvSpPr/>
            <p:nvPr/>
          </p:nvSpPr>
          <p:spPr bwMode="auto">
            <a:xfrm rot="10800000">
              <a:off x="4572000" y="1704489"/>
              <a:ext cx="233371" cy="33672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A3C4B172-7F36-4D0E-9219-146A200336D6}"/>
                </a:ext>
              </a:extLst>
            </p:cNvPr>
            <p:cNvSpPr/>
            <p:nvPr/>
          </p:nvSpPr>
          <p:spPr bwMode="auto">
            <a:xfrm>
              <a:off x="967688" y="1749491"/>
              <a:ext cx="3310989" cy="2746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b="1" dirty="0">
                  <a:solidFill>
                    <a:srgbClr val="FF0000"/>
                  </a:solidFill>
                  <a:latin typeface="Arial" charset="0"/>
                </a:rPr>
                <a:t>TCP Socket Communication</a:t>
              </a:r>
              <a:endParaRPr kumimoji="1" lang="zh-TW" altLang="en-US" sz="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60F589CD-7F8A-4CEE-BC95-2DDB3E64A383}"/>
                </a:ext>
              </a:extLst>
            </p:cNvPr>
            <p:cNvSpPr/>
            <p:nvPr/>
          </p:nvSpPr>
          <p:spPr bwMode="auto">
            <a:xfrm>
              <a:off x="498919" y="1016689"/>
              <a:ext cx="1375851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3D Engine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46E4121-8CE1-401C-B279-1EAA6AF8DAF1}"/>
                </a:ext>
              </a:extLst>
            </p:cNvPr>
            <p:cNvSpPr/>
            <p:nvPr/>
          </p:nvSpPr>
          <p:spPr bwMode="auto">
            <a:xfrm>
              <a:off x="1915434" y="1016689"/>
              <a:ext cx="1166434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Editor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6247F9D-0412-4A43-B80E-BD19AC1AB5FA}"/>
                </a:ext>
              </a:extLst>
            </p:cNvPr>
            <p:cNvSpPr/>
            <p:nvPr/>
          </p:nvSpPr>
          <p:spPr bwMode="auto">
            <a:xfrm>
              <a:off x="3127187" y="1016689"/>
              <a:ext cx="1232716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Motion Planner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0ADDEBD-B7BB-48E0-8AA9-C2AE1C0F439A}"/>
                </a:ext>
              </a:extLst>
            </p:cNvPr>
            <p:cNvSpPr/>
            <p:nvPr/>
          </p:nvSpPr>
          <p:spPr bwMode="auto">
            <a:xfrm>
              <a:off x="554941" y="2136492"/>
              <a:ext cx="1752031" cy="3023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Robot Language (RL)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3E8815B2-10E5-464A-AEE2-3FA9E0893338}"/>
                </a:ext>
              </a:extLst>
            </p:cNvPr>
            <p:cNvSpPr/>
            <p:nvPr/>
          </p:nvSpPr>
          <p:spPr bwMode="auto">
            <a:xfrm>
              <a:off x="4407210" y="1016689"/>
              <a:ext cx="1242415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System Setting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DD55F0B7-C568-4A63-9476-199F3FF7DCB4}"/>
                </a:ext>
              </a:extLst>
            </p:cNvPr>
            <p:cNvSpPr/>
            <p:nvPr/>
          </p:nvSpPr>
          <p:spPr bwMode="auto">
            <a:xfrm>
              <a:off x="6620933" y="2136492"/>
              <a:ext cx="2027852" cy="3023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Command Decoder (CD)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543B415D-710A-4B92-96CA-5B21AA276B87}"/>
                </a:ext>
              </a:extLst>
            </p:cNvPr>
            <p:cNvSpPr/>
            <p:nvPr/>
          </p:nvSpPr>
          <p:spPr bwMode="auto">
            <a:xfrm>
              <a:off x="5677582" y="1013713"/>
              <a:ext cx="1295153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Interactive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CC0456A0-887D-43C0-BD6D-97AE5C0DAD13}"/>
                </a:ext>
              </a:extLst>
            </p:cNvPr>
            <p:cNvSpPr/>
            <p:nvPr/>
          </p:nvSpPr>
          <p:spPr bwMode="auto">
            <a:xfrm>
              <a:off x="554744" y="5341141"/>
              <a:ext cx="1836031" cy="3023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MCF Real Time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1B7A442-B577-4A51-BA1A-C5054AB15B3B}"/>
                </a:ext>
              </a:extLst>
            </p:cNvPr>
            <p:cNvSpPr/>
            <p:nvPr/>
          </p:nvSpPr>
          <p:spPr bwMode="auto">
            <a:xfrm>
              <a:off x="7000691" y="1016415"/>
              <a:ext cx="1711441" cy="334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UX/UI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E644FC68-9BE2-4919-83E8-F3927C1AC8A4}"/>
                </a:ext>
              </a:extLst>
            </p:cNvPr>
            <p:cNvSpPr/>
            <p:nvPr/>
          </p:nvSpPr>
          <p:spPr bwMode="auto">
            <a:xfrm>
              <a:off x="195645" y="934157"/>
              <a:ext cx="225889" cy="36722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>
                  <a:solidFill>
                    <a:schemeClr val="bg1"/>
                  </a:solidFill>
                  <a:latin typeface="Arial" charset="0"/>
                </a:rPr>
                <a:t>RAS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A95C005-492C-4BF6-9FE9-EEB70C44F739}"/>
                </a:ext>
              </a:extLst>
            </p:cNvPr>
            <p:cNvSpPr/>
            <p:nvPr/>
          </p:nvSpPr>
          <p:spPr bwMode="auto">
            <a:xfrm>
              <a:off x="195645" y="4921215"/>
              <a:ext cx="225889" cy="127534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800" dirty="0" err="1">
                  <a:solidFill>
                    <a:schemeClr val="bg1"/>
                  </a:solidFill>
                  <a:latin typeface="Arial" charset="0"/>
                </a:rPr>
                <a:t>eMIO</a:t>
              </a:r>
              <a:endParaRPr kumimoji="1" lang="zh-TW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13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E84FF67-BA1F-4E17-8BC6-B4B6EABF6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0668"/>
            <a:ext cx="4114800" cy="2827866"/>
          </a:xfrm>
        </p:spPr>
        <p:txBody>
          <a:bodyPr/>
          <a:lstStyle/>
          <a:p>
            <a:r>
              <a:rPr lang="en-US" altLang="zh-TW" sz="2000" dirty="0"/>
              <a:t>Visual Studio C++ 2019</a:t>
            </a:r>
          </a:p>
          <a:p>
            <a:r>
              <a:rPr lang="en-US" altLang="zh-TW" sz="2000" dirty="0" err="1"/>
              <a:t>CMake</a:t>
            </a:r>
            <a:r>
              <a:rPr lang="en-US" altLang="zh-TW" sz="2000" dirty="0"/>
              <a:t> 3.16.6</a:t>
            </a:r>
          </a:p>
          <a:p>
            <a:r>
              <a:rPr lang="en-US" altLang="zh-TW" sz="2000" dirty="0"/>
              <a:t>Qt 5.15.11</a:t>
            </a:r>
          </a:p>
          <a:p>
            <a:r>
              <a:rPr lang="en-US" altLang="zh-TW" sz="2000" dirty="0"/>
              <a:t>Qt Creator 11.0.3</a:t>
            </a:r>
          </a:p>
          <a:p>
            <a:r>
              <a:rPr lang="en-US" altLang="zh-TW" sz="2000" dirty="0"/>
              <a:t>VTK 8.2</a:t>
            </a:r>
          </a:p>
          <a:p>
            <a:r>
              <a:rPr lang="en-US" altLang="zh-TW" sz="2000" dirty="0"/>
              <a:t>Eigen 3.4.0</a:t>
            </a:r>
          </a:p>
          <a:p>
            <a:r>
              <a:rPr lang="en-US" altLang="zh-TW" sz="2000" dirty="0"/>
              <a:t>Boost 1.84.0</a:t>
            </a:r>
          </a:p>
          <a:p>
            <a:r>
              <a:rPr lang="en-US" altLang="zh-TW" sz="2000" dirty="0"/>
              <a:t>KINGSTAR 4.5</a:t>
            </a: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3C54E-F794-4F5C-819E-E464E750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編譯環境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2B279C-F121-4849-804E-A682E8EC8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4094EE-14E3-404C-81B2-23D3638B3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978" y="3778912"/>
            <a:ext cx="6238371" cy="2378537"/>
          </a:xfrm>
          <a:prstGeom prst="roundRect">
            <a:avLst>
              <a:gd name="adj" fmla="val 408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B3553F8-1EE6-4155-B42A-F504D1D69853}"/>
              </a:ext>
            </a:extLst>
          </p:cNvPr>
          <p:cNvSpPr txBox="1"/>
          <p:nvPr/>
        </p:nvSpPr>
        <p:spPr>
          <a:xfrm>
            <a:off x="1760339" y="5849672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+mn-ea"/>
                <a:ea typeface="+mn-ea"/>
              </a:rPr>
              <a:t>Qt Kit</a:t>
            </a:r>
            <a:r>
              <a:rPr lang="zh-TW" altLang="en-US" sz="1400" dirty="0">
                <a:latin typeface="+mn-ea"/>
                <a:ea typeface="+mn-ea"/>
              </a:rPr>
              <a:t>設定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29C0872-B540-4B16-B878-70DD390D65CB}"/>
              </a:ext>
            </a:extLst>
          </p:cNvPr>
          <p:cNvSpPr/>
          <p:nvPr/>
        </p:nvSpPr>
        <p:spPr bwMode="auto">
          <a:xfrm>
            <a:off x="4085166" y="517029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RASC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5C0747-38DC-4171-8FD4-008AEA389F41}"/>
              </a:ext>
            </a:extLst>
          </p:cNvPr>
          <p:cNvSpPr/>
          <p:nvPr/>
        </p:nvSpPr>
        <p:spPr bwMode="auto">
          <a:xfrm>
            <a:off x="4504267" y="1344999"/>
            <a:ext cx="2819400" cy="70556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RASS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AC0652B-25EA-4433-96F5-636FC433FD47}"/>
              </a:ext>
            </a:extLst>
          </p:cNvPr>
          <p:cNvSpPr/>
          <p:nvPr/>
        </p:nvSpPr>
        <p:spPr bwMode="auto">
          <a:xfrm>
            <a:off x="5429268" y="2390973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eMIO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0738F43-7A8C-434D-B885-8D7074EC5AEC}"/>
              </a:ext>
            </a:extLst>
          </p:cNvPr>
          <p:cNvSpPr/>
          <p:nvPr/>
        </p:nvSpPr>
        <p:spPr bwMode="auto">
          <a:xfrm>
            <a:off x="5684307" y="517029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APP1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F940FD4-ABF3-48FC-80F3-A44538EA0035}"/>
              </a:ext>
            </a:extLst>
          </p:cNvPr>
          <p:cNvSpPr/>
          <p:nvPr/>
        </p:nvSpPr>
        <p:spPr bwMode="auto">
          <a:xfrm>
            <a:off x="6796614" y="513224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APP2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37DC32C-7784-4F8B-BCBA-CE667ABB56F3}"/>
              </a:ext>
            </a:extLst>
          </p:cNvPr>
          <p:cNvSpPr txBox="1"/>
          <p:nvPr/>
        </p:nvSpPr>
        <p:spPr>
          <a:xfrm>
            <a:off x="7877286" y="57629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18C6F86-23F7-4FB3-85DA-1ED039BD4F2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 bwMode="auto">
          <a:xfrm>
            <a:off x="4572000" y="917145"/>
            <a:ext cx="1341967" cy="42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80A1084-9880-4DC0-AABD-44A48DC5802E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 bwMode="auto">
          <a:xfrm flipH="1">
            <a:off x="5913967" y="917145"/>
            <a:ext cx="257174" cy="42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E4AE707-58D6-4273-829B-B65E56A1B1DA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 bwMode="auto">
          <a:xfrm flipH="1">
            <a:off x="5913967" y="913340"/>
            <a:ext cx="1369481" cy="431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821D89A-06A7-42E4-ADC6-DEAC68663A1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 bwMode="auto">
          <a:xfrm>
            <a:off x="5913967" y="2050559"/>
            <a:ext cx="2135" cy="3404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007D7E2-E71C-4DCA-9B1F-E967E654EE29}"/>
              </a:ext>
            </a:extLst>
          </p:cNvPr>
          <p:cNvSpPr txBox="1"/>
          <p:nvPr/>
        </p:nvSpPr>
        <p:spPr>
          <a:xfrm>
            <a:off x="5913967" y="2103839"/>
            <a:ext cx="1276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Shared memory</a:t>
            </a:r>
            <a:endParaRPr lang="zh-TW" altLang="en-US" sz="1200" dirty="0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4D3D615-A12C-40DD-A6C6-730858574D97}"/>
              </a:ext>
            </a:extLst>
          </p:cNvPr>
          <p:cNvSpPr/>
          <p:nvPr/>
        </p:nvSpPr>
        <p:spPr bwMode="auto">
          <a:xfrm>
            <a:off x="3734114" y="3187016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DRV1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7315AE4-CC31-4844-89E1-76439D46E1C6}"/>
              </a:ext>
            </a:extLst>
          </p:cNvPr>
          <p:cNvSpPr/>
          <p:nvPr/>
        </p:nvSpPr>
        <p:spPr bwMode="auto">
          <a:xfrm>
            <a:off x="4846422" y="3187016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DRV2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30024EA-3E06-4CB8-B479-9D5663F3CEBD}"/>
              </a:ext>
            </a:extLst>
          </p:cNvPr>
          <p:cNvSpPr/>
          <p:nvPr/>
        </p:nvSpPr>
        <p:spPr bwMode="auto">
          <a:xfrm>
            <a:off x="5958729" y="3187016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DRV3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7A5F3F5-38FB-4B5C-A374-4820E333ABFB}"/>
              </a:ext>
            </a:extLst>
          </p:cNvPr>
          <p:cNvSpPr/>
          <p:nvPr/>
        </p:nvSpPr>
        <p:spPr bwMode="auto">
          <a:xfrm>
            <a:off x="7071036" y="3187016"/>
            <a:ext cx="973667" cy="4001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pitchFamily="18" charset="-120"/>
              </a:rPr>
              <a:t>DRV4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A5E8845-AA91-4420-B9C5-AC94322A097E}"/>
              </a:ext>
            </a:extLst>
          </p:cNvPr>
          <p:cNvSpPr txBox="1"/>
          <p:nvPr/>
        </p:nvSpPr>
        <p:spPr>
          <a:xfrm>
            <a:off x="8271302" y="32024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4102AC3F-1900-4AF2-945A-5CC2E6C73850}"/>
              </a:ext>
            </a:extLst>
          </p:cNvPr>
          <p:cNvCxnSpPr>
            <a:stCxn id="9" idx="2"/>
            <a:endCxn id="24" idx="0"/>
          </p:cNvCxnSpPr>
          <p:nvPr/>
        </p:nvCxnSpPr>
        <p:spPr bwMode="auto">
          <a:xfrm flipH="1">
            <a:off x="4220948" y="2791089"/>
            <a:ext cx="1695154" cy="3959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0E631D4-8E82-4085-A0B7-BCFFE69B2348}"/>
              </a:ext>
            </a:extLst>
          </p:cNvPr>
          <p:cNvCxnSpPr>
            <a:stCxn id="9" idx="2"/>
            <a:endCxn id="25" idx="0"/>
          </p:cNvCxnSpPr>
          <p:nvPr/>
        </p:nvCxnSpPr>
        <p:spPr bwMode="auto">
          <a:xfrm flipH="1">
            <a:off x="5333256" y="2791089"/>
            <a:ext cx="582846" cy="3959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0A34E59-07A4-4BA3-8A7F-9B2C8A5E821A}"/>
              </a:ext>
            </a:extLst>
          </p:cNvPr>
          <p:cNvCxnSpPr>
            <a:stCxn id="9" idx="2"/>
            <a:endCxn id="26" idx="0"/>
          </p:cNvCxnSpPr>
          <p:nvPr/>
        </p:nvCxnSpPr>
        <p:spPr bwMode="auto">
          <a:xfrm>
            <a:off x="5916102" y="2791089"/>
            <a:ext cx="529461" cy="3959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A2B31CF3-48AE-4C23-B67D-A8C1BEB8A9DA}"/>
              </a:ext>
            </a:extLst>
          </p:cNvPr>
          <p:cNvCxnSpPr>
            <a:stCxn id="9" idx="2"/>
            <a:endCxn id="28" idx="0"/>
          </p:cNvCxnSpPr>
          <p:nvPr/>
        </p:nvCxnSpPr>
        <p:spPr bwMode="auto">
          <a:xfrm>
            <a:off x="5916102" y="2791089"/>
            <a:ext cx="1641768" cy="3959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0E448CCB-B86C-4AAB-9D58-0089ABD1888C}"/>
              </a:ext>
            </a:extLst>
          </p:cNvPr>
          <p:cNvSpPr txBox="1"/>
          <p:nvPr/>
        </p:nvSpPr>
        <p:spPr>
          <a:xfrm>
            <a:off x="4358889" y="1068000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TCP/IP</a:t>
            </a:r>
            <a:endParaRPr lang="zh-TW" altLang="en-US" sz="12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4081B42-FB98-4B3C-923D-12449B933937}"/>
              </a:ext>
            </a:extLst>
          </p:cNvPr>
          <p:cNvSpPr txBox="1"/>
          <p:nvPr/>
        </p:nvSpPr>
        <p:spPr>
          <a:xfrm>
            <a:off x="4164825" y="2675628"/>
            <a:ext cx="634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E-CAT</a:t>
            </a:r>
            <a:endParaRPr lang="zh-TW" altLang="en-US" sz="1200" dirty="0"/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C8F5D0FE-955F-479D-8628-EE4749AA0BD2}"/>
              </a:ext>
            </a:extLst>
          </p:cNvPr>
          <p:cNvSpPr/>
          <p:nvPr/>
        </p:nvSpPr>
        <p:spPr bwMode="auto">
          <a:xfrm>
            <a:off x="4623957" y="1755250"/>
            <a:ext cx="599599" cy="22487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新細明體" pitchFamily="18" charset="-120"/>
              </a:rPr>
              <a:t>IRAL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8E52850D-27DB-4465-87F8-6C58B6A0E82C}"/>
              </a:ext>
            </a:extLst>
          </p:cNvPr>
          <p:cNvSpPr/>
          <p:nvPr/>
        </p:nvSpPr>
        <p:spPr bwMode="auto">
          <a:xfrm>
            <a:off x="5259489" y="1755250"/>
            <a:ext cx="971967" cy="22487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effectLst/>
                <a:latin typeface="Arial" charset="0"/>
                <a:ea typeface="新細明體" pitchFamily="18" charset="-120"/>
              </a:rPr>
              <a:t>RobotRCL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DBF681B8-7674-4095-8E4B-40FB4233FFAA}"/>
              </a:ext>
            </a:extLst>
          </p:cNvPr>
          <p:cNvSpPr/>
          <p:nvPr/>
        </p:nvSpPr>
        <p:spPr bwMode="auto">
          <a:xfrm>
            <a:off x="6267389" y="1755250"/>
            <a:ext cx="968737" cy="22487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effectLst/>
                <a:latin typeface="Arial" charset="0"/>
                <a:ea typeface="新細明體" pitchFamily="18" charset="-120"/>
              </a:rPr>
              <a:t>maio_mcf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980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1F0B9FF-A16C-42F7-87BE-412C96A9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F7642-9D03-403C-9682-D78140FE0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FAD8D60-6876-4355-88E5-DD4D20BC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85" y="1085523"/>
            <a:ext cx="2724530" cy="2343477"/>
          </a:xfrm>
          <a:prstGeom prst="rect">
            <a:avLst/>
          </a:prstGeom>
        </p:spPr>
      </p:pic>
      <p:grpSp>
        <p:nvGrpSpPr>
          <p:cNvPr id="29" name="群組 28">
            <a:extLst>
              <a:ext uri="{FF2B5EF4-FFF2-40B4-BE49-F238E27FC236}">
                <a16:creationId xmlns:a16="http://schemas.microsoft.com/office/drawing/2014/main" id="{BB9C6A7F-4E35-4AF2-B450-0AB2EF7A3077}"/>
              </a:ext>
            </a:extLst>
          </p:cNvPr>
          <p:cNvGrpSpPr/>
          <p:nvPr/>
        </p:nvGrpSpPr>
        <p:grpSpPr>
          <a:xfrm>
            <a:off x="3135860" y="2180350"/>
            <a:ext cx="725391" cy="571720"/>
            <a:chOff x="2955926" y="2597111"/>
            <a:chExt cx="725391" cy="57172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0164528-5C28-4718-82E2-54A1681CD0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066"/>
            <a:stretch/>
          </p:blipFill>
          <p:spPr>
            <a:xfrm>
              <a:off x="2975409" y="2616304"/>
              <a:ext cx="705908" cy="552527"/>
            </a:xfrm>
            <a:prstGeom prst="rect">
              <a:avLst/>
            </a:prstGeom>
          </p:spPr>
        </p:pic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84152253-2876-48BB-9327-8C7845BD91AA}"/>
                </a:ext>
              </a:extLst>
            </p:cNvPr>
            <p:cNvSpPr/>
            <p:nvPr/>
          </p:nvSpPr>
          <p:spPr bwMode="auto">
            <a:xfrm>
              <a:off x="2955926" y="2597111"/>
              <a:ext cx="659342" cy="571720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EB3EAB8-9C1D-4A75-AA95-589986ECB9F1}"/>
              </a:ext>
            </a:extLst>
          </p:cNvPr>
          <p:cNvSpPr txBox="1"/>
          <p:nvPr/>
        </p:nvSpPr>
        <p:spPr>
          <a:xfrm>
            <a:off x="323850" y="1071264"/>
            <a:ext cx="1126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編譯結果資料夾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B3C0B79-BF38-4E38-9B3C-9BF86DD06776}"/>
              </a:ext>
            </a:extLst>
          </p:cNvPr>
          <p:cNvSpPr txBox="1"/>
          <p:nvPr/>
        </p:nvSpPr>
        <p:spPr>
          <a:xfrm>
            <a:off x="460608" y="1608138"/>
            <a:ext cx="10342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序號工具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FFC248C-6916-4B61-A0B9-A4FDD502AC95}"/>
              </a:ext>
            </a:extLst>
          </p:cNvPr>
          <p:cNvSpPr txBox="1"/>
          <p:nvPr/>
        </p:nvSpPr>
        <p:spPr>
          <a:xfrm>
            <a:off x="460608" y="1862427"/>
            <a:ext cx="1034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主程式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8064C5B-3156-477C-A30D-9E62D1CA2761}"/>
              </a:ext>
            </a:extLst>
          </p:cNvPr>
          <p:cNvSpPr txBox="1"/>
          <p:nvPr/>
        </p:nvSpPr>
        <p:spPr>
          <a:xfrm>
            <a:off x="500984" y="2649898"/>
            <a:ext cx="949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RAS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主程式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950B910-4F38-4BF0-9443-32B9ED289A2C}"/>
              </a:ext>
            </a:extLst>
          </p:cNvPr>
          <p:cNvSpPr txBox="1"/>
          <p:nvPr/>
        </p:nvSpPr>
        <p:spPr>
          <a:xfrm>
            <a:off x="0" y="2395458"/>
            <a:ext cx="1450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Language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擴充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AF9CD9F-8FC6-4368-9D10-95A7019A81AB}"/>
              </a:ext>
            </a:extLst>
          </p:cNvPr>
          <p:cNvSpPr txBox="1"/>
          <p:nvPr/>
        </p:nvSpPr>
        <p:spPr>
          <a:xfrm>
            <a:off x="323850" y="2128942"/>
            <a:ext cx="1126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安裝資料夾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2F18B9-F84A-445E-A3AB-FA978E72BABE}"/>
              </a:ext>
            </a:extLst>
          </p:cNvPr>
          <p:cNvSpPr txBox="1"/>
          <p:nvPr/>
        </p:nvSpPr>
        <p:spPr>
          <a:xfrm>
            <a:off x="323850" y="3223180"/>
            <a:ext cx="1126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CMake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專案管理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0BB8B90-E889-47C7-A30F-BE32F853CCE2}"/>
              </a:ext>
            </a:extLst>
          </p:cNvPr>
          <p:cNvSpPr txBox="1"/>
          <p:nvPr/>
        </p:nvSpPr>
        <p:spPr>
          <a:xfrm>
            <a:off x="333170" y="1317485"/>
            <a:ext cx="11176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CMake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其他定義</a:t>
            </a: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16603BD6-97B1-4AE6-B667-BDC6CEF63011}"/>
              </a:ext>
            </a:extLst>
          </p:cNvPr>
          <p:cNvCxnSpPr>
            <a:cxnSpLocks/>
          </p:cNvCxnSpPr>
          <p:nvPr/>
        </p:nvCxnSpPr>
        <p:spPr bwMode="auto">
          <a:xfrm flipV="1">
            <a:off x="2079173" y="1295433"/>
            <a:ext cx="1362257" cy="435816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C99F2B3E-1A0A-49B0-9281-9575B17A3F12}"/>
              </a:ext>
            </a:extLst>
          </p:cNvPr>
          <p:cNvCxnSpPr/>
          <p:nvPr/>
        </p:nvCxnSpPr>
        <p:spPr bwMode="auto">
          <a:xfrm>
            <a:off x="2079173" y="1985537"/>
            <a:ext cx="1036560" cy="389626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77A00494-E3DA-4DE0-B6D1-E9C6DFA1576F}"/>
              </a:ext>
            </a:extLst>
          </p:cNvPr>
          <p:cNvGrpSpPr/>
          <p:nvPr/>
        </p:nvGrpSpPr>
        <p:grpSpPr>
          <a:xfrm>
            <a:off x="6195498" y="685114"/>
            <a:ext cx="1872712" cy="889507"/>
            <a:chOff x="4175315" y="2512331"/>
            <a:chExt cx="1872712" cy="889507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F1A5D4BD-75A3-4158-834B-7A7034F42302}"/>
                </a:ext>
              </a:extLst>
            </p:cNvPr>
            <p:cNvGrpSpPr/>
            <p:nvPr/>
          </p:nvGrpSpPr>
          <p:grpSpPr>
            <a:xfrm>
              <a:off x="4229483" y="2512331"/>
              <a:ext cx="1818544" cy="889507"/>
              <a:chOff x="4229483" y="2512331"/>
              <a:chExt cx="1818544" cy="889507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2DFA2D0-A30E-4E95-B550-83AA88812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7289" y="2571267"/>
                <a:ext cx="990738" cy="771633"/>
              </a:xfrm>
              <a:prstGeom prst="rect">
                <a:avLst/>
              </a:prstGeom>
            </p:spPr>
          </p:pic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A4253FC3-D8EA-4B82-9BE2-D8DD15F9D3DB}"/>
                  </a:ext>
                </a:extLst>
              </p:cNvPr>
              <p:cNvSpPr/>
              <p:nvPr/>
            </p:nvSpPr>
            <p:spPr bwMode="auto">
              <a:xfrm>
                <a:off x="4229483" y="2512331"/>
                <a:ext cx="1697184" cy="889507"/>
              </a:xfrm>
              <a:prstGeom prst="roundRect">
                <a:avLst>
                  <a:gd name="adj" fmla="val 8867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pitchFamily="18" charset="-120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7BEEA4DF-CA86-48A2-8566-EA310C6622CF}"/>
                </a:ext>
              </a:extLst>
            </p:cNvPr>
            <p:cNvSpPr txBox="1"/>
            <p:nvPr/>
          </p:nvSpPr>
          <p:spPr>
            <a:xfrm>
              <a:off x="4229483" y="2571267"/>
              <a:ext cx="8958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數學運算庫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9766E9A-4578-4F7B-B7A5-A476E058DDC0}"/>
                </a:ext>
              </a:extLst>
            </p:cNvPr>
            <p:cNvSpPr txBox="1"/>
            <p:nvPr/>
          </p:nvSpPr>
          <p:spPr>
            <a:xfrm>
              <a:off x="4229483" y="2833972"/>
              <a:ext cx="8958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boost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庫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DB434BA-CEFF-4087-B68F-74B84805E8CC}"/>
                </a:ext>
              </a:extLst>
            </p:cNvPr>
            <p:cNvSpPr txBox="1"/>
            <p:nvPr/>
          </p:nvSpPr>
          <p:spPr>
            <a:xfrm>
              <a:off x="4175315" y="3088436"/>
              <a:ext cx="9499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KDL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運動學庫</a:t>
              </a:r>
            </a:p>
          </p:txBody>
        </p:sp>
      </p:grp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B164574E-3CEE-451B-8203-6506CB2F477A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 flipV="1">
            <a:off x="3680683" y="1129866"/>
            <a:ext cx="2568983" cy="1229130"/>
          </a:xfrm>
          <a:prstGeom prst="bentConnector3">
            <a:avLst>
              <a:gd name="adj1" fmla="val 849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EE3470C-DA1F-45DC-A61D-C2411F7F9FDE}"/>
              </a:ext>
            </a:extLst>
          </p:cNvPr>
          <p:cNvGrpSpPr/>
          <p:nvPr/>
        </p:nvGrpSpPr>
        <p:grpSpPr>
          <a:xfrm>
            <a:off x="3441430" y="682886"/>
            <a:ext cx="2250122" cy="1425762"/>
            <a:chOff x="3441430" y="682886"/>
            <a:chExt cx="2250122" cy="1425762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4E5990D-D7E1-4811-8F29-68ABDAFE6FAD}"/>
                </a:ext>
              </a:extLst>
            </p:cNvPr>
            <p:cNvGrpSpPr/>
            <p:nvPr/>
          </p:nvGrpSpPr>
          <p:grpSpPr>
            <a:xfrm>
              <a:off x="3441430" y="682886"/>
              <a:ext cx="2250122" cy="1425762"/>
              <a:chOff x="2706053" y="974538"/>
              <a:chExt cx="2250122" cy="1425762"/>
            </a:xfrm>
          </p:grpSpPr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5DAD0662-5016-4A8A-A54A-E334925B1E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53860"/>
              <a:stretch/>
            </p:blipFill>
            <p:spPr>
              <a:xfrm>
                <a:off x="3787072" y="993730"/>
                <a:ext cx="1134008" cy="1343212"/>
              </a:xfrm>
              <a:prstGeom prst="rect">
                <a:avLst/>
              </a:prstGeom>
            </p:spPr>
          </p:pic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6702F1D2-5F97-45ED-AB4A-9ECDCF367F5B}"/>
                  </a:ext>
                </a:extLst>
              </p:cNvPr>
              <p:cNvSpPr/>
              <p:nvPr/>
            </p:nvSpPr>
            <p:spPr bwMode="auto">
              <a:xfrm>
                <a:off x="2706053" y="974538"/>
                <a:ext cx="2250122" cy="1425762"/>
              </a:xfrm>
              <a:prstGeom prst="roundRect">
                <a:avLst>
                  <a:gd name="adj" fmla="val 8867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pitchFamily="18" charset="-120"/>
                </a:endParaRP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521A521-595F-485B-9A91-A68207BEED59}"/>
                  </a:ext>
                </a:extLst>
              </p:cNvPr>
              <p:cNvSpPr txBox="1"/>
              <p:nvPr/>
            </p:nvSpPr>
            <p:spPr>
              <a:xfrm>
                <a:off x="2980106" y="1288242"/>
                <a:ext cx="8958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ITRI.lic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生成</a:t>
                </a:r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CC46AE8-3D44-46BE-8711-E32D28374E57}"/>
                  </a:ext>
                </a:extLst>
              </p:cNvPr>
              <p:cNvSpPr txBox="1"/>
              <p:nvPr/>
            </p:nvSpPr>
            <p:spPr>
              <a:xfrm>
                <a:off x="2844071" y="1533395"/>
                <a:ext cx="103425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ITRI.mkf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生成</a:t>
                </a:r>
              </a:p>
            </p:txBody>
          </p:sp>
        </p:grp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A83C3962-036C-4FE0-8B82-FBD209C889F1}"/>
                </a:ext>
              </a:extLst>
            </p:cNvPr>
            <p:cNvSpPr txBox="1"/>
            <p:nvPr/>
          </p:nvSpPr>
          <p:spPr>
            <a:xfrm>
              <a:off x="3485510" y="1549108"/>
              <a:ext cx="1134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License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編譯輸出</a:t>
              </a: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9085F9A8-AB70-48BF-9944-CC194C42D101}"/>
              </a:ext>
            </a:extLst>
          </p:cNvPr>
          <p:cNvGrpSpPr/>
          <p:nvPr/>
        </p:nvGrpSpPr>
        <p:grpSpPr>
          <a:xfrm>
            <a:off x="6121881" y="1664006"/>
            <a:ext cx="2906469" cy="889507"/>
            <a:chOff x="5082988" y="2428349"/>
            <a:chExt cx="2906469" cy="889507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53D8E611-E9DB-4C5A-BD26-F93FDC0C4B5C}"/>
                </a:ext>
              </a:extLst>
            </p:cNvPr>
            <p:cNvGrpSpPr/>
            <p:nvPr/>
          </p:nvGrpSpPr>
          <p:grpSpPr>
            <a:xfrm>
              <a:off x="5082988" y="2475806"/>
              <a:ext cx="2906469" cy="800212"/>
              <a:chOff x="5082988" y="2475806"/>
              <a:chExt cx="2906469" cy="800212"/>
            </a:xfrm>
          </p:grpSpPr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8C6E286-0FF0-49B0-A62C-911A5A5AA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4665" y="2475806"/>
                <a:ext cx="1914792" cy="800212"/>
              </a:xfrm>
              <a:prstGeom prst="rect">
                <a:avLst/>
              </a:prstGeom>
            </p:spPr>
          </p:pic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FA013943-2967-4811-BF8A-1A8F96DEDEC7}"/>
                  </a:ext>
                </a:extLst>
              </p:cNvPr>
              <p:cNvSpPr txBox="1"/>
              <p:nvPr/>
            </p:nvSpPr>
            <p:spPr>
              <a:xfrm>
                <a:off x="5082988" y="2490651"/>
                <a:ext cx="104837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lib_maio_mcf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27848B5-E907-4D51-9648-0B6E3511E1F8}"/>
                  </a:ext>
                </a:extLst>
              </p:cNvPr>
              <p:cNvSpPr txBox="1"/>
              <p:nvPr/>
            </p:nvSpPr>
            <p:spPr>
              <a:xfrm>
                <a:off x="5175250" y="2760223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RobotRCL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DDC4C1C2-99B3-4913-932B-52D1583A8CE6}"/>
                  </a:ext>
                </a:extLst>
              </p:cNvPr>
              <p:cNvSpPr txBox="1"/>
              <p:nvPr/>
            </p:nvSpPr>
            <p:spPr>
              <a:xfrm>
                <a:off x="5175250" y="3018120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RCL_RTX.rtss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53" name="矩形: 圓角 52">
              <a:extLst>
                <a:ext uri="{FF2B5EF4-FFF2-40B4-BE49-F238E27FC236}">
                  <a16:creationId xmlns:a16="http://schemas.microsoft.com/office/drawing/2014/main" id="{5825DBD9-656B-4F3E-BCE3-4160F0B05CB2}"/>
                </a:ext>
              </a:extLst>
            </p:cNvPr>
            <p:cNvSpPr/>
            <p:nvPr/>
          </p:nvSpPr>
          <p:spPr bwMode="auto">
            <a:xfrm>
              <a:off x="5127067" y="2428349"/>
              <a:ext cx="2862389" cy="889507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6331C7EB-59F2-4502-AE2E-9665CC289040}"/>
              </a:ext>
            </a:extLst>
          </p:cNvPr>
          <p:cNvCxnSpPr>
            <a:cxnSpLocks/>
            <a:endCxn id="53" idx="1"/>
          </p:cNvCxnSpPr>
          <p:nvPr/>
        </p:nvCxnSpPr>
        <p:spPr bwMode="auto">
          <a:xfrm flipV="1">
            <a:off x="3680683" y="2108760"/>
            <a:ext cx="2485277" cy="541138"/>
          </a:xfrm>
          <a:prstGeom prst="bentConnector3">
            <a:avLst>
              <a:gd name="adj1" fmla="val 9224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EFDF93D6-B747-4C6F-A0FE-D13992EF7DD7}"/>
              </a:ext>
            </a:extLst>
          </p:cNvPr>
          <p:cNvGrpSpPr/>
          <p:nvPr/>
        </p:nvGrpSpPr>
        <p:grpSpPr>
          <a:xfrm>
            <a:off x="268167" y="3727310"/>
            <a:ext cx="3113332" cy="2520993"/>
            <a:chOff x="1040787" y="3658178"/>
            <a:chExt cx="3113332" cy="2520993"/>
          </a:xfrm>
        </p:grpSpPr>
        <p:grpSp>
          <p:nvGrpSpPr>
            <p:cNvPr id="68" name="群組 67">
              <a:extLst>
                <a:ext uri="{FF2B5EF4-FFF2-40B4-BE49-F238E27FC236}">
                  <a16:creationId xmlns:a16="http://schemas.microsoft.com/office/drawing/2014/main" id="{6139D200-6B24-4B51-AC80-E61C49405A6A}"/>
                </a:ext>
              </a:extLst>
            </p:cNvPr>
            <p:cNvGrpSpPr/>
            <p:nvPr/>
          </p:nvGrpSpPr>
          <p:grpSpPr>
            <a:xfrm>
              <a:off x="1040787" y="3704501"/>
              <a:ext cx="3113332" cy="2430658"/>
              <a:chOff x="194733" y="3596719"/>
              <a:chExt cx="3113332" cy="2430658"/>
            </a:xfrm>
          </p:grpSpPr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8C13CB22-A8D5-4B8A-A278-150A387D6C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2537" y="3607689"/>
                <a:ext cx="1095528" cy="2419688"/>
              </a:xfrm>
              <a:prstGeom prst="rect">
                <a:avLst/>
              </a:prstGeom>
            </p:spPr>
          </p:pic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BEAF587-B601-4D9B-AFBC-3C83B3BC92BF}"/>
                  </a:ext>
                </a:extLst>
              </p:cNvPr>
              <p:cNvSpPr txBox="1"/>
              <p:nvPr/>
            </p:nvSpPr>
            <p:spPr>
              <a:xfrm>
                <a:off x="1364584" y="3596719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Eigen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庫</a:t>
                </a:r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975955A2-D70A-4685-817B-9E770785CEF9}"/>
                  </a:ext>
                </a:extLst>
              </p:cNvPr>
              <p:cNvSpPr txBox="1"/>
              <p:nvPr/>
            </p:nvSpPr>
            <p:spPr>
              <a:xfrm>
                <a:off x="1364584" y="3853910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RAS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基本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DLL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3CEF95-8B4A-4EA4-9D38-BAF46ABE6840}"/>
                  </a:ext>
                </a:extLst>
              </p:cNvPr>
              <p:cNvSpPr txBox="1"/>
              <p:nvPr/>
            </p:nvSpPr>
            <p:spPr>
              <a:xfrm>
                <a:off x="194733" y="4135463"/>
                <a:ext cx="21196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RAS GUI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主程式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含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Server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和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Client)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487004B2-9DCB-4A0E-978F-543F4AF17463}"/>
                  </a:ext>
                </a:extLst>
              </p:cNvPr>
              <p:cNvSpPr txBox="1"/>
              <p:nvPr/>
            </p:nvSpPr>
            <p:spPr>
              <a:xfrm>
                <a:off x="1344024" y="4419565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RAS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核心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DLL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014AE60-1F22-4AFD-A98F-A9406AABEAEB}"/>
                  </a:ext>
                </a:extLst>
              </p:cNvPr>
              <p:cNvSpPr txBox="1"/>
              <p:nvPr/>
            </p:nvSpPr>
            <p:spPr>
              <a:xfrm>
                <a:off x="1340397" y="4692290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</a:t>
                </a:r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Leica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通訊</a:t>
                </a:r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B4A51CFC-3B3F-45D7-BAB2-51D496679ABB}"/>
                  </a:ext>
                </a:extLst>
              </p:cNvPr>
              <p:cNvSpPr txBox="1"/>
              <p:nvPr/>
            </p:nvSpPr>
            <p:spPr>
              <a:xfrm>
                <a:off x="1345403" y="4938511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KDL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運動學庫</a:t>
                </a:r>
              </a:p>
            </p:txBody>
          </p: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8B1B1FDD-BB46-45BD-800E-316D8643AD7D}"/>
                  </a:ext>
                </a:extLst>
              </p:cNvPr>
              <p:cNvSpPr txBox="1"/>
              <p:nvPr/>
            </p:nvSpPr>
            <p:spPr>
              <a:xfrm>
                <a:off x="1340396" y="5210117"/>
                <a:ext cx="9498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Zip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壓縮</a:t>
                </a:r>
              </a:p>
            </p:txBody>
          </p: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C9D5BA70-97AF-4326-948C-FB7D4C73A216}"/>
                  </a:ext>
                </a:extLst>
              </p:cNvPr>
              <p:cNvSpPr txBox="1"/>
              <p:nvPr/>
            </p:nvSpPr>
            <p:spPr>
              <a:xfrm>
                <a:off x="1199509" y="5743823"/>
                <a:ext cx="1095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VTK 3D</a:t>
                </a:r>
                <a:r>
                  <a:rPr lang="zh-TW" altLang="en-US" sz="1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圖形化</a:t>
                </a:r>
              </a:p>
            </p:txBody>
          </p:sp>
        </p:grpSp>
        <p:sp>
          <p:nvSpPr>
            <p:cNvPr id="69" name="矩形: 圓角 68">
              <a:extLst>
                <a:ext uri="{FF2B5EF4-FFF2-40B4-BE49-F238E27FC236}">
                  <a16:creationId xmlns:a16="http://schemas.microsoft.com/office/drawing/2014/main" id="{C1ECA7C3-75DD-41FB-A16E-143D6F1A4FE5}"/>
                </a:ext>
              </a:extLst>
            </p:cNvPr>
            <p:cNvSpPr/>
            <p:nvPr/>
          </p:nvSpPr>
          <p:spPr bwMode="auto">
            <a:xfrm>
              <a:off x="1040787" y="3658178"/>
              <a:ext cx="3014746" cy="2520993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A85FFE42-0E50-4C90-8796-ABD0E0D294F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887236" y="2861897"/>
            <a:ext cx="934739" cy="756960"/>
          </a:xfrm>
          <a:prstGeom prst="bentConnector3">
            <a:avLst>
              <a:gd name="adj1" fmla="val 18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686B6812-0C83-41B7-895D-F130D591D4BE}"/>
              </a:ext>
            </a:extLst>
          </p:cNvPr>
          <p:cNvGrpSpPr/>
          <p:nvPr/>
        </p:nvGrpSpPr>
        <p:grpSpPr>
          <a:xfrm>
            <a:off x="3661755" y="2798005"/>
            <a:ext cx="3262350" cy="1407561"/>
            <a:chOff x="4344535" y="3263920"/>
            <a:chExt cx="3262350" cy="1407561"/>
          </a:xfrm>
        </p:grpSpPr>
        <p:pic>
          <p:nvPicPr>
            <p:cNvPr id="81" name="圖片 80">
              <a:extLst>
                <a:ext uri="{FF2B5EF4-FFF2-40B4-BE49-F238E27FC236}">
                  <a16:creationId xmlns:a16="http://schemas.microsoft.com/office/drawing/2014/main" id="{312B0DF8-227B-412B-9262-977D89298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37900" y="3290163"/>
              <a:ext cx="1409897" cy="1381318"/>
            </a:xfrm>
            <a:prstGeom prst="rect">
              <a:avLst/>
            </a:prstGeom>
          </p:spPr>
        </p:pic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1AD41840-3DEC-4E6A-BD2E-1F8FF8F29790}"/>
                </a:ext>
              </a:extLst>
            </p:cNvPr>
            <p:cNvSpPr txBox="1"/>
            <p:nvPr/>
          </p:nvSpPr>
          <p:spPr>
            <a:xfrm>
              <a:off x="4352449" y="3290163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舊版通訊模組</a:t>
              </a: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5ACCDB06-EEBF-46A4-9FC6-20F0877B4AA3}"/>
                </a:ext>
              </a:extLst>
            </p:cNvPr>
            <p:cNvSpPr txBox="1"/>
            <p:nvPr/>
          </p:nvSpPr>
          <p:spPr>
            <a:xfrm>
              <a:off x="4344535" y="3563523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INI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讀取模組</a:t>
              </a: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FB009DF7-8EE7-4293-93B7-8E29855938EF}"/>
                </a:ext>
              </a:extLst>
            </p:cNvPr>
            <p:cNvSpPr txBox="1"/>
            <p:nvPr/>
          </p:nvSpPr>
          <p:spPr>
            <a:xfrm>
              <a:off x="4352448" y="3844142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舊版解譯模組</a:t>
              </a: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8D8270C4-1546-4AA8-909C-057378FEEF53}"/>
                </a:ext>
              </a:extLst>
            </p:cNvPr>
            <p:cNvSpPr txBox="1"/>
            <p:nvPr/>
          </p:nvSpPr>
          <p:spPr>
            <a:xfrm>
              <a:off x="4344535" y="4109311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舊版運動學</a:t>
              </a: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9167655E-B316-4BF2-A456-50B9A07A5298}"/>
                </a:ext>
              </a:extLst>
            </p:cNvPr>
            <p:cNvSpPr txBox="1"/>
            <p:nvPr/>
          </p:nvSpPr>
          <p:spPr>
            <a:xfrm>
              <a:off x="4344535" y="4350654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舊版模擬系統</a:t>
              </a:r>
            </a:p>
          </p:txBody>
        </p: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60DB2A72-6FD0-4751-885D-5A9C47F3F91C}"/>
                </a:ext>
              </a:extLst>
            </p:cNvPr>
            <p:cNvCxnSpPr/>
            <p:nvPr/>
          </p:nvCxnSpPr>
          <p:spPr bwMode="auto">
            <a:xfrm>
              <a:off x="6502400" y="3430939"/>
              <a:ext cx="17772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7FF0D21E-8A60-45DF-86AB-ADEE93998C5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942848" y="3969191"/>
              <a:ext cx="924677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D9998B47-2A11-4170-9A85-D6F2B1918C8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74427" y="4232421"/>
              <a:ext cx="203058" cy="19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BCF44E50-84D6-4AC5-AB73-D8B2D3A5A0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74427" y="4474791"/>
              <a:ext cx="20305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25F5A27A-876F-49B3-ABCD-972CDDF726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77485" y="3429000"/>
              <a:ext cx="0" cy="104476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矩形: 圓角 100">
              <a:extLst>
                <a:ext uri="{FF2B5EF4-FFF2-40B4-BE49-F238E27FC236}">
                  <a16:creationId xmlns:a16="http://schemas.microsoft.com/office/drawing/2014/main" id="{686B558A-C3B9-40E5-8398-4E4659EAFF50}"/>
                </a:ext>
              </a:extLst>
            </p:cNvPr>
            <p:cNvSpPr/>
            <p:nvPr/>
          </p:nvSpPr>
          <p:spPr bwMode="auto">
            <a:xfrm>
              <a:off x="4344535" y="3263920"/>
              <a:ext cx="3262350" cy="1407561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FF019A23-33A4-4525-84B4-89F2FEFE47D8}"/>
                </a:ext>
              </a:extLst>
            </p:cNvPr>
            <p:cNvSpPr txBox="1"/>
            <p:nvPr/>
          </p:nvSpPr>
          <p:spPr>
            <a:xfrm>
              <a:off x="6707173" y="3707747"/>
              <a:ext cx="89971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目前主程式用不到，但仍編譯保留</a:t>
              </a:r>
            </a:p>
          </p:txBody>
        </p:sp>
      </p:grpSp>
      <p:cxnSp>
        <p:nvCxnSpPr>
          <p:cNvPr id="105" name="接點: 肘形 104">
            <a:extLst>
              <a:ext uri="{FF2B5EF4-FFF2-40B4-BE49-F238E27FC236}">
                <a16:creationId xmlns:a16="http://schemas.microsoft.com/office/drawing/2014/main" id="{52D1E325-EC6A-483E-9316-48C63EE92A68}"/>
              </a:ext>
            </a:extLst>
          </p:cNvPr>
          <p:cNvCxnSpPr>
            <a:cxnSpLocks/>
            <a:endCxn id="101" idx="1"/>
          </p:cNvCxnSpPr>
          <p:nvPr/>
        </p:nvCxnSpPr>
        <p:spPr bwMode="auto">
          <a:xfrm flipV="1">
            <a:off x="2999061" y="3501786"/>
            <a:ext cx="662694" cy="652148"/>
          </a:xfrm>
          <a:prstGeom prst="bentConnector3">
            <a:avLst>
              <a:gd name="adj1" fmla="val 6405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055572D9-8660-4652-AA67-591BA9766608}"/>
              </a:ext>
            </a:extLst>
          </p:cNvPr>
          <p:cNvGrpSpPr/>
          <p:nvPr/>
        </p:nvGrpSpPr>
        <p:grpSpPr>
          <a:xfrm>
            <a:off x="3680683" y="4318727"/>
            <a:ext cx="1240636" cy="252498"/>
            <a:chOff x="4176164" y="4243300"/>
            <a:chExt cx="1240636" cy="252498"/>
          </a:xfrm>
        </p:grpSpPr>
        <p:pic>
          <p:nvPicPr>
            <p:cNvPr id="107" name="圖片 106">
              <a:extLst>
                <a:ext uri="{FF2B5EF4-FFF2-40B4-BE49-F238E27FC236}">
                  <a16:creationId xmlns:a16="http://schemas.microsoft.com/office/drawing/2014/main" id="{EC8C5A36-8189-40B9-A0F6-E8454DAD6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26009" y="4248113"/>
              <a:ext cx="1190791" cy="247685"/>
            </a:xfrm>
            <a:prstGeom prst="rect">
              <a:avLst/>
            </a:prstGeom>
          </p:spPr>
        </p:pic>
        <p:sp>
          <p:nvSpPr>
            <p:cNvPr id="114" name="矩形: 圓角 113">
              <a:extLst>
                <a:ext uri="{FF2B5EF4-FFF2-40B4-BE49-F238E27FC236}">
                  <a16:creationId xmlns:a16="http://schemas.microsoft.com/office/drawing/2014/main" id="{3BFAB0D9-F133-495B-9832-60BCA1F72AEC}"/>
                </a:ext>
              </a:extLst>
            </p:cNvPr>
            <p:cNvSpPr/>
            <p:nvPr/>
          </p:nvSpPr>
          <p:spPr bwMode="auto">
            <a:xfrm>
              <a:off x="4176164" y="4243300"/>
              <a:ext cx="1190791" cy="252498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64FD0EC9-9561-4798-A673-874ABC04A82A}"/>
              </a:ext>
            </a:extLst>
          </p:cNvPr>
          <p:cNvCxnSpPr>
            <a:cxnSpLocks/>
          </p:cNvCxnSpPr>
          <p:nvPr/>
        </p:nvCxnSpPr>
        <p:spPr bwMode="auto">
          <a:xfrm>
            <a:off x="7368999" y="6949245"/>
            <a:ext cx="177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51F96324-96A1-4B6D-B12E-68A1D1B46FB9}"/>
              </a:ext>
            </a:extLst>
          </p:cNvPr>
          <p:cNvGrpSpPr/>
          <p:nvPr/>
        </p:nvGrpSpPr>
        <p:grpSpPr>
          <a:xfrm>
            <a:off x="6776448" y="2641679"/>
            <a:ext cx="2189217" cy="3606625"/>
            <a:chOff x="6864172" y="2728542"/>
            <a:chExt cx="2189217" cy="3606625"/>
          </a:xfrm>
        </p:grpSpPr>
        <p:grpSp>
          <p:nvGrpSpPr>
            <p:cNvPr id="153" name="群組 152">
              <a:extLst>
                <a:ext uri="{FF2B5EF4-FFF2-40B4-BE49-F238E27FC236}">
                  <a16:creationId xmlns:a16="http://schemas.microsoft.com/office/drawing/2014/main" id="{06111DF7-FED1-4E50-95BE-4311DCD560B3}"/>
                </a:ext>
              </a:extLst>
            </p:cNvPr>
            <p:cNvGrpSpPr/>
            <p:nvPr/>
          </p:nvGrpSpPr>
          <p:grpSpPr>
            <a:xfrm>
              <a:off x="6864172" y="2846909"/>
              <a:ext cx="2189217" cy="3430885"/>
              <a:chOff x="7225355" y="3119438"/>
              <a:chExt cx="2189217" cy="3430885"/>
            </a:xfrm>
          </p:grpSpPr>
          <p:pic>
            <p:nvPicPr>
              <p:cNvPr id="122" name="圖片 121">
                <a:extLst>
                  <a:ext uri="{FF2B5EF4-FFF2-40B4-BE49-F238E27FC236}">
                    <a16:creationId xmlns:a16="http://schemas.microsoft.com/office/drawing/2014/main" id="{2EABD77C-0287-4C03-9B77-60583C5836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8504" y="3119438"/>
                <a:ext cx="917153" cy="3041632"/>
              </a:xfrm>
              <a:prstGeom prst="rect">
                <a:avLst/>
              </a:prstGeom>
            </p:spPr>
          </p:pic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2BE4CEA-50A7-4272-B2E8-1FFF02FB88CD}"/>
                  </a:ext>
                </a:extLst>
              </p:cNvPr>
              <p:cNvSpPr txBox="1"/>
              <p:nvPr/>
            </p:nvSpPr>
            <p:spPr>
              <a:xfrm>
                <a:off x="7225355" y="6304102"/>
                <a:ext cx="112693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RAS_Client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A71ACC7E-F408-49B5-AD9A-9EFF0C69F030}"/>
                  </a:ext>
                </a:extLst>
              </p:cNvPr>
              <p:cNvSpPr txBox="1"/>
              <p:nvPr/>
            </p:nvSpPr>
            <p:spPr>
              <a:xfrm>
                <a:off x="8287637" y="6304102"/>
                <a:ext cx="112693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0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RAS_Server</a:t>
                </a:r>
                <a:endPara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grpSp>
            <p:nvGrpSpPr>
              <p:cNvPr id="143" name="群組 142">
                <a:extLst>
                  <a:ext uri="{FF2B5EF4-FFF2-40B4-BE49-F238E27FC236}">
                    <a16:creationId xmlns:a16="http://schemas.microsoft.com/office/drawing/2014/main" id="{B56B9DB8-86F5-4635-A683-B614C26D6BCA}"/>
                  </a:ext>
                </a:extLst>
              </p:cNvPr>
              <p:cNvGrpSpPr/>
              <p:nvPr/>
            </p:nvGrpSpPr>
            <p:grpSpPr>
              <a:xfrm>
                <a:off x="7890481" y="4478181"/>
                <a:ext cx="177729" cy="1829418"/>
                <a:chOff x="7890481" y="4478181"/>
                <a:chExt cx="177729" cy="1829418"/>
              </a:xfrm>
            </p:grpSpPr>
            <p:cxnSp>
              <p:nvCxnSpPr>
                <p:cNvPr id="126" name="直線接點 125">
                  <a:extLst>
                    <a:ext uri="{FF2B5EF4-FFF2-40B4-BE49-F238E27FC236}">
                      <a16:creationId xmlns:a16="http://schemas.microsoft.com/office/drawing/2014/main" id="{1F582276-5FC6-49F6-A6EB-F2811B4CAD3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4478181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7" name="直線接點 126">
                  <a:extLst>
                    <a:ext uri="{FF2B5EF4-FFF2-40B4-BE49-F238E27FC236}">
                      <a16:creationId xmlns:a16="http://schemas.microsoft.com/office/drawing/2014/main" id="{AB81E3B8-66B1-4371-BD16-941E2552AC1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4635886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8" name="直線接點 127">
                  <a:extLst>
                    <a:ext uri="{FF2B5EF4-FFF2-40B4-BE49-F238E27FC236}">
                      <a16:creationId xmlns:a16="http://schemas.microsoft.com/office/drawing/2014/main" id="{5FB4AFD4-1492-45A2-BDD1-F9B595EF420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4780205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9" name="直線接點 128">
                  <a:extLst>
                    <a:ext uri="{FF2B5EF4-FFF2-40B4-BE49-F238E27FC236}">
                      <a16:creationId xmlns:a16="http://schemas.microsoft.com/office/drawing/2014/main" id="{F4ED4557-7AD8-47BA-8808-A3F07F0E3B0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4923711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0" name="直線接點 129">
                  <a:extLst>
                    <a:ext uri="{FF2B5EF4-FFF2-40B4-BE49-F238E27FC236}">
                      <a16:creationId xmlns:a16="http://schemas.microsoft.com/office/drawing/2014/main" id="{A2D51ECC-3451-45C1-A2D1-4E18C7CE226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5209259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1" name="直線接點 130">
                  <a:extLst>
                    <a:ext uri="{FF2B5EF4-FFF2-40B4-BE49-F238E27FC236}">
                      <a16:creationId xmlns:a16="http://schemas.microsoft.com/office/drawing/2014/main" id="{7245DFF5-6B1C-4195-84DE-466767D25AC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5360349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2" name="直線接點 131">
                  <a:extLst>
                    <a:ext uri="{FF2B5EF4-FFF2-40B4-BE49-F238E27FC236}">
                      <a16:creationId xmlns:a16="http://schemas.microsoft.com/office/drawing/2014/main" id="{6C02A53A-CBFA-42EB-953F-29445ED1FB6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5503224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3" name="直線接點 132">
                  <a:extLst>
                    <a:ext uri="{FF2B5EF4-FFF2-40B4-BE49-F238E27FC236}">
                      <a16:creationId xmlns:a16="http://schemas.microsoft.com/office/drawing/2014/main" id="{5FDBD9C6-4C7F-461A-8E61-FA6919ED5F2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5788974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4" name="直線接點 133">
                  <a:extLst>
                    <a:ext uri="{FF2B5EF4-FFF2-40B4-BE49-F238E27FC236}">
                      <a16:creationId xmlns:a16="http://schemas.microsoft.com/office/drawing/2014/main" id="{7C3E5D5B-1318-4248-87F7-3A1704FD92B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5919440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5" name="直線接點 134">
                  <a:extLst>
                    <a:ext uri="{FF2B5EF4-FFF2-40B4-BE49-F238E27FC236}">
                      <a16:creationId xmlns:a16="http://schemas.microsoft.com/office/drawing/2014/main" id="{23956342-F328-4B45-88BB-9EF2614CB38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890481" y="6067077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6" name="直線接點 135">
                  <a:extLst>
                    <a:ext uri="{FF2B5EF4-FFF2-40B4-BE49-F238E27FC236}">
                      <a16:creationId xmlns:a16="http://schemas.microsoft.com/office/drawing/2014/main" id="{1A0843DD-ED7C-4A64-890E-BFF4207B0A4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890482" y="4478181"/>
                  <a:ext cx="1" cy="1588896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2" name="直線接點 151">
                  <a:extLst>
                    <a:ext uri="{FF2B5EF4-FFF2-40B4-BE49-F238E27FC236}">
                      <a16:creationId xmlns:a16="http://schemas.microsoft.com/office/drawing/2014/main" id="{CB7C7259-306D-4E4F-933A-412DA2778DB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890481" y="5306784"/>
                  <a:ext cx="0" cy="1000815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51" name="群組 150">
                <a:extLst>
                  <a:ext uri="{FF2B5EF4-FFF2-40B4-BE49-F238E27FC236}">
                    <a16:creationId xmlns:a16="http://schemas.microsoft.com/office/drawing/2014/main" id="{625125D8-8A95-43EF-8907-BE7E9A805F28}"/>
                  </a:ext>
                </a:extLst>
              </p:cNvPr>
              <p:cNvGrpSpPr/>
              <p:nvPr/>
            </p:nvGrpSpPr>
            <p:grpSpPr>
              <a:xfrm>
                <a:off x="8682564" y="5066384"/>
                <a:ext cx="315315" cy="1237718"/>
                <a:chOff x="8682564" y="5066384"/>
                <a:chExt cx="315315" cy="1237718"/>
              </a:xfrm>
            </p:grpSpPr>
            <p:cxnSp>
              <p:nvCxnSpPr>
                <p:cNvPr id="144" name="直線接點 143">
                  <a:extLst>
                    <a:ext uri="{FF2B5EF4-FFF2-40B4-BE49-F238E27FC236}">
                      <a16:creationId xmlns:a16="http://schemas.microsoft.com/office/drawing/2014/main" id="{DECBC29D-ACAD-41A0-A611-D0576E295CD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820150" y="5066384"/>
                  <a:ext cx="17772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5" name="直線接點 144">
                  <a:extLst>
                    <a:ext uri="{FF2B5EF4-FFF2-40B4-BE49-F238E27FC236}">
                      <a16:creationId xmlns:a16="http://schemas.microsoft.com/office/drawing/2014/main" id="{9556B048-9CA2-48ED-B8A6-3FBC9D4A197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682564" y="5665293"/>
                  <a:ext cx="313093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7" name="直線接點 146">
                  <a:extLst>
                    <a:ext uri="{FF2B5EF4-FFF2-40B4-BE49-F238E27FC236}">
                      <a16:creationId xmlns:a16="http://schemas.microsoft.com/office/drawing/2014/main" id="{1345A329-4D68-4D8C-9897-541A1C0C220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995657" y="5066384"/>
                  <a:ext cx="0" cy="59890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0" name="直線接點 149">
                  <a:extLst>
                    <a:ext uri="{FF2B5EF4-FFF2-40B4-BE49-F238E27FC236}">
                      <a16:creationId xmlns:a16="http://schemas.microsoft.com/office/drawing/2014/main" id="{5B88F0A5-F9EA-490E-A82A-40741AD76E2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995657" y="5389580"/>
                  <a:ext cx="0" cy="91452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</p:cxnSp>
          </p:grpSp>
        </p:grpSp>
        <p:sp>
          <p:nvSpPr>
            <p:cNvPr id="157" name="矩形: 圓角 156">
              <a:extLst>
                <a:ext uri="{FF2B5EF4-FFF2-40B4-BE49-F238E27FC236}">
                  <a16:creationId xmlns:a16="http://schemas.microsoft.com/office/drawing/2014/main" id="{8424FF00-2AD2-4F94-843F-75E86336999C}"/>
                </a:ext>
              </a:extLst>
            </p:cNvPr>
            <p:cNvSpPr/>
            <p:nvPr/>
          </p:nvSpPr>
          <p:spPr bwMode="auto">
            <a:xfrm>
              <a:off x="7163944" y="2728542"/>
              <a:ext cx="1889437" cy="3606625"/>
            </a:xfrm>
            <a:prstGeom prst="roundRect">
              <a:avLst>
                <a:gd name="adj" fmla="val 6044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0A02ADEA-D8C5-4D08-9A72-FA6940EFFA67}"/>
              </a:ext>
            </a:extLst>
          </p:cNvPr>
          <p:cNvCxnSpPr>
            <a:cxnSpLocks/>
            <a:endCxn id="114" idx="1"/>
          </p:cNvCxnSpPr>
          <p:nvPr/>
        </p:nvCxnSpPr>
        <p:spPr bwMode="auto">
          <a:xfrm>
            <a:off x="2843934" y="4444976"/>
            <a:ext cx="8367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1300C060-00A2-45B7-A566-825669E7019A}"/>
              </a:ext>
            </a:extLst>
          </p:cNvPr>
          <p:cNvGrpSpPr/>
          <p:nvPr/>
        </p:nvGrpSpPr>
        <p:grpSpPr>
          <a:xfrm>
            <a:off x="3953631" y="4671753"/>
            <a:ext cx="2441230" cy="1731375"/>
            <a:chOff x="3953631" y="4671753"/>
            <a:chExt cx="2441230" cy="1731375"/>
          </a:xfrm>
        </p:grpSpPr>
        <p:pic>
          <p:nvPicPr>
            <p:cNvPr id="117" name="圖片 116">
              <a:extLst>
                <a:ext uri="{FF2B5EF4-FFF2-40B4-BE49-F238E27FC236}">
                  <a16:creationId xmlns:a16="http://schemas.microsoft.com/office/drawing/2014/main" id="{548A4C4F-73F4-4B83-9A3B-87822B1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23017" y="4716968"/>
              <a:ext cx="1571844" cy="1686160"/>
            </a:xfrm>
            <a:prstGeom prst="rect">
              <a:avLst/>
            </a:prstGeom>
          </p:spPr>
        </p:pic>
        <p:sp>
          <p:nvSpPr>
            <p:cNvPr id="170" name="矩形: 圓角 169">
              <a:extLst>
                <a:ext uri="{FF2B5EF4-FFF2-40B4-BE49-F238E27FC236}">
                  <a16:creationId xmlns:a16="http://schemas.microsoft.com/office/drawing/2014/main" id="{920B841E-05D1-4CC9-8577-7C6D11718045}"/>
                </a:ext>
              </a:extLst>
            </p:cNvPr>
            <p:cNvSpPr/>
            <p:nvPr/>
          </p:nvSpPr>
          <p:spPr bwMode="auto">
            <a:xfrm>
              <a:off x="4045423" y="4671753"/>
              <a:ext cx="2187806" cy="1686159"/>
            </a:xfrm>
            <a:prstGeom prst="roundRect">
              <a:avLst>
                <a:gd name="adj" fmla="val 88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67235AD4-F85A-4EEA-A500-8C8E547106D0}"/>
                </a:ext>
              </a:extLst>
            </p:cNvPr>
            <p:cNvSpPr txBox="1"/>
            <p:nvPr/>
          </p:nvSpPr>
          <p:spPr>
            <a:xfrm>
              <a:off x="4007437" y="4724382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Header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CD4903DB-99E3-49CD-BFC2-5C11A4692497}"/>
                </a:ext>
              </a:extLst>
            </p:cNvPr>
            <p:cNvSpPr txBox="1"/>
            <p:nvPr/>
          </p:nvSpPr>
          <p:spPr>
            <a:xfrm>
              <a:off x="3997143" y="4959516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舊版</a:t>
              </a:r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Plugin</a:t>
              </a:r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id="{433B6686-9A92-4FD5-82C7-3485A8798F4A}"/>
                </a:ext>
              </a:extLst>
            </p:cNvPr>
            <p:cNvSpPr txBox="1"/>
            <p:nvPr/>
          </p:nvSpPr>
          <p:spPr>
            <a:xfrm>
              <a:off x="3953631" y="5238535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QtNode</a:t>
              </a:r>
              <a:endPara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2E489EFC-51BB-44F2-B683-8C24C22E324C}"/>
                </a:ext>
              </a:extLst>
            </p:cNvPr>
            <p:cNvSpPr txBox="1"/>
            <p:nvPr/>
          </p:nvSpPr>
          <p:spPr>
            <a:xfrm>
              <a:off x="4060507" y="5526256"/>
              <a:ext cx="8362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Qt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表格類</a:t>
              </a:r>
              <a:endPara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DB413342-57B4-4892-AECB-799C670CEAD6}"/>
                </a:ext>
              </a:extLst>
            </p:cNvPr>
            <p:cNvSpPr txBox="1"/>
            <p:nvPr/>
          </p:nvSpPr>
          <p:spPr>
            <a:xfrm>
              <a:off x="3953631" y="5788592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資源檔</a:t>
              </a:r>
              <a:endPara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9B0D1852-E714-4182-8405-84C9F4BEAD9F}"/>
                </a:ext>
              </a:extLst>
            </p:cNvPr>
            <p:cNvSpPr txBox="1"/>
            <p:nvPr/>
          </p:nvSpPr>
          <p:spPr>
            <a:xfrm>
              <a:off x="3979286" y="6042057"/>
              <a:ext cx="9498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Source</a:t>
              </a:r>
              <a:r>
                <a:rPr lang="zh-TW" alt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81" name="接點: 肘形 180">
            <a:extLst>
              <a:ext uri="{FF2B5EF4-FFF2-40B4-BE49-F238E27FC236}">
                <a16:creationId xmlns:a16="http://schemas.microsoft.com/office/drawing/2014/main" id="{E1C1B14F-A5FD-4FBF-8BC8-BE8FEF310309}"/>
              </a:ext>
            </a:extLst>
          </p:cNvPr>
          <p:cNvCxnSpPr/>
          <p:nvPr/>
        </p:nvCxnSpPr>
        <p:spPr bwMode="auto">
          <a:xfrm flipV="1">
            <a:off x="5376333" y="5205737"/>
            <a:ext cx="1699887" cy="985194"/>
          </a:xfrm>
          <a:prstGeom prst="bentConnector3">
            <a:avLst>
              <a:gd name="adj1" fmla="val 6643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4" name="接點: 肘形 183">
            <a:extLst>
              <a:ext uri="{FF2B5EF4-FFF2-40B4-BE49-F238E27FC236}">
                <a16:creationId xmlns:a16="http://schemas.microsoft.com/office/drawing/2014/main" id="{932812D4-C5E4-4E28-91E7-096DE5ED47DF}"/>
              </a:ext>
            </a:extLst>
          </p:cNvPr>
          <p:cNvCxnSpPr>
            <a:cxnSpLocks/>
            <a:endCxn id="174" idx="1"/>
          </p:cNvCxnSpPr>
          <p:nvPr/>
        </p:nvCxnSpPr>
        <p:spPr bwMode="auto">
          <a:xfrm rot="16200000" flipH="1">
            <a:off x="3402624" y="4991484"/>
            <a:ext cx="1090770" cy="2249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6978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026157F-A7FD-48D4-A68E-B27E29E8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 bat </a:t>
            </a:r>
            <a:r>
              <a:rPr lang="zh-TW" altLang="en-US" dirty="0"/>
              <a:t>說明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E90FAD-3219-403E-8105-8DD8ACC80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56E3390-9E77-40CC-996C-DC08C7C8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4" y="1372103"/>
            <a:ext cx="3658111" cy="37152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361F98E-FB4A-4020-A987-8DE136B5C3A8}"/>
              </a:ext>
            </a:extLst>
          </p:cNvPr>
          <p:cNvSpPr txBox="1"/>
          <p:nvPr/>
        </p:nvSpPr>
        <p:spPr>
          <a:xfrm>
            <a:off x="533144" y="1052611"/>
            <a:ext cx="19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+mn-ea"/>
                <a:ea typeface="+mn-ea"/>
              </a:rPr>
              <a:t>RAS_Launcher.bat</a:t>
            </a:r>
            <a:endParaRPr lang="zh-TW" altLang="en-US" sz="1400" dirty="0">
              <a:latin typeface="+mn-ea"/>
              <a:ea typeface="+mn-ea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C552A53-A648-4C47-9873-489BD3F0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43" y="2145479"/>
            <a:ext cx="3753374" cy="36200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7012FF9-3538-44F4-A733-21EC0503CF30}"/>
              </a:ext>
            </a:extLst>
          </p:cNvPr>
          <p:cNvSpPr txBox="1"/>
          <p:nvPr/>
        </p:nvSpPr>
        <p:spPr>
          <a:xfrm>
            <a:off x="533143" y="1837702"/>
            <a:ext cx="1733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+mn-ea"/>
                <a:ea typeface="+mn-ea"/>
              </a:rPr>
              <a:t>RAS_Server.bat</a:t>
            </a:r>
            <a:endParaRPr lang="zh-TW" altLang="en-US" sz="1400" dirty="0">
              <a:latin typeface="+mn-ea"/>
              <a:ea typeface="+mn-ea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44D866F-8BCF-4B57-8D3B-F3A9A1AF4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43" y="2967323"/>
            <a:ext cx="3753374" cy="381053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5935DEB-FBC4-4C13-86E6-90BBC6545097}"/>
              </a:ext>
            </a:extLst>
          </p:cNvPr>
          <p:cNvSpPr txBox="1"/>
          <p:nvPr/>
        </p:nvSpPr>
        <p:spPr>
          <a:xfrm>
            <a:off x="533143" y="2659546"/>
            <a:ext cx="17017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+mn-ea"/>
                <a:ea typeface="+mn-ea"/>
              </a:rPr>
              <a:t>RAS_Client.bat</a:t>
            </a:r>
            <a:endParaRPr lang="zh-TW" altLang="en-US" sz="1400" dirty="0">
              <a:latin typeface="+mn-ea"/>
              <a:ea typeface="+mn-ea"/>
            </a:endParaRP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EF5CF759-C29F-4CA8-830B-94607E3A7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44973"/>
              </p:ext>
            </p:extLst>
          </p:nvPr>
        </p:nvGraphicFramePr>
        <p:xfrm>
          <a:off x="550206" y="3656153"/>
          <a:ext cx="8170588" cy="243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0190">
                  <a:extLst>
                    <a:ext uri="{9D8B030D-6E8A-4147-A177-3AD203B41FA5}">
                      <a16:colId xmlns:a16="http://schemas.microsoft.com/office/drawing/2014/main" val="344844822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816862317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723265671"/>
                    </a:ext>
                  </a:extLst>
                </a:gridCol>
                <a:gridCol w="3318931">
                  <a:extLst>
                    <a:ext uri="{9D8B030D-6E8A-4147-A177-3AD203B41FA5}">
                      <a16:colId xmlns:a16="http://schemas.microsoft.com/office/drawing/2014/main" val="1827428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功能說明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參數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參數說明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77990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-r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執行方式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同時執行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Server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5839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server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只執行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Server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1209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只執行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34237"/>
                  </a:ext>
                </a:extLst>
              </a:tr>
              <a:tr h="1524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-d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是否啟動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視窗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啟動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視窗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小黑窗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52425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不啟動，但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資訊自動存入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487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nortss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不啟動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RCL_RTX.rtss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5491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initcmd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切換成透過通訊啟動程式模式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30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86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277DDC7-A8EF-44B4-BF9D-A60110E9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3D</a:t>
            </a:r>
            <a:r>
              <a:rPr lang="zh-TW" altLang="en-US" dirty="0"/>
              <a:t>顯示介面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9A374-5497-42B5-8312-9603BE5B3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98E83F8-7FE7-4230-A811-4269817B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206500"/>
            <a:ext cx="8581996" cy="4827372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A93D7AF0-CEE9-4CAD-88B2-1743A7A02430}"/>
              </a:ext>
            </a:extLst>
          </p:cNvPr>
          <p:cNvSpPr/>
          <p:nvPr/>
        </p:nvSpPr>
        <p:spPr bwMode="auto">
          <a:xfrm>
            <a:off x="678180" y="1264920"/>
            <a:ext cx="5097780" cy="467868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1BF48B5-B988-4943-A3BA-A7B0349715F7}"/>
              </a:ext>
            </a:extLst>
          </p:cNvPr>
          <p:cNvSpPr txBox="1"/>
          <p:nvPr/>
        </p:nvSpPr>
        <p:spPr>
          <a:xfrm>
            <a:off x="822960" y="5651500"/>
            <a:ext cx="1212191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3D Simulation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64095D5-F641-450C-B6BC-46D54CE50F6A}"/>
              </a:ext>
            </a:extLst>
          </p:cNvPr>
          <p:cNvSpPr/>
          <p:nvPr/>
        </p:nvSpPr>
        <p:spPr bwMode="auto">
          <a:xfrm>
            <a:off x="5859780" y="1280846"/>
            <a:ext cx="1470660" cy="467868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99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482472B-C56D-463F-934D-865A4F8E793C}"/>
              </a:ext>
            </a:extLst>
          </p:cNvPr>
          <p:cNvSpPr/>
          <p:nvPr/>
        </p:nvSpPr>
        <p:spPr bwMode="auto">
          <a:xfrm>
            <a:off x="7414260" y="1280846"/>
            <a:ext cx="1434828" cy="467868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37D8239-08CC-4435-859B-A6FBE0D2BF59}"/>
              </a:ext>
            </a:extLst>
          </p:cNvPr>
          <p:cNvSpPr txBox="1"/>
          <p:nvPr/>
        </p:nvSpPr>
        <p:spPr>
          <a:xfrm>
            <a:off x="5902960" y="987921"/>
            <a:ext cx="559769" cy="276999"/>
          </a:xfrm>
          <a:prstGeom prst="rect">
            <a:avLst/>
          </a:prstGeom>
          <a:solidFill>
            <a:srgbClr val="FF99CC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State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5AD4B9-2793-46C5-97FD-C815CB3210F5}"/>
              </a:ext>
            </a:extLst>
          </p:cNvPr>
          <p:cNvSpPr txBox="1"/>
          <p:nvPr/>
        </p:nvSpPr>
        <p:spPr>
          <a:xfrm>
            <a:off x="7457440" y="1003847"/>
            <a:ext cx="1186543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Control Panel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920A1DB-7B17-43A3-8E0D-6EF240C5BD74}"/>
              </a:ext>
            </a:extLst>
          </p:cNvPr>
          <p:cNvSpPr/>
          <p:nvPr/>
        </p:nvSpPr>
        <p:spPr bwMode="auto">
          <a:xfrm>
            <a:off x="294912" y="1206500"/>
            <a:ext cx="299448" cy="158242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00B2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C656407-4101-479C-AC85-AF8C8F264969}"/>
              </a:ext>
            </a:extLst>
          </p:cNvPr>
          <p:cNvSpPr txBox="1"/>
          <p:nvPr/>
        </p:nvSpPr>
        <p:spPr>
          <a:xfrm>
            <a:off x="76691" y="2781300"/>
            <a:ext cx="587020" cy="276999"/>
          </a:xfrm>
          <a:prstGeom prst="rect">
            <a:avLst/>
          </a:prstGeom>
          <a:solidFill>
            <a:srgbClr val="00B2B3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Mode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8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696571-C883-4A4B-86EF-87095D31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教導與模型載入介面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04FCE9-06C9-474A-8B16-F8B32D649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09B26CE-7581-4F9E-B7A5-D447E547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207279"/>
            <a:ext cx="8581996" cy="4827373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FB836414-A4D6-4264-B6BE-BA5DA2491311}"/>
              </a:ext>
            </a:extLst>
          </p:cNvPr>
          <p:cNvSpPr/>
          <p:nvPr/>
        </p:nvSpPr>
        <p:spPr bwMode="auto">
          <a:xfrm>
            <a:off x="7252306" y="1447800"/>
            <a:ext cx="1236374" cy="96012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5714FCD-FDCB-405D-AAB7-5B9621E187AA}"/>
              </a:ext>
            </a:extLst>
          </p:cNvPr>
          <p:cNvSpPr txBox="1"/>
          <p:nvPr/>
        </p:nvSpPr>
        <p:spPr>
          <a:xfrm>
            <a:off x="7391236" y="2130921"/>
            <a:ext cx="849720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Teaching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D96C0DC-0B38-44E9-A3C0-8C7CA7221FF5}"/>
              </a:ext>
            </a:extLst>
          </p:cNvPr>
          <p:cNvSpPr/>
          <p:nvPr/>
        </p:nvSpPr>
        <p:spPr bwMode="auto">
          <a:xfrm>
            <a:off x="381000" y="2766060"/>
            <a:ext cx="213360" cy="66294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9966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F85F2C9-75D8-495D-8A72-30DC8654C52D}"/>
              </a:ext>
            </a:extLst>
          </p:cNvPr>
          <p:cNvSpPr txBox="1"/>
          <p:nvPr/>
        </p:nvSpPr>
        <p:spPr>
          <a:xfrm>
            <a:off x="594360" y="2765281"/>
            <a:ext cx="657552" cy="276999"/>
          </a:xfrm>
          <a:prstGeom prst="rect">
            <a:avLst/>
          </a:prstGeom>
          <a:solidFill>
            <a:srgbClr val="FF9966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Plugin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4556BCD-EFC8-420D-8BCD-5B5BA1AE1F67}"/>
              </a:ext>
            </a:extLst>
          </p:cNvPr>
          <p:cNvSpPr txBox="1"/>
          <p:nvPr/>
        </p:nvSpPr>
        <p:spPr>
          <a:xfrm>
            <a:off x="4614848" y="3343966"/>
            <a:ext cx="1265090" cy="276999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Shadow Robot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65AB2B8-EC45-466E-A073-714BB02E9FEB}"/>
              </a:ext>
            </a:extLst>
          </p:cNvPr>
          <p:cNvSpPr/>
          <p:nvPr/>
        </p:nvSpPr>
        <p:spPr bwMode="auto">
          <a:xfrm>
            <a:off x="8637270" y="3482465"/>
            <a:ext cx="213360" cy="66294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9966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865264-CB96-4527-BAFF-80416CB4ED24}"/>
              </a:ext>
            </a:extLst>
          </p:cNvPr>
          <p:cNvSpPr txBox="1"/>
          <p:nvPr/>
        </p:nvSpPr>
        <p:spPr>
          <a:xfrm>
            <a:off x="7979718" y="3481686"/>
            <a:ext cx="657552" cy="276999"/>
          </a:xfrm>
          <a:prstGeom prst="rect">
            <a:avLst/>
          </a:prstGeom>
          <a:solidFill>
            <a:srgbClr val="FF9966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Plugin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4511922-6E71-4CE2-A9A0-11D2DD2E1AA7}"/>
              </a:ext>
            </a:extLst>
          </p:cNvPr>
          <p:cNvSpPr/>
          <p:nvPr/>
        </p:nvSpPr>
        <p:spPr bwMode="auto">
          <a:xfrm>
            <a:off x="5743546" y="4797532"/>
            <a:ext cx="1647690" cy="1146068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00B2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5FCF2DB-6A12-4144-862A-4276CD31E77D}"/>
              </a:ext>
            </a:extLst>
          </p:cNvPr>
          <p:cNvSpPr txBox="1"/>
          <p:nvPr/>
        </p:nvSpPr>
        <p:spPr>
          <a:xfrm>
            <a:off x="5760854" y="4519754"/>
            <a:ext cx="1229824" cy="276999"/>
          </a:xfrm>
          <a:prstGeom prst="rect">
            <a:avLst/>
          </a:prstGeom>
          <a:solidFill>
            <a:srgbClr val="00B2B3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Object Setting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24C0409-9AD6-4E62-A79A-9EC5DCAD01CC}"/>
              </a:ext>
            </a:extLst>
          </p:cNvPr>
          <p:cNvSpPr txBox="1"/>
          <p:nvPr/>
        </p:nvSpPr>
        <p:spPr>
          <a:xfrm>
            <a:off x="1429055" y="1488130"/>
            <a:ext cx="1029897" cy="276999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STL Loader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2E8D584-E8F8-49C4-A228-C187D40276EF}"/>
              </a:ext>
            </a:extLst>
          </p:cNvPr>
          <p:cNvSpPr/>
          <p:nvPr/>
        </p:nvSpPr>
        <p:spPr bwMode="auto">
          <a:xfrm>
            <a:off x="1448131" y="1305512"/>
            <a:ext cx="506425" cy="182618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191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1CFB18FB-589F-41E1-A3A0-5F36572F9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206500"/>
            <a:ext cx="8581996" cy="4827373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93F38F3-4E95-4B4F-82A3-FC588EBF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程式撰寫介面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FEF914-D66C-4402-9036-AD64CDD61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EFB5E4E-D7C7-4F1B-98D1-620B96711531}"/>
              </a:ext>
            </a:extLst>
          </p:cNvPr>
          <p:cNvSpPr/>
          <p:nvPr/>
        </p:nvSpPr>
        <p:spPr bwMode="auto">
          <a:xfrm>
            <a:off x="2482186" y="1584960"/>
            <a:ext cx="3141374" cy="406654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12B3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39E1D65-869C-46BF-83E4-81FE97918D87}"/>
              </a:ext>
            </a:extLst>
          </p:cNvPr>
          <p:cNvSpPr/>
          <p:nvPr/>
        </p:nvSpPr>
        <p:spPr bwMode="auto">
          <a:xfrm>
            <a:off x="584806" y="1440180"/>
            <a:ext cx="1579274" cy="119634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DC3FAA-676A-4CD1-93A6-46E97216F417}"/>
              </a:ext>
            </a:extLst>
          </p:cNvPr>
          <p:cNvSpPr txBox="1"/>
          <p:nvPr/>
        </p:nvSpPr>
        <p:spPr>
          <a:xfrm>
            <a:off x="673770" y="2359521"/>
            <a:ext cx="1401346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Robot Language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461FA2B-C8E3-4C78-909E-39EDF801FF73}"/>
              </a:ext>
            </a:extLst>
          </p:cNvPr>
          <p:cNvSpPr txBox="1"/>
          <p:nvPr/>
        </p:nvSpPr>
        <p:spPr>
          <a:xfrm>
            <a:off x="2651527" y="5374501"/>
            <a:ext cx="1846980" cy="276999"/>
          </a:xfrm>
          <a:prstGeom prst="rect">
            <a:avLst/>
          </a:prstGeom>
          <a:solidFill>
            <a:srgbClr val="12B3C4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Robot Language (VPL)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80FDDD4-9E80-4AE2-AA32-81841EE2D5E3}"/>
              </a:ext>
            </a:extLst>
          </p:cNvPr>
          <p:cNvSpPr/>
          <p:nvPr/>
        </p:nvSpPr>
        <p:spPr bwMode="auto">
          <a:xfrm>
            <a:off x="567496" y="5318760"/>
            <a:ext cx="1649924" cy="653911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3EFE15-D99E-4405-893B-D4C74A9381AE}"/>
              </a:ext>
            </a:extLst>
          </p:cNvPr>
          <p:cNvSpPr txBox="1"/>
          <p:nvPr/>
        </p:nvSpPr>
        <p:spPr>
          <a:xfrm>
            <a:off x="567496" y="5041761"/>
            <a:ext cx="902811" cy="276999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Debugger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22F2A59-78EC-49CB-8E85-A92D8FDC5E8B}"/>
              </a:ext>
            </a:extLst>
          </p:cNvPr>
          <p:cNvSpPr/>
          <p:nvPr/>
        </p:nvSpPr>
        <p:spPr bwMode="auto">
          <a:xfrm>
            <a:off x="4869180" y="1206500"/>
            <a:ext cx="853440" cy="29464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AA2BDA5-1EA7-4E79-97A7-A223360AE277}"/>
              </a:ext>
            </a:extLst>
          </p:cNvPr>
          <p:cNvSpPr txBox="1"/>
          <p:nvPr/>
        </p:nvSpPr>
        <p:spPr>
          <a:xfrm>
            <a:off x="4869180" y="938321"/>
            <a:ext cx="15824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Running Operation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5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3BD7CA5-CA6B-417A-A39B-57C2D617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設定與</a:t>
            </a:r>
            <a:r>
              <a:rPr lang="en-US" altLang="zh-TW" dirty="0"/>
              <a:t>IO</a:t>
            </a:r>
            <a:r>
              <a:rPr lang="zh-TW" altLang="en-US" dirty="0"/>
              <a:t>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99867F-88FB-40F7-A5B6-23323DC72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D53A620-CC79-4A45-9460-91D413E88F34}"/>
              </a:ext>
            </a:extLst>
          </p:cNvPr>
          <p:cNvGrpSpPr/>
          <p:nvPr/>
        </p:nvGrpSpPr>
        <p:grpSpPr>
          <a:xfrm>
            <a:off x="323850" y="1206500"/>
            <a:ext cx="8581996" cy="4827373"/>
            <a:chOff x="323850" y="1206500"/>
            <a:chExt cx="8581996" cy="482737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6FBCD2B-0A6B-4665-B5E7-4EE36554E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850" y="1206500"/>
              <a:ext cx="8581996" cy="4827373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938DA06-60BD-4EE5-BF21-E3E8C017355E}"/>
                </a:ext>
              </a:extLst>
            </p:cNvPr>
            <p:cNvSpPr/>
            <p:nvPr/>
          </p:nvSpPr>
          <p:spPr bwMode="auto">
            <a:xfrm>
              <a:off x="1847850" y="3062288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7BC91E3-615F-43B5-B3BE-5F7C34451E6A}"/>
                </a:ext>
              </a:extLst>
            </p:cNvPr>
            <p:cNvSpPr/>
            <p:nvPr/>
          </p:nvSpPr>
          <p:spPr bwMode="auto">
            <a:xfrm>
              <a:off x="1847850" y="3287713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AE9FADD-1F40-4CD5-8AB3-4A9FEFE3EC83}"/>
                </a:ext>
              </a:extLst>
            </p:cNvPr>
            <p:cNvSpPr/>
            <p:nvPr/>
          </p:nvSpPr>
          <p:spPr bwMode="auto">
            <a:xfrm>
              <a:off x="1843087" y="3510757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4913277-2B34-4E1B-A11E-6846467E834E}"/>
                </a:ext>
              </a:extLst>
            </p:cNvPr>
            <p:cNvSpPr/>
            <p:nvPr/>
          </p:nvSpPr>
          <p:spPr bwMode="auto">
            <a:xfrm>
              <a:off x="1843087" y="3735389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4C4F22F-748E-4C9F-8C79-78217A31EB2F}"/>
                </a:ext>
              </a:extLst>
            </p:cNvPr>
            <p:cNvSpPr/>
            <p:nvPr/>
          </p:nvSpPr>
          <p:spPr bwMode="auto">
            <a:xfrm>
              <a:off x="1843087" y="4177221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AD097E-74D6-4904-A332-34A3C2FDE105}"/>
                </a:ext>
              </a:extLst>
            </p:cNvPr>
            <p:cNvSpPr/>
            <p:nvPr/>
          </p:nvSpPr>
          <p:spPr bwMode="auto">
            <a:xfrm>
              <a:off x="1843086" y="4400265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47B41AB-BC6B-4BCD-8CA0-CB2CFB9AD778}"/>
                </a:ext>
              </a:extLst>
            </p:cNvPr>
            <p:cNvSpPr/>
            <p:nvPr/>
          </p:nvSpPr>
          <p:spPr bwMode="auto">
            <a:xfrm>
              <a:off x="1843086" y="5289773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A4B6962-D549-4170-AF68-713FA1544C1C}"/>
                </a:ext>
              </a:extLst>
            </p:cNvPr>
            <p:cNvSpPr/>
            <p:nvPr/>
          </p:nvSpPr>
          <p:spPr bwMode="auto">
            <a:xfrm>
              <a:off x="1843086" y="5532197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7757B4B-5B48-47D2-A951-1A859172C123}"/>
                </a:ext>
              </a:extLst>
            </p:cNvPr>
            <p:cNvSpPr/>
            <p:nvPr/>
          </p:nvSpPr>
          <p:spPr bwMode="auto">
            <a:xfrm>
              <a:off x="1843086" y="2606935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0533FEA-3B16-405C-8B57-778F6C4C0C90}"/>
                </a:ext>
              </a:extLst>
            </p:cNvPr>
            <p:cNvSpPr/>
            <p:nvPr/>
          </p:nvSpPr>
          <p:spPr bwMode="auto">
            <a:xfrm>
              <a:off x="1843086" y="2505986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A941EFA-F7E0-4532-B555-0D7FEA52B428}"/>
                </a:ext>
              </a:extLst>
            </p:cNvPr>
            <p:cNvSpPr/>
            <p:nvPr/>
          </p:nvSpPr>
          <p:spPr bwMode="auto">
            <a:xfrm>
              <a:off x="1843086" y="2718457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1F77013-3A40-4609-A241-1FC4E68D93CB}"/>
                </a:ext>
              </a:extLst>
            </p:cNvPr>
            <p:cNvSpPr/>
            <p:nvPr/>
          </p:nvSpPr>
          <p:spPr bwMode="auto">
            <a:xfrm>
              <a:off x="1843086" y="1836998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577AE1-361A-446B-BF01-EFEAA2CD0661}"/>
                </a:ext>
              </a:extLst>
            </p:cNvPr>
            <p:cNvSpPr/>
            <p:nvPr/>
          </p:nvSpPr>
          <p:spPr bwMode="auto">
            <a:xfrm>
              <a:off x="1843086" y="1731380"/>
              <a:ext cx="257175" cy="87312"/>
            </a:xfrm>
            <a:prstGeom prst="rect">
              <a:avLst/>
            </a:prstGeom>
            <a:solidFill>
              <a:srgbClr val="606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672FFFC-3D07-4DA2-812A-4AB8F3F20E31}"/>
                </a:ext>
              </a:extLst>
            </p:cNvPr>
            <p:cNvSpPr/>
            <p:nvPr/>
          </p:nvSpPr>
          <p:spPr bwMode="auto">
            <a:xfrm>
              <a:off x="1843086" y="3173097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6744624-3F47-479C-9B82-F26B26E7F977}"/>
                </a:ext>
              </a:extLst>
            </p:cNvPr>
            <p:cNvSpPr/>
            <p:nvPr/>
          </p:nvSpPr>
          <p:spPr bwMode="auto">
            <a:xfrm>
              <a:off x="1843086" y="3389545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3C17F69-1A29-4363-B16C-0EC62B3835F9}"/>
                </a:ext>
              </a:extLst>
            </p:cNvPr>
            <p:cNvSpPr/>
            <p:nvPr/>
          </p:nvSpPr>
          <p:spPr bwMode="auto">
            <a:xfrm>
              <a:off x="1843085" y="3620186"/>
              <a:ext cx="319089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DF765B5-7EF8-42CE-8943-4FA5D4C64377}"/>
                </a:ext>
              </a:extLst>
            </p:cNvPr>
            <p:cNvSpPr/>
            <p:nvPr/>
          </p:nvSpPr>
          <p:spPr bwMode="auto">
            <a:xfrm>
              <a:off x="1843085" y="4067313"/>
              <a:ext cx="401640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272861C-ED84-4D75-84AA-59FB32058892}"/>
                </a:ext>
              </a:extLst>
            </p:cNvPr>
            <p:cNvSpPr/>
            <p:nvPr/>
          </p:nvSpPr>
          <p:spPr bwMode="auto">
            <a:xfrm>
              <a:off x="1843085" y="4516154"/>
              <a:ext cx="401640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54C9AD3-003D-4406-A4BB-F8D38C55F9B5}"/>
                </a:ext>
              </a:extLst>
            </p:cNvPr>
            <p:cNvSpPr/>
            <p:nvPr/>
          </p:nvSpPr>
          <p:spPr bwMode="auto">
            <a:xfrm>
              <a:off x="1843085" y="5181016"/>
              <a:ext cx="401640" cy="87312"/>
            </a:xfrm>
            <a:prstGeom prst="rect">
              <a:avLst/>
            </a:prstGeom>
            <a:solidFill>
              <a:srgbClr val="30303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71EFD9A-9AC5-4EEA-8586-AAA8BF918454}"/>
              </a:ext>
            </a:extLst>
          </p:cNvPr>
          <p:cNvSpPr/>
          <p:nvPr/>
        </p:nvSpPr>
        <p:spPr bwMode="auto">
          <a:xfrm>
            <a:off x="584806" y="1440180"/>
            <a:ext cx="2364134" cy="450342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BE2CB1A-4333-48F4-986D-16A3768DE4A9}"/>
              </a:ext>
            </a:extLst>
          </p:cNvPr>
          <p:cNvSpPr/>
          <p:nvPr/>
        </p:nvSpPr>
        <p:spPr bwMode="auto">
          <a:xfrm>
            <a:off x="3147060" y="1436085"/>
            <a:ext cx="2562254" cy="4503420"/>
          </a:xfrm>
          <a:prstGeom prst="roundRect">
            <a:avLst>
              <a:gd name="adj" fmla="val 2934"/>
            </a:avLst>
          </a:prstGeom>
          <a:noFill/>
          <a:ln w="28575" cap="flat" cmpd="sng" algn="ctr">
            <a:solidFill>
              <a:srgbClr val="FF99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A35F58F-BD2B-4C34-BB45-7A17B5FD73C5}"/>
              </a:ext>
            </a:extLst>
          </p:cNvPr>
          <p:cNvSpPr txBox="1"/>
          <p:nvPr/>
        </p:nvSpPr>
        <p:spPr>
          <a:xfrm>
            <a:off x="1199550" y="1154869"/>
            <a:ext cx="707245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Setting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5BAA7DB-660B-428C-A542-B5A4641C8B36}"/>
              </a:ext>
            </a:extLst>
          </p:cNvPr>
          <p:cNvSpPr txBox="1"/>
          <p:nvPr/>
        </p:nvSpPr>
        <p:spPr>
          <a:xfrm>
            <a:off x="3344017" y="1154869"/>
            <a:ext cx="391454" cy="276999"/>
          </a:xfrm>
          <a:prstGeom prst="rect">
            <a:avLst/>
          </a:prstGeom>
          <a:solidFill>
            <a:srgbClr val="FF99CC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chemeClr val="bg1"/>
                </a:solidFill>
              </a:rPr>
              <a:t>I/O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65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A18F6A6-2F62-459B-A0C2-03A031E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多國語言設定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C83DD8-E8FC-4824-AF22-4BA734FED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25D599D-D23A-4799-A997-1C1F294D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5" y="1910722"/>
            <a:ext cx="1295581" cy="26673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2EE4EC6-9FF1-4E5D-A720-6F4774DFD690}"/>
              </a:ext>
            </a:extLst>
          </p:cNvPr>
          <p:cNvSpPr txBox="1"/>
          <p:nvPr/>
        </p:nvSpPr>
        <p:spPr>
          <a:xfrm>
            <a:off x="610997" y="1615035"/>
            <a:ext cx="3858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+mn-ea"/>
                <a:ea typeface="+mn-ea"/>
              </a:rPr>
              <a:t>編輯</a:t>
            </a:r>
            <a:r>
              <a:rPr lang="en-US" altLang="zh-TW" sz="1400" dirty="0" err="1">
                <a:latin typeface="+mn-ea"/>
                <a:ea typeface="+mn-ea"/>
              </a:rPr>
              <a:t>RAS_translator.ts</a:t>
            </a:r>
            <a:r>
              <a:rPr lang="zh-TW" altLang="en-US" sz="1400" dirty="0">
                <a:latin typeface="+mn-ea"/>
                <a:ea typeface="+mn-ea"/>
              </a:rPr>
              <a:t>檔 </a:t>
            </a:r>
            <a:r>
              <a:rPr lang="en-US" altLang="zh-TW" sz="1400" dirty="0">
                <a:latin typeface="+mn-ea"/>
                <a:ea typeface="+mn-ea"/>
              </a:rPr>
              <a:t>(</a:t>
            </a:r>
            <a:r>
              <a:rPr lang="zh-TW" altLang="en-US" sz="1400" dirty="0">
                <a:latin typeface="+mn-ea"/>
                <a:ea typeface="+mn-ea"/>
              </a:rPr>
              <a:t>使用</a:t>
            </a:r>
            <a:r>
              <a:rPr lang="en-US" altLang="zh-TW" sz="1400" dirty="0">
                <a:latin typeface="+mn-ea"/>
                <a:ea typeface="+mn-ea"/>
              </a:rPr>
              <a:t>Qt Linguist)</a:t>
            </a:r>
            <a:endParaRPr lang="zh-TW" altLang="en-US" sz="1400" dirty="0">
              <a:latin typeface="+mn-ea"/>
              <a:ea typeface="+mn-ea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DF1182-CA36-4936-A8FA-69DF0134C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96" y="2662713"/>
            <a:ext cx="2707937" cy="362579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406DAA1-BA46-4049-97F3-35674413E1D1}"/>
              </a:ext>
            </a:extLst>
          </p:cNvPr>
          <p:cNvSpPr txBox="1"/>
          <p:nvPr/>
        </p:nvSpPr>
        <p:spPr>
          <a:xfrm>
            <a:off x="610996" y="2347401"/>
            <a:ext cx="1550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+mn-ea"/>
                <a:ea typeface="+mn-ea"/>
              </a:rPr>
              <a:t>翻譯文件內容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FE532B-D564-4EED-9E6C-50746AE12E92}"/>
              </a:ext>
            </a:extLst>
          </p:cNvPr>
          <p:cNvSpPr/>
          <p:nvPr/>
        </p:nvSpPr>
        <p:spPr bwMode="auto">
          <a:xfrm>
            <a:off x="1728853" y="5422291"/>
            <a:ext cx="1667933" cy="94552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17795B99-931E-40D2-A05E-48402D468833}"/>
              </a:ext>
            </a:extLst>
          </p:cNvPr>
          <p:cNvSpPr/>
          <p:nvPr/>
        </p:nvSpPr>
        <p:spPr bwMode="auto">
          <a:xfrm>
            <a:off x="2252505" y="2071364"/>
            <a:ext cx="287866" cy="405950"/>
          </a:xfrm>
          <a:prstGeom prst="downArrow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2B2BB00F-C667-45C0-AFDB-B3708D159354}"/>
              </a:ext>
            </a:extLst>
          </p:cNvPr>
          <p:cNvSpPr/>
          <p:nvPr/>
        </p:nvSpPr>
        <p:spPr bwMode="auto">
          <a:xfrm>
            <a:off x="3396786" y="4475611"/>
            <a:ext cx="481936" cy="307777"/>
          </a:xfrm>
          <a:prstGeom prst="rightArrow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E1B2F42-1B8E-47F1-9BAB-046D0228049F}"/>
              </a:ext>
            </a:extLst>
          </p:cNvPr>
          <p:cNvSpPr txBox="1"/>
          <p:nvPr/>
        </p:nvSpPr>
        <p:spPr>
          <a:xfrm>
            <a:off x="610997" y="1011027"/>
            <a:ext cx="7234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+mn-ea"/>
                <a:ea typeface="+mn-ea"/>
              </a:rPr>
              <a:t>cmd</a:t>
            </a:r>
            <a:r>
              <a:rPr lang="zh-TW" altLang="en-US" sz="1400" dirty="0">
                <a:latin typeface="+mn-ea"/>
                <a:ea typeface="+mn-ea"/>
              </a:rPr>
              <a:t>下使用</a:t>
            </a:r>
            <a:r>
              <a:rPr lang="en-US" altLang="zh-TW" sz="1400" dirty="0" err="1">
                <a:latin typeface="+mn-ea"/>
                <a:ea typeface="+mn-ea"/>
              </a:rPr>
              <a:t>lupdate</a:t>
            </a:r>
            <a:r>
              <a:rPr lang="zh-TW" altLang="en-US" sz="1400" dirty="0">
                <a:latin typeface="+mn-ea"/>
                <a:ea typeface="+mn-ea"/>
              </a:rPr>
              <a:t>生成</a:t>
            </a:r>
            <a:r>
              <a:rPr lang="en-US" altLang="zh-TW" sz="1400" dirty="0">
                <a:latin typeface="+mn-ea"/>
                <a:ea typeface="+mn-ea"/>
              </a:rPr>
              <a:t>.</a:t>
            </a:r>
            <a:r>
              <a:rPr lang="en-US" altLang="zh-TW" sz="1400" dirty="0" err="1">
                <a:latin typeface="+mn-ea"/>
                <a:ea typeface="+mn-ea"/>
              </a:rPr>
              <a:t>ts</a:t>
            </a:r>
            <a:r>
              <a:rPr lang="zh-TW" altLang="en-US" sz="1400" dirty="0">
                <a:latin typeface="+mn-ea"/>
                <a:ea typeface="+mn-ea"/>
              </a:rPr>
              <a:t>翻譯檔 </a:t>
            </a:r>
            <a:r>
              <a:rPr lang="en-US" altLang="zh-TW" sz="1400" dirty="0">
                <a:latin typeface="+mn-ea"/>
                <a:ea typeface="+mn-ea"/>
              </a:rPr>
              <a:t>(</a:t>
            </a:r>
            <a:r>
              <a:rPr lang="zh-TW" altLang="en-US" sz="1400" dirty="0">
                <a:latin typeface="+mn-ea"/>
                <a:ea typeface="+mn-ea"/>
              </a:rPr>
              <a:t>若翻譯內容沒有更新，則不必再執行生成一次</a:t>
            </a:r>
            <a:r>
              <a:rPr lang="en-US" altLang="zh-TW" sz="1400" dirty="0">
                <a:latin typeface="+mn-ea"/>
                <a:ea typeface="+mn-ea"/>
              </a:rPr>
              <a:t>.</a:t>
            </a:r>
            <a:r>
              <a:rPr lang="en-US" altLang="zh-TW" sz="1400" dirty="0" err="1">
                <a:latin typeface="+mn-ea"/>
                <a:ea typeface="+mn-ea"/>
              </a:rPr>
              <a:t>ts</a:t>
            </a:r>
            <a:r>
              <a:rPr lang="zh-TW" altLang="en-US" sz="1400" dirty="0">
                <a:latin typeface="+mn-ea"/>
                <a:ea typeface="+mn-ea"/>
              </a:rPr>
              <a:t>檔</a:t>
            </a:r>
            <a:r>
              <a:rPr lang="en-US" altLang="zh-TW" sz="1400" dirty="0">
                <a:latin typeface="+mn-ea"/>
                <a:ea typeface="+mn-ea"/>
              </a:rPr>
              <a:t>)</a:t>
            </a: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1D98C4E-0683-4D78-B941-E055CA21280D}"/>
              </a:ext>
            </a:extLst>
          </p:cNvPr>
          <p:cNvSpPr txBox="1"/>
          <p:nvPr/>
        </p:nvSpPr>
        <p:spPr>
          <a:xfrm>
            <a:off x="3878722" y="3719706"/>
            <a:ext cx="1513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+mn-ea"/>
                <a:ea typeface="+mn-ea"/>
              </a:rPr>
              <a:t>釋出成</a:t>
            </a:r>
            <a:r>
              <a:rPr lang="en-US" altLang="zh-TW" sz="1400" dirty="0">
                <a:latin typeface="+mn-ea"/>
                <a:ea typeface="+mn-ea"/>
              </a:rPr>
              <a:t>.</a:t>
            </a:r>
            <a:r>
              <a:rPr lang="en-US" altLang="zh-TW" sz="1400" dirty="0" err="1">
                <a:latin typeface="+mn-ea"/>
                <a:ea typeface="+mn-ea"/>
              </a:rPr>
              <a:t>qm</a:t>
            </a:r>
            <a:r>
              <a:rPr lang="zh-TW" altLang="en-US" sz="1400" dirty="0">
                <a:latin typeface="+mn-ea"/>
                <a:ea typeface="+mn-ea"/>
              </a:rPr>
              <a:t>檔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7DBA76E-EADC-495E-AC87-A3C43FE2A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798" y="4101759"/>
            <a:ext cx="1582448" cy="2055703"/>
          </a:xfrm>
          <a:prstGeom prst="rect">
            <a:avLst/>
          </a:prstGeom>
        </p:spPr>
      </p:pic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CBD0CFB5-8F0D-4F7C-8691-EB24946ED142}"/>
              </a:ext>
            </a:extLst>
          </p:cNvPr>
          <p:cNvSpPr/>
          <p:nvPr/>
        </p:nvSpPr>
        <p:spPr bwMode="auto">
          <a:xfrm>
            <a:off x="5392278" y="3385447"/>
            <a:ext cx="481936" cy="307777"/>
          </a:xfrm>
          <a:prstGeom prst="rightArrow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B6C78E7F-D8B7-41F7-8791-EE8C1A360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067" y="3082696"/>
            <a:ext cx="2095792" cy="78115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251604AB-A4EB-4BCB-BDE7-2755A97B55A9}"/>
              </a:ext>
            </a:extLst>
          </p:cNvPr>
          <p:cNvSpPr txBox="1"/>
          <p:nvPr/>
        </p:nvSpPr>
        <p:spPr>
          <a:xfrm>
            <a:off x="5208255" y="2690904"/>
            <a:ext cx="37480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+mn-ea"/>
                <a:ea typeface="+mn-ea"/>
              </a:rPr>
              <a:t>設定</a:t>
            </a:r>
            <a:r>
              <a:rPr lang="en-US" altLang="zh-TW" sz="1400" dirty="0">
                <a:latin typeface="+mn-ea"/>
                <a:ea typeface="+mn-ea"/>
              </a:rPr>
              <a:t>Interface.ini</a:t>
            </a:r>
            <a:r>
              <a:rPr lang="zh-TW" altLang="en-US" sz="1400" dirty="0">
                <a:latin typeface="+mn-ea"/>
                <a:ea typeface="+mn-ea"/>
              </a:rPr>
              <a:t>中</a:t>
            </a:r>
            <a:r>
              <a:rPr lang="en-US" altLang="zh-TW" sz="1400" dirty="0">
                <a:latin typeface="+mn-ea"/>
                <a:ea typeface="+mn-ea"/>
              </a:rPr>
              <a:t>Translate</a:t>
            </a:r>
            <a:r>
              <a:rPr lang="zh-TW" altLang="en-US" sz="1400" dirty="0">
                <a:latin typeface="+mn-ea"/>
                <a:ea typeface="+mn-ea"/>
              </a:rPr>
              <a:t>值為該</a:t>
            </a:r>
            <a:r>
              <a:rPr lang="en-US" altLang="zh-TW" sz="1400" dirty="0" err="1">
                <a:latin typeface="+mn-ea"/>
                <a:ea typeface="+mn-ea"/>
              </a:rPr>
              <a:t>qm</a:t>
            </a:r>
            <a:r>
              <a:rPr lang="zh-TW" altLang="en-US" sz="1400" dirty="0">
                <a:latin typeface="+mn-ea"/>
                <a:ea typeface="+mn-ea"/>
              </a:rPr>
              <a:t>檔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60D58AD-76BA-46E3-844C-5D381271B6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996" y="1357473"/>
            <a:ext cx="8145012" cy="209579"/>
          </a:xfrm>
          <a:prstGeom prst="rect">
            <a:avLst/>
          </a:prstGeom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5792B56-E560-45AD-8557-4B18E07CB31E}"/>
              </a:ext>
            </a:extLst>
          </p:cNvPr>
          <p:cNvCxnSpPr>
            <a:cxnSpLocks/>
          </p:cNvCxnSpPr>
          <p:nvPr/>
        </p:nvCxnSpPr>
        <p:spPr bwMode="auto">
          <a:xfrm flipV="1">
            <a:off x="7730067" y="1615035"/>
            <a:ext cx="115731" cy="285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6AADCE3-2854-4527-A7AF-4A767D3A93E5}"/>
              </a:ext>
            </a:extLst>
          </p:cNvPr>
          <p:cNvSpPr txBox="1"/>
          <p:nvPr/>
        </p:nvSpPr>
        <p:spPr>
          <a:xfrm>
            <a:off x="4882772" y="1945773"/>
            <a:ext cx="4027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+mn-ea"/>
                <a:ea typeface="+mn-ea"/>
              </a:rPr>
              <a:t>加上</a:t>
            </a:r>
            <a:r>
              <a:rPr lang="en-US" altLang="zh-TW" sz="1400" dirty="0">
                <a:latin typeface="+mn-ea"/>
                <a:ea typeface="+mn-ea"/>
              </a:rPr>
              <a:t>-locations none</a:t>
            </a:r>
            <a:r>
              <a:rPr lang="zh-TW" altLang="en-US" sz="1400" dirty="0">
                <a:latin typeface="+mn-ea"/>
                <a:ea typeface="+mn-ea"/>
              </a:rPr>
              <a:t>，</a:t>
            </a:r>
            <a:r>
              <a:rPr lang="en-US" altLang="zh-TW" sz="1400" dirty="0">
                <a:latin typeface="+mn-ea"/>
                <a:ea typeface="+mn-ea"/>
              </a:rPr>
              <a:t>.</a:t>
            </a:r>
            <a:r>
              <a:rPr lang="en-US" altLang="zh-TW" sz="1400" dirty="0" err="1">
                <a:latin typeface="+mn-ea"/>
                <a:ea typeface="+mn-ea"/>
              </a:rPr>
              <a:t>ts</a:t>
            </a:r>
            <a:r>
              <a:rPr lang="zh-TW" altLang="en-US" sz="1400" dirty="0">
                <a:latin typeface="+mn-ea"/>
                <a:ea typeface="+mn-ea"/>
              </a:rPr>
              <a:t>檔才不會與原始碼連結</a:t>
            </a:r>
          </a:p>
        </p:txBody>
      </p:sp>
    </p:spTree>
    <p:extLst>
      <p:ext uri="{BB962C8B-B14F-4D97-AF65-F5344CB8AC3E}">
        <p14:creationId xmlns:p14="http://schemas.microsoft.com/office/powerpoint/2010/main" val="418560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D011A88-6770-41BE-BEC4-DAD33899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通訊格式說明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1EC89B-197D-45EA-B1C4-867A46728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151" name="內容版面配置區 2">
            <a:extLst>
              <a:ext uri="{FF2B5EF4-FFF2-40B4-BE49-F238E27FC236}">
                <a16:creationId xmlns:a16="http://schemas.microsoft.com/office/drawing/2014/main" id="{5AB94E20-3BBF-4678-83E7-E22FF7A0E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7" y="1111548"/>
            <a:ext cx="8839200" cy="28016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REQM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代表此封包為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Request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命令，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固定的封包開頭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RSPM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代表此封包為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Response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命令，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固定的封包開頭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指令碼定義，如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MOVJ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MOVL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GETJ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，分別為軸移動、直線移動和獲得角度值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unsigned int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型態，如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等代表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unsigned int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型態，如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等代表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ERRC: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錯誤碼定義，為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unsigned int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參數定義，為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double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型態，共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29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double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CRC32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CRC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校驗，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固定的封包結尾</a:t>
            </a:r>
          </a:p>
        </p:txBody>
      </p:sp>
      <p:grpSp>
        <p:nvGrpSpPr>
          <p:cNvPr id="210" name="群組 209">
            <a:extLst>
              <a:ext uri="{FF2B5EF4-FFF2-40B4-BE49-F238E27FC236}">
                <a16:creationId xmlns:a16="http://schemas.microsoft.com/office/drawing/2014/main" id="{FA90D34A-2C8E-466C-8468-F855A4AAABD6}"/>
              </a:ext>
            </a:extLst>
          </p:cNvPr>
          <p:cNvGrpSpPr/>
          <p:nvPr/>
        </p:nvGrpSpPr>
        <p:grpSpPr>
          <a:xfrm>
            <a:off x="141162" y="3623576"/>
            <a:ext cx="8929410" cy="2826139"/>
            <a:chOff x="2152534" y="3616032"/>
            <a:chExt cx="8929410" cy="2826139"/>
          </a:xfrm>
        </p:grpSpPr>
        <p:sp>
          <p:nvSpPr>
            <p:cNvPr id="211" name="矩形: 圓角 210">
              <a:extLst>
                <a:ext uri="{FF2B5EF4-FFF2-40B4-BE49-F238E27FC236}">
                  <a16:creationId xmlns:a16="http://schemas.microsoft.com/office/drawing/2014/main" id="{1B181D16-8917-4552-8847-547FDE9246CF}"/>
                </a:ext>
              </a:extLst>
            </p:cNvPr>
            <p:cNvSpPr/>
            <p:nvPr/>
          </p:nvSpPr>
          <p:spPr>
            <a:xfrm>
              <a:off x="2152534" y="4375851"/>
              <a:ext cx="1611745" cy="1052945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上位控制程式</a:t>
              </a:r>
              <a:endPara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Windows/Linux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12" name="矩形: 圓角 211">
              <a:extLst>
                <a:ext uri="{FF2B5EF4-FFF2-40B4-BE49-F238E27FC236}">
                  <a16:creationId xmlns:a16="http://schemas.microsoft.com/office/drawing/2014/main" id="{0ED45AC5-B9DF-4B65-8CCF-2F02CCAE4C40}"/>
                </a:ext>
              </a:extLst>
            </p:cNvPr>
            <p:cNvSpPr/>
            <p:nvPr/>
          </p:nvSpPr>
          <p:spPr>
            <a:xfrm>
              <a:off x="9588731" y="4375851"/>
              <a:ext cx="1493213" cy="1052945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RASeMIO</a:t>
              </a: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程式</a:t>
              </a:r>
              <a:endPara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Windows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213" name="直線單箭頭接點 212">
              <a:extLst>
                <a:ext uri="{FF2B5EF4-FFF2-40B4-BE49-F238E27FC236}">
                  <a16:creationId xmlns:a16="http://schemas.microsoft.com/office/drawing/2014/main" id="{AB4097CE-58FB-432A-A3B7-4A8317A92BA8}"/>
                </a:ext>
              </a:extLst>
            </p:cNvPr>
            <p:cNvCxnSpPr>
              <a:cxnSpLocks/>
            </p:cNvCxnSpPr>
            <p:nvPr/>
          </p:nvCxnSpPr>
          <p:spPr>
            <a:xfrm>
              <a:off x="3764279" y="4693921"/>
              <a:ext cx="5824452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4" name="直線單箭頭接點 213">
              <a:extLst>
                <a:ext uri="{FF2B5EF4-FFF2-40B4-BE49-F238E27FC236}">
                  <a16:creationId xmlns:a16="http://schemas.microsoft.com/office/drawing/2014/main" id="{82CE0AA2-B87B-4915-8E64-5F6B54634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4280" y="5084619"/>
              <a:ext cx="5824451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15" name="文字方塊 214">
              <a:extLst>
                <a:ext uri="{FF2B5EF4-FFF2-40B4-BE49-F238E27FC236}">
                  <a16:creationId xmlns:a16="http://schemas.microsoft.com/office/drawing/2014/main" id="{2A91E875-E291-45BD-9910-79B45E4C02FD}"/>
                </a:ext>
              </a:extLst>
            </p:cNvPr>
            <p:cNvSpPr txBox="1"/>
            <p:nvPr/>
          </p:nvSpPr>
          <p:spPr>
            <a:xfrm>
              <a:off x="3908903" y="4565808"/>
              <a:ext cx="14297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AFEFD2"/>
                  </a:highlight>
                  <a:uLnTx/>
                  <a:uFillTx/>
                  <a:latin typeface="Calibri" panose="020F0502020204030204"/>
                </a:rPr>
                <a:t>Request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AFEFD2"/>
                </a:highlight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16" name="文字方塊 215">
              <a:extLst>
                <a:ext uri="{FF2B5EF4-FFF2-40B4-BE49-F238E27FC236}">
                  <a16:creationId xmlns:a16="http://schemas.microsoft.com/office/drawing/2014/main" id="{C0CD63CC-198C-4D48-9B36-36EF520FEE74}"/>
                </a:ext>
              </a:extLst>
            </p:cNvPr>
            <p:cNvSpPr txBox="1"/>
            <p:nvPr/>
          </p:nvSpPr>
          <p:spPr>
            <a:xfrm>
              <a:off x="3877191" y="4901297"/>
              <a:ext cx="14297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BBE0E3"/>
                  </a:highlight>
                  <a:uLnTx/>
                  <a:uFillTx/>
                  <a:latin typeface="Calibri" panose="020F0502020204030204"/>
                </a:rPr>
                <a:t>Response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0E3"/>
                </a:highlight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217" name="群組 216">
              <a:extLst>
                <a:ext uri="{FF2B5EF4-FFF2-40B4-BE49-F238E27FC236}">
                  <a16:creationId xmlns:a16="http://schemas.microsoft.com/office/drawing/2014/main" id="{A5BEF275-A305-44DE-997B-D39CC9FC69B4}"/>
                </a:ext>
              </a:extLst>
            </p:cNvPr>
            <p:cNvGrpSpPr/>
            <p:nvPr/>
          </p:nvGrpSpPr>
          <p:grpSpPr>
            <a:xfrm>
              <a:off x="4242052" y="4197184"/>
              <a:ext cx="4907702" cy="369344"/>
              <a:chOff x="905933" y="3604539"/>
              <a:chExt cx="7066394" cy="494087"/>
            </a:xfrm>
            <a:noFill/>
          </p:grpSpPr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82A7A0BA-4C70-4EBE-B67C-212F568F8E82}"/>
                  </a:ext>
                </a:extLst>
              </p:cNvPr>
              <p:cNvSpPr/>
              <p:nvPr/>
            </p:nvSpPr>
            <p:spPr bwMode="auto">
              <a:xfrm>
                <a:off x="905933" y="3604539"/>
                <a:ext cx="1008000" cy="494071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REQM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68F14C7C-DAAE-405C-8001-05965AF596B3}"/>
                  </a:ext>
                </a:extLst>
              </p:cNvPr>
              <p:cNvSpPr/>
              <p:nvPr/>
            </p:nvSpPr>
            <p:spPr bwMode="auto">
              <a:xfrm>
                <a:off x="191393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C4468145-4C8E-4658-9BE9-6AE6579EAD4B}"/>
                  </a:ext>
                </a:extLst>
              </p:cNvPr>
              <p:cNvSpPr/>
              <p:nvPr/>
            </p:nvSpPr>
            <p:spPr bwMode="auto">
              <a:xfrm>
                <a:off x="292747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76A0C9FA-E15A-471B-8A96-BA070CF67884}"/>
                  </a:ext>
                </a:extLst>
              </p:cNvPr>
              <p:cNvSpPr/>
              <p:nvPr/>
            </p:nvSpPr>
            <p:spPr bwMode="auto">
              <a:xfrm>
                <a:off x="3941015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6BD5084E-0E9F-4562-BDED-D39C38A96144}"/>
                  </a:ext>
                </a:extLst>
              </p:cNvPr>
              <p:cNvSpPr/>
              <p:nvPr/>
            </p:nvSpPr>
            <p:spPr bwMode="auto">
              <a:xfrm>
                <a:off x="494884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EEE7DC96-4177-4B22-8577-0C1F51144EB2}"/>
                  </a:ext>
                </a:extLst>
              </p:cNvPr>
              <p:cNvSpPr/>
              <p:nvPr/>
            </p:nvSpPr>
            <p:spPr bwMode="auto">
              <a:xfrm>
                <a:off x="5956671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E1297D1F-D6DD-4330-B9E8-B67315F747B5}"/>
                  </a:ext>
                </a:extLst>
              </p:cNvPr>
              <p:cNvSpPr/>
              <p:nvPr/>
            </p:nvSpPr>
            <p:spPr bwMode="auto">
              <a:xfrm>
                <a:off x="6964327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18" name="群組 217">
              <a:extLst>
                <a:ext uri="{FF2B5EF4-FFF2-40B4-BE49-F238E27FC236}">
                  <a16:creationId xmlns:a16="http://schemas.microsoft.com/office/drawing/2014/main" id="{DD3F7BD9-A45A-4439-B347-33D60F589EE8}"/>
                </a:ext>
              </a:extLst>
            </p:cNvPr>
            <p:cNvGrpSpPr/>
            <p:nvPr/>
          </p:nvGrpSpPr>
          <p:grpSpPr>
            <a:xfrm>
              <a:off x="4242052" y="5218024"/>
              <a:ext cx="4907702" cy="369332"/>
              <a:chOff x="905933" y="3672502"/>
              <a:chExt cx="7066394" cy="494070"/>
            </a:xfrm>
            <a:noFill/>
          </p:grpSpPr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2105A86B-EC88-491F-AC83-2DC7408BFE49}"/>
                  </a:ext>
                </a:extLst>
              </p:cNvPr>
              <p:cNvSpPr/>
              <p:nvPr/>
            </p:nvSpPr>
            <p:spPr bwMode="auto">
              <a:xfrm>
                <a:off x="905933" y="3672502"/>
                <a:ext cx="1008000" cy="49407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RSPM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D53BA2B6-46E3-4E82-A41D-45D297ADFDFF}"/>
                  </a:ext>
                </a:extLst>
              </p:cNvPr>
              <p:cNvSpPr/>
              <p:nvPr/>
            </p:nvSpPr>
            <p:spPr bwMode="auto">
              <a:xfrm>
                <a:off x="1913933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58AACEC5-2AF2-43D5-ADDE-C91B3A38A99B}"/>
                  </a:ext>
                </a:extLst>
              </p:cNvPr>
              <p:cNvSpPr/>
              <p:nvPr/>
            </p:nvSpPr>
            <p:spPr bwMode="auto">
              <a:xfrm>
                <a:off x="2927474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1AC0763F-0D30-4D0E-BA11-058F1381716E}"/>
                  </a:ext>
                </a:extLst>
              </p:cNvPr>
              <p:cNvSpPr/>
              <p:nvPr/>
            </p:nvSpPr>
            <p:spPr bwMode="auto">
              <a:xfrm>
                <a:off x="3941015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24E7F22B-3EE3-4FA4-9342-8B5A70A112E4}"/>
                  </a:ext>
                </a:extLst>
              </p:cNvPr>
              <p:cNvSpPr/>
              <p:nvPr/>
            </p:nvSpPr>
            <p:spPr bwMode="auto">
              <a:xfrm>
                <a:off x="4948843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29005729-33B9-4A77-A0FD-AFCB63DE6124}"/>
                  </a:ext>
                </a:extLst>
              </p:cNvPr>
              <p:cNvSpPr/>
              <p:nvPr/>
            </p:nvSpPr>
            <p:spPr bwMode="auto">
              <a:xfrm>
                <a:off x="5956671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8CEB3019-CF7B-43FE-A1E8-C8864125FCF1}"/>
                  </a:ext>
                </a:extLst>
              </p:cNvPr>
              <p:cNvSpPr/>
              <p:nvPr/>
            </p:nvSpPr>
            <p:spPr bwMode="auto">
              <a:xfrm>
                <a:off x="6964327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219" name="右大括弧 218">
              <a:extLst>
                <a:ext uri="{FF2B5EF4-FFF2-40B4-BE49-F238E27FC236}">
                  <a16:creationId xmlns:a16="http://schemas.microsoft.com/office/drawing/2014/main" id="{4B88A7C5-DCA4-4D1F-88D0-F797951844E7}"/>
                </a:ext>
              </a:extLst>
            </p:cNvPr>
            <p:cNvSpPr/>
            <p:nvPr/>
          </p:nvSpPr>
          <p:spPr>
            <a:xfrm rot="5400000">
              <a:off x="6555788" y="3407023"/>
              <a:ext cx="280229" cy="4907704"/>
            </a:xfrm>
            <a:prstGeom prst="rightBrace">
              <a:avLst/>
            </a:prstGeom>
            <a:noFill/>
            <a:ln w="19050" cap="flat" cmpd="sng" algn="ctr">
              <a:solidFill>
                <a:srgbClr val="44546A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0" name="文字方塊 219">
              <a:extLst>
                <a:ext uri="{FF2B5EF4-FFF2-40B4-BE49-F238E27FC236}">
                  <a16:creationId xmlns:a16="http://schemas.microsoft.com/office/drawing/2014/main" id="{0E289306-1F41-4208-875F-ED702C5335B6}"/>
                </a:ext>
              </a:extLst>
            </p:cNvPr>
            <p:cNvSpPr txBox="1"/>
            <p:nvPr/>
          </p:nvSpPr>
          <p:spPr>
            <a:xfrm>
              <a:off x="3764279" y="6134394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1 TCP</a:t>
              </a: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 </a:t>
              </a: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Socket Package (256 bytes)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21" name="文字方塊 220">
              <a:extLst>
                <a:ext uri="{FF2B5EF4-FFF2-40B4-BE49-F238E27FC236}">
                  <a16:creationId xmlns:a16="http://schemas.microsoft.com/office/drawing/2014/main" id="{0EE64B9B-C334-4E46-813A-0B3F8CAA617F}"/>
                </a:ext>
              </a:extLst>
            </p:cNvPr>
            <p:cNvSpPr txBox="1"/>
            <p:nvPr/>
          </p:nvSpPr>
          <p:spPr>
            <a:xfrm>
              <a:off x="4242052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2" name="文字方塊 221">
              <a:extLst>
                <a:ext uri="{FF2B5EF4-FFF2-40B4-BE49-F238E27FC236}">
                  <a16:creationId xmlns:a16="http://schemas.microsoft.com/office/drawing/2014/main" id="{E4202315-ED7B-4543-BA7E-878D62E8F707}"/>
                </a:ext>
              </a:extLst>
            </p:cNvPr>
            <p:cNvSpPr txBox="1"/>
            <p:nvPr/>
          </p:nvSpPr>
          <p:spPr>
            <a:xfrm>
              <a:off x="4947266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3" name="文字方塊 222">
              <a:extLst>
                <a:ext uri="{FF2B5EF4-FFF2-40B4-BE49-F238E27FC236}">
                  <a16:creationId xmlns:a16="http://schemas.microsoft.com/office/drawing/2014/main" id="{FD1216A3-2E75-4C13-9A8A-B74C3118DA31}"/>
                </a:ext>
              </a:extLst>
            </p:cNvPr>
            <p:cNvSpPr txBox="1"/>
            <p:nvPr/>
          </p:nvSpPr>
          <p:spPr>
            <a:xfrm>
              <a:off x="5652480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4" name="文字方塊 223">
              <a:extLst>
                <a:ext uri="{FF2B5EF4-FFF2-40B4-BE49-F238E27FC236}">
                  <a16:creationId xmlns:a16="http://schemas.microsoft.com/office/drawing/2014/main" id="{2AC0E7CD-9558-4323-93F6-7CD2B48EB8A4}"/>
                </a:ext>
              </a:extLst>
            </p:cNvPr>
            <p:cNvSpPr txBox="1"/>
            <p:nvPr/>
          </p:nvSpPr>
          <p:spPr>
            <a:xfrm>
              <a:off x="6357694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5" name="文字方塊 224">
              <a:extLst>
                <a:ext uri="{FF2B5EF4-FFF2-40B4-BE49-F238E27FC236}">
                  <a16:creationId xmlns:a16="http://schemas.microsoft.com/office/drawing/2014/main" id="{C04C716A-9581-4F79-9E66-D943866834C5}"/>
                </a:ext>
              </a:extLst>
            </p:cNvPr>
            <p:cNvSpPr txBox="1"/>
            <p:nvPr/>
          </p:nvSpPr>
          <p:spPr>
            <a:xfrm>
              <a:off x="7062908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6" name="文字方塊 225">
              <a:extLst>
                <a:ext uri="{FF2B5EF4-FFF2-40B4-BE49-F238E27FC236}">
                  <a16:creationId xmlns:a16="http://schemas.microsoft.com/office/drawing/2014/main" id="{7187264F-210C-402C-8482-11B3467339C4}"/>
                </a:ext>
              </a:extLst>
            </p:cNvPr>
            <p:cNvSpPr txBox="1"/>
            <p:nvPr/>
          </p:nvSpPr>
          <p:spPr>
            <a:xfrm>
              <a:off x="7768122" y="3616032"/>
              <a:ext cx="652759" cy="523220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8*29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7" name="文字方塊 226">
              <a:extLst>
                <a:ext uri="{FF2B5EF4-FFF2-40B4-BE49-F238E27FC236}">
                  <a16:creationId xmlns:a16="http://schemas.microsoft.com/office/drawing/2014/main" id="{DD24B695-986D-4B3B-BE62-F949303AFF3E}"/>
                </a:ext>
              </a:extLst>
            </p:cNvPr>
            <p:cNvSpPr txBox="1"/>
            <p:nvPr/>
          </p:nvSpPr>
          <p:spPr>
            <a:xfrm>
              <a:off x="8473339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5309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CRC32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參考用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C++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</a:t>
            </a:r>
          </a:p>
          <a:p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CRC32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5946DB-9257-4A07-8EBF-5DB05E3F0903}"/>
              </a:ext>
            </a:extLst>
          </p:cNvPr>
          <p:cNvSpPr txBox="1"/>
          <p:nvPr/>
        </p:nvSpPr>
        <p:spPr>
          <a:xfrm>
            <a:off x="810683" y="1671128"/>
            <a:ext cx="641138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CRC32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pBuff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0xFFFFFFFF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size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^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0xEDB88320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pBuff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^=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0xEDB88320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~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0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GVER</a:t>
            </a:r>
          </a:p>
          <a:p>
            <a:pPr lvl="1"/>
            <a:r>
              <a:rPr lang="zh-TW" altLang="en-US" sz="2000" dirty="0"/>
              <a:t>取得版本編號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1C30E35-3560-47EF-9AE1-163E63D70422}"/>
              </a:ext>
            </a:extLst>
          </p:cNvPr>
          <p:cNvSpPr/>
          <p:nvPr/>
        </p:nvSpPr>
        <p:spPr>
          <a:xfrm>
            <a:off x="671948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上控程式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2B0F8B0C-9800-4003-A9CF-736D3554BCB1}"/>
              </a:ext>
            </a:extLst>
          </p:cNvPr>
          <p:cNvSpPr/>
          <p:nvPr/>
        </p:nvSpPr>
        <p:spPr>
          <a:xfrm>
            <a:off x="7335982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RASeMIO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AA622BBF-117D-49B1-A7FD-C5C679B3393C}"/>
              </a:ext>
            </a:extLst>
          </p:cNvPr>
          <p:cNvCxnSpPr>
            <a:cxnSpLocks/>
          </p:cNvCxnSpPr>
          <p:nvPr/>
        </p:nvCxnSpPr>
        <p:spPr>
          <a:xfrm>
            <a:off x="2022766" y="3622884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34927C2A-6CEE-49EB-84E5-086E8C053BD7}"/>
              </a:ext>
            </a:extLst>
          </p:cNvPr>
          <p:cNvGrpSpPr/>
          <p:nvPr/>
        </p:nvGrpSpPr>
        <p:grpSpPr>
          <a:xfrm>
            <a:off x="2225523" y="3767956"/>
            <a:ext cx="4907702" cy="369332"/>
            <a:chOff x="4115975" y="4399471"/>
            <a:chExt cx="4907702" cy="369332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88FD53D-2B34-4EA6-8CAE-E05F696EAADC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RSPM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F889052-C8B4-4872-A0F0-7B44ABC368A2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9B76C29-4ACD-4CF8-BC3E-85F39B5D0750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8341BE9-30C3-4E32-9D0B-E554D186D4AE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4693554-F254-47A7-9180-B73D00A05D99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40F2B1D-08A9-473D-9689-5F6CDF4D4703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3665401-9325-44D2-850C-6539DD8E0E94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59E2FAA-EDB0-4650-A29D-DFA462A7576B}"/>
              </a:ext>
            </a:extLst>
          </p:cNvPr>
          <p:cNvSpPr txBox="1"/>
          <p:nvPr/>
        </p:nvSpPr>
        <p:spPr>
          <a:xfrm>
            <a:off x="2949381" y="422182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GVER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996686BA-61D0-43C1-B690-24672177D51A}"/>
              </a:ext>
            </a:extLst>
          </p:cNvPr>
          <p:cNvSpPr txBox="1"/>
          <p:nvPr/>
        </p:nvSpPr>
        <p:spPr>
          <a:xfrm>
            <a:off x="3656368" y="4227310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8BCB3F8B-93B9-42A5-9CAB-E568CEC7CD7B}"/>
              </a:ext>
            </a:extLst>
          </p:cNvPr>
          <p:cNvSpPr txBox="1"/>
          <p:nvPr/>
        </p:nvSpPr>
        <p:spPr>
          <a:xfrm>
            <a:off x="4363355" y="4227309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kern="0" spc="-100" dirty="0">
                <a:solidFill>
                  <a:prstClr val="black"/>
                </a:solidFill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E948D02-655D-4720-9F95-50F5D40302A1}"/>
              </a:ext>
            </a:extLst>
          </p:cNvPr>
          <p:cNvSpPr txBox="1"/>
          <p:nvPr/>
        </p:nvSpPr>
        <p:spPr>
          <a:xfrm>
            <a:off x="5070342" y="422730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5AB515CF-CE34-4AAE-B563-6EE1D6582171}"/>
              </a:ext>
            </a:extLst>
          </p:cNvPr>
          <p:cNvSpPr txBox="1"/>
          <p:nvPr/>
        </p:nvSpPr>
        <p:spPr>
          <a:xfrm>
            <a:off x="5774202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5409D9C-0209-43B2-AE3A-5BABF113A054}"/>
              </a:ext>
            </a:extLst>
          </p:cNvPr>
          <p:cNvSpPr txBox="1"/>
          <p:nvPr/>
        </p:nvSpPr>
        <p:spPr>
          <a:xfrm>
            <a:off x="6484315" y="4227306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673623A-C163-4F37-B8F1-63D27706E16A}"/>
              </a:ext>
            </a:extLst>
          </p:cNvPr>
          <p:cNvSpPr txBox="1"/>
          <p:nvPr/>
        </p:nvSpPr>
        <p:spPr>
          <a:xfrm>
            <a:off x="5780397" y="543023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CD1D1C4-8F18-4C6A-BB1C-8B752D17DFFF}"/>
              </a:ext>
            </a:extLst>
          </p:cNvPr>
          <p:cNvSpPr txBox="1"/>
          <p:nvPr/>
        </p:nvSpPr>
        <p:spPr>
          <a:xfrm>
            <a:off x="5968465" y="5201561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C4D744B9-70AE-4342-ADCB-ED663BB39006}"/>
              </a:ext>
            </a:extLst>
          </p:cNvPr>
          <p:cNvGrpSpPr/>
          <p:nvPr/>
        </p:nvGrpSpPr>
        <p:grpSpPr>
          <a:xfrm>
            <a:off x="2225523" y="2870369"/>
            <a:ext cx="4907702" cy="369332"/>
            <a:chOff x="4115975" y="4399471"/>
            <a:chExt cx="4907702" cy="369332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6F3CB7F-099F-4E83-9DDC-550546A1554F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REQM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9A728AC-C5BB-4B10-A207-D2F6DA190C7B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F0E24B3-B0A6-4B5F-BD07-8F1144875E57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2215D46-F434-4C4E-92F5-FB12340E8411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E3CADEC-15B6-4639-8E3D-AD7A2BD8F0C8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59188AA-8ABA-427D-BA14-363ABBA559C3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F9E2801C-8317-4AAE-98EB-81EF5AC7F8E4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F001476-F33E-4241-A431-8109A4EF8C69}"/>
              </a:ext>
            </a:extLst>
          </p:cNvPr>
          <p:cNvSpPr txBox="1"/>
          <p:nvPr/>
        </p:nvSpPr>
        <p:spPr>
          <a:xfrm>
            <a:off x="2934557" y="255660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GVER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648046F0-7B24-40E5-8E7C-B4E5DA848098}"/>
              </a:ext>
            </a:extLst>
          </p:cNvPr>
          <p:cNvSpPr txBox="1"/>
          <p:nvPr/>
        </p:nvSpPr>
        <p:spPr>
          <a:xfrm>
            <a:off x="3632579" y="256208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93DF8A4B-7867-4790-812F-05CE596E2072}"/>
              </a:ext>
            </a:extLst>
          </p:cNvPr>
          <p:cNvSpPr txBox="1"/>
          <p:nvPr/>
        </p:nvSpPr>
        <p:spPr>
          <a:xfrm>
            <a:off x="4339566" y="2562085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62396AA-77DE-42A1-B6AD-6808F89E4940}"/>
              </a:ext>
            </a:extLst>
          </p:cNvPr>
          <p:cNvSpPr txBox="1"/>
          <p:nvPr/>
        </p:nvSpPr>
        <p:spPr>
          <a:xfrm>
            <a:off x="5046553" y="256208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7BDA52BC-9C0F-4D6C-9E87-CCC0DDDCFDAE}"/>
              </a:ext>
            </a:extLst>
          </p:cNvPr>
          <p:cNvSpPr txBox="1"/>
          <p:nvPr/>
        </p:nvSpPr>
        <p:spPr>
          <a:xfrm>
            <a:off x="6489663" y="2354845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AAE252CC-21F8-4FDE-9F47-1F57AB590343}"/>
              </a:ext>
            </a:extLst>
          </p:cNvPr>
          <p:cNvSpPr txBox="1"/>
          <p:nvPr/>
        </p:nvSpPr>
        <p:spPr>
          <a:xfrm>
            <a:off x="5770034" y="205092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AE25F207-45B1-4BB8-8A16-FB6B7E017D55}"/>
              </a:ext>
            </a:extLst>
          </p:cNvPr>
          <p:cNvSpPr txBox="1"/>
          <p:nvPr/>
        </p:nvSpPr>
        <p:spPr>
          <a:xfrm>
            <a:off x="5770034" y="2561081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D2C11BE-A698-4DE4-B19E-68E4619F38BB}"/>
              </a:ext>
            </a:extLst>
          </p:cNvPr>
          <p:cNvSpPr txBox="1"/>
          <p:nvPr/>
        </p:nvSpPr>
        <p:spPr>
          <a:xfrm>
            <a:off x="5966593" y="2345436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DE808E24-38D0-4F54-9928-F3F9C33137A4}"/>
              </a:ext>
            </a:extLst>
          </p:cNvPr>
          <p:cNvCxnSpPr/>
          <p:nvPr/>
        </p:nvCxnSpPr>
        <p:spPr>
          <a:xfrm>
            <a:off x="2022766" y="3362418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60956756-6F74-4959-A90D-BDA704E34D4A}"/>
              </a:ext>
            </a:extLst>
          </p:cNvPr>
          <p:cNvSpPr txBox="1"/>
          <p:nvPr/>
        </p:nvSpPr>
        <p:spPr>
          <a:xfrm>
            <a:off x="2231151" y="256321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REQM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20ECC264-B251-458D-8772-FBE481BCB7C2}"/>
              </a:ext>
            </a:extLst>
          </p:cNvPr>
          <p:cNvSpPr txBox="1"/>
          <p:nvPr/>
        </p:nvSpPr>
        <p:spPr>
          <a:xfrm>
            <a:off x="2239268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RSPM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FEDB93A-A767-4763-B7D5-D45738F0A08C}"/>
              </a:ext>
            </a:extLst>
          </p:cNvPr>
          <p:cNvSpPr txBox="1"/>
          <p:nvPr/>
        </p:nvSpPr>
        <p:spPr>
          <a:xfrm>
            <a:off x="5783390" y="453759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25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6FB46BEA-F2CA-4B4A-93CA-4326CD7891B5}"/>
              </a:ext>
            </a:extLst>
          </p:cNvPr>
          <p:cNvSpPr txBox="1"/>
          <p:nvPr/>
        </p:nvSpPr>
        <p:spPr>
          <a:xfrm>
            <a:off x="5780397" y="485181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3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C0A3A335-E0EA-4535-BFC6-0D0F43B4DA6E}"/>
              </a:ext>
            </a:extLst>
          </p:cNvPr>
          <p:cNvCxnSpPr>
            <a:cxnSpLocks/>
          </p:cNvCxnSpPr>
          <p:nvPr/>
        </p:nvCxnSpPr>
        <p:spPr>
          <a:xfrm flipV="1">
            <a:off x="5341012" y="4504307"/>
            <a:ext cx="55712" cy="347507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D099C327-D58A-4B88-A2A7-F8B162D1AEF9}"/>
              </a:ext>
            </a:extLst>
          </p:cNvPr>
          <p:cNvSpPr txBox="1"/>
          <p:nvPr/>
        </p:nvSpPr>
        <p:spPr>
          <a:xfrm>
            <a:off x="4103865" y="4851814"/>
            <a:ext cx="1484696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若系統為異常，回傳包含異常碼</a:t>
            </a: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C6B547FF-151D-4143-BB0A-492CE2EB44E0}"/>
              </a:ext>
            </a:extLst>
          </p:cNvPr>
          <p:cNvCxnSpPr>
            <a:cxnSpLocks/>
            <a:endCxn id="89" idx="3"/>
          </p:cNvCxnSpPr>
          <p:nvPr/>
        </p:nvCxnSpPr>
        <p:spPr>
          <a:xfrm flipH="1" flipV="1">
            <a:off x="6484315" y="5021859"/>
            <a:ext cx="528445" cy="353175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57467754-8142-4BD1-A8C3-32C559104F61}"/>
              </a:ext>
            </a:extLst>
          </p:cNvPr>
          <p:cNvSpPr/>
          <p:nvPr/>
        </p:nvSpPr>
        <p:spPr bwMode="auto">
          <a:xfrm>
            <a:off x="5733326" y="4227118"/>
            <a:ext cx="750989" cy="15894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0FE6C17-1168-4303-A3CF-1E3A36B5877D}"/>
              </a:ext>
            </a:extLst>
          </p:cNvPr>
          <p:cNvSpPr txBox="1"/>
          <p:nvPr/>
        </p:nvSpPr>
        <p:spPr>
          <a:xfrm>
            <a:off x="7007441" y="5134008"/>
            <a:ext cx="1281426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回傳版本編號</a:t>
            </a:r>
          </a:p>
        </p:txBody>
      </p:sp>
    </p:spTree>
    <p:extLst>
      <p:ext uri="{BB962C8B-B14F-4D97-AF65-F5344CB8AC3E}">
        <p14:creationId xmlns:p14="http://schemas.microsoft.com/office/powerpoint/2010/main" val="184398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GSTA</a:t>
            </a:r>
          </a:p>
          <a:p>
            <a:pPr lvl="1"/>
            <a:r>
              <a:rPr lang="zh-TW" altLang="en-US" sz="2000" dirty="0"/>
              <a:t>得到目前</a:t>
            </a:r>
            <a:r>
              <a:rPr lang="en-US" altLang="zh-TW" sz="2000" dirty="0"/>
              <a:t>Robot Language</a:t>
            </a:r>
            <a:r>
              <a:rPr lang="zh-TW" altLang="en-US" sz="2000" dirty="0"/>
              <a:t>執行狀態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1C30E35-3560-47EF-9AE1-163E63D70422}"/>
              </a:ext>
            </a:extLst>
          </p:cNvPr>
          <p:cNvSpPr/>
          <p:nvPr/>
        </p:nvSpPr>
        <p:spPr>
          <a:xfrm>
            <a:off x="671948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上控程式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2B0F8B0C-9800-4003-A9CF-736D3554BCB1}"/>
              </a:ext>
            </a:extLst>
          </p:cNvPr>
          <p:cNvSpPr/>
          <p:nvPr/>
        </p:nvSpPr>
        <p:spPr>
          <a:xfrm>
            <a:off x="7335982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RASeMIO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AA622BBF-117D-49B1-A7FD-C5C679B3393C}"/>
              </a:ext>
            </a:extLst>
          </p:cNvPr>
          <p:cNvCxnSpPr>
            <a:cxnSpLocks/>
          </p:cNvCxnSpPr>
          <p:nvPr/>
        </p:nvCxnSpPr>
        <p:spPr>
          <a:xfrm>
            <a:off x="2022766" y="3622884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34927C2A-6CEE-49EB-84E5-086E8C053BD7}"/>
              </a:ext>
            </a:extLst>
          </p:cNvPr>
          <p:cNvGrpSpPr/>
          <p:nvPr/>
        </p:nvGrpSpPr>
        <p:grpSpPr>
          <a:xfrm>
            <a:off x="2225523" y="3767956"/>
            <a:ext cx="4907702" cy="369332"/>
            <a:chOff x="4115975" y="4399471"/>
            <a:chExt cx="4907702" cy="369332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88FD53D-2B34-4EA6-8CAE-E05F696EAADC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RSPM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F889052-C8B4-4872-A0F0-7B44ABC368A2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9B76C29-4ACD-4CF8-BC3E-85F39B5D0750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8341BE9-30C3-4E32-9D0B-E554D186D4AE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4693554-F254-47A7-9180-B73D00A05D99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40F2B1D-08A9-473D-9689-5F6CDF4D4703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3665401-9325-44D2-850C-6539DD8E0E94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59E2FAA-EDB0-4650-A29D-DFA462A7576B}"/>
              </a:ext>
            </a:extLst>
          </p:cNvPr>
          <p:cNvSpPr txBox="1"/>
          <p:nvPr/>
        </p:nvSpPr>
        <p:spPr>
          <a:xfrm>
            <a:off x="2949381" y="422182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GSTA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996686BA-61D0-43C1-B690-24672177D51A}"/>
              </a:ext>
            </a:extLst>
          </p:cNvPr>
          <p:cNvSpPr txBox="1"/>
          <p:nvPr/>
        </p:nvSpPr>
        <p:spPr>
          <a:xfrm>
            <a:off x="3656368" y="4227310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8BCB3F8B-93B9-42A5-9CAB-E568CEC7CD7B}"/>
              </a:ext>
            </a:extLst>
          </p:cNvPr>
          <p:cNvSpPr txBox="1"/>
          <p:nvPr/>
        </p:nvSpPr>
        <p:spPr>
          <a:xfrm>
            <a:off x="4363355" y="4227309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E948D02-655D-4720-9F95-50F5D40302A1}"/>
              </a:ext>
            </a:extLst>
          </p:cNvPr>
          <p:cNvSpPr txBox="1"/>
          <p:nvPr/>
        </p:nvSpPr>
        <p:spPr>
          <a:xfrm>
            <a:off x="5070342" y="422730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5AB515CF-CE34-4AAE-B563-6EE1D6582171}"/>
              </a:ext>
            </a:extLst>
          </p:cNvPr>
          <p:cNvSpPr txBox="1"/>
          <p:nvPr/>
        </p:nvSpPr>
        <p:spPr>
          <a:xfrm>
            <a:off x="5774202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5409D9C-0209-43B2-AE3A-5BABF113A054}"/>
              </a:ext>
            </a:extLst>
          </p:cNvPr>
          <p:cNvSpPr txBox="1"/>
          <p:nvPr/>
        </p:nvSpPr>
        <p:spPr>
          <a:xfrm>
            <a:off x="6484315" y="4227306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673623A-C163-4F37-B8F1-63D27706E16A}"/>
              </a:ext>
            </a:extLst>
          </p:cNvPr>
          <p:cNvSpPr txBox="1"/>
          <p:nvPr/>
        </p:nvSpPr>
        <p:spPr>
          <a:xfrm>
            <a:off x="5771906" y="4714472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CD1D1C4-8F18-4C6A-BB1C-8B752D17DFFF}"/>
              </a:ext>
            </a:extLst>
          </p:cNvPr>
          <p:cNvSpPr txBox="1"/>
          <p:nvPr/>
        </p:nvSpPr>
        <p:spPr>
          <a:xfrm>
            <a:off x="5968465" y="4498827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C4D744B9-70AE-4342-ADCB-ED663BB39006}"/>
              </a:ext>
            </a:extLst>
          </p:cNvPr>
          <p:cNvGrpSpPr/>
          <p:nvPr/>
        </p:nvGrpSpPr>
        <p:grpSpPr>
          <a:xfrm>
            <a:off x="2225523" y="2870369"/>
            <a:ext cx="4907702" cy="369332"/>
            <a:chOff x="4115975" y="4399471"/>
            <a:chExt cx="4907702" cy="369332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6F3CB7F-099F-4E83-9DDC-550546A1554F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REQM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9A728AC-C5BB-4B10-A207-D2F6DA190C7B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F0E24B3-B0A6-4B5F-BD07-8F1144875E57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2215D46-F434-4C4E-92F5-FB12340E8411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E3CADEC-15B6-4639-8E3D-AD7A2BD8F0C8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59188AA-8ABA-427D-BA14-363ABBA559C3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F9E2801C-8317-4AAE-98EB-81EF5AC7F8E4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F001476-F33E-4241-A431-8109A4EF8C69}"/>
              </a:ext>
            </a:extLst>
          </p:cNvPr>
          <p:cNvSpPr txBox="1"/>
          <p:nvPr/>
        </p:nvSpPr>
        <p:spPr>
          <a:xfrm>
            <a:off x="2934557" y="255660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GSTA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648046F0-7B24-40E5-8E7C-B4E5DA848098}"/>
              </a:ext>
            </a:extLst>
          </p:cNvPr>
          <p:cNvSpPr txBox="1"/>
          <p:nvPr/>
        </p:nvSpPr>
        <p:spPr>
          <a:xfrm>
            <a:off x="3632579" y="256208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93DF8A4B-7867-4790-812F-05CE596E2072}"/>
              </a:ext>
            </a:extLst>
          </p:cNvPr>
          <p:cNvSpPr txBox="1"/>
          <p:nvPr/>
        </p:nvSpPr>
        <p:spPr>
          <a:xfrm>
            <a:off x="4339566" y="2562085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62396AA-77DE-42A1-B6AD-6808F89E4940}"/>
              </a:ext>
            </a:extLst>
          </p:cNvPr>
          <p:cNvSpPr txBox="1"/>
          <p:nvPr/>
        </p:nvSpPr>
        <p:spPr>
          <a:xfrm>
            <a:off x="5046553" y="256208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7BDA52BC-9C0F-4D6C-9E87-CCC0DDDCFDAE}"/>
              </a:ext>
            </a:extLst>
          </p:cNvPr>
          <p:cNvSpPr txBox="1"/>
          <p:nvPr/>
        </p:nvSpPr>
        <p:spPr>
          <a:xfrm>
            <a:off x="6489663" y="2354845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AAE252CC-21F8-4FDE-9F47-1F57AB590343}"/>
              </a:ext>
            </a:extLst>
          </p:cNvPr>
          <p:cNvSpPr txBox="1"/>
          <p:nvPr/>
        </p:nvSpPr>
        <p:spPr>
          <a:xfrm>
            <a:off x="5770034" y="205092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AE25F207-45B1-4BB8-8A16-FB6B7E017D55}"/>
              </a:ext>
            </a:extLst>
          </p:cNvPr>
          <p:cNvSpPr txBox="1"/>
          <p:nvPr/>
        </p:nvSpPr>
        <p:spPr>
          <a:xfrm>
            <a:off x="5770034" y="2561081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D2C11BE-A698-4DE4-B19E-68E4619F38BB}"/>
              </a:ext>
            </a:extLst>
          </p:cNvPr>
          <p:cNvSpPr txBox="1"/>
          <p:nvPr/>
        </p:nvSpPr>
        <p:spPr>
          <a:xfrm>
            <a:off x="5966593" y="2345436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DE808E24-38D0-4F54-9928-F3F9C33137A4}"/>
              </a:ext>
            </a:extLst>
          </p:cNvPr>
          <p:cNvCxnSpPr/>
          <p:nvPr/>
        </p:nvCxnSpPr>
        <p:spPr>
          <a:xfrm>
            <a:off x="2022766" y="3362418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60956756-6F74-4959-A90D-BDA704E34D4A}"/>
              </a:ext>
            </a:extLst>
          </p:cNvPr>
          <p:cNvSpPr txBox="1"/>
          <p:nvPr/>
        </p:nvSpPr>
        <p:spPr>
          <a:xfrm>
            <a:off x="2231151" y="256321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REQM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20ECC264-B251-458D-8772-FBE481BCB7C2}"/>
              </a:ext>
            </a:extLst>
          </p:cNvPr>
          <p:cNvSpPr txBox="1"/>
          <p:nvPr/>
        </p:nvSpPr>
        <p:spPr>
          <a:xfrm>
            <a:off x="2239268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RSPM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2A021C6D-F350-4C30-826A-7B7702E3761D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4285338" y="4504308"/>
            <a:ext cx="404397" cy="95462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D48E1BF1-DD9C-4451-8CC2-72175D8AF001}"/>
              </a:ext>
            </a:extLst>
          </p:cNvPr>
          <p:cNvSpPr txBox="1"/>
          <p:nvPr/>
        </p:nvSpPr>
        <p:spPr>
          <a:xfrm>
            <a:off x="1815353" y="5458937"/>
            <a:ext cx="2831725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0: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Language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停止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Language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執行中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-1: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Language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暫停</a:t>
            </a: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456B62CC-EF8B-48E3-97B0-B2A2205C5CCE}"/>
              </a:ext>
            </a:extLst>
          </p:cNvPr>
          <p:cNvCxnSpPr>
            <a:cxnSpLocks/>
            <a:endCxn id="62" idx="2"/>
          </p:cNvCxnSpPr>
          <p:nvPr/>
        </p:nvCxnSpPr>
        <p:spPr>
          <a:xfrm flipH="1" flipV="1">
            <a:off x="5396722" y="4504307"/>
            <a:ext cx="54227" cy="107117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3D054702-49A5-4AF7-BBDB-ACD6BD67EA48}"/>
              </a:ext>
            </a:extLst>
          </p:cNvPr>
          <p:cNvSpPr txBox="1"/>
          <p:nvPr/>
        </p:nvSpPr>
        <p:spPr>
          <a:xfrm>
            <a:off x="5354065" y="5568655"/>
            <a:ext cx="1484696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若狀態為異常，回傳包含異常碼</a:t>
            </a:r>
          </a:p>
        </p:txBody>
      </p:sp>
    </p:spTree>
    <p:extLst>
      <p:ext uri="{BB962C8B-B14F-4D97-AF65-F5344CB8AC3E}">
        <p14:creationId xmlns:p14="http://schemas.microsoft.com/office/powerpoint/2010/main" val="413701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GMST</a:t>
            </a:r>
          </a:p>
          <a:p>
            <a:pPr lvl="1"/>
            <a:r>
              <a:rPr lang="zh-TW" altLang="en-US" sz="2000" dirty="0"/>
              <a:t>得到目前動作狀態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3D3B4E11-24BD-479A-83BD-B8C4877B8559}"/>
              </a:ext>
            </a:extLst>
          </p:cNvPr>
          <p:cNvSpPr/>
          <p:nvPr/>
        </p:nvSpPr>
        <p:spPr>
          <a:xfrm>
            <a:off x="671948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上控程式</a:t>
            </a: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C2079DFF-9F52-4F2E-8760-9C977E44C259}"/>
              </a:ext>
            </a:extLst>
          </p:cNvPr>
          <p:cNvSpPr/>
          <p:nvPr/>
        </p:nvSpPr>
        <p:spPr>
          <a:xfrm>
            <a:off x="7335982" y="2993888"/>
            <a:ext cx="1350818" cy="958734"/>
          </a:xfrm>
          <a:prstGeom prst="round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新細明體" panose="02020500000000000000" pitchFamily="18" charset="-120"/>
                <a:cs typeface="+mn-cs"/>
              </a:rPr>
              <a:t>RASeMIO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9C52EEAE-1249-46E4-B6AA-6BB868BFC08B}"/>
              </a:ext>
            </a:extLst>
          </p:cNvPr>
          <p:cNvCxnSpPr>
            <a:cxnSpLocks/>
          </p:cNvCxnSpPr>
          <p:nvPr/>
        </p:nvCxnSpPr>
        <p:spPr>
          <a:xfrm>
            <a:off x="2022766" y="3622884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35F9D5EA-3926-4642-BE1C-90C26E4CE79C}"/>
              </a:ext>
            </a:extLst>
          </p:cNvPr>
          <p:cNvGrpSpPr/>
          <p:nvPr/>
        </p:nvGrpSpPr>
        <p:grpSpPr>
          <a:xfrm>
            <a:off x="2225523" y="3767956"/>
            <a:ext cx="4907702" cy="369332"/>
            <a:chOff x="4115975" y="4399471"/>
            <a:chExt cx="4907702" cy="369332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51F7054F-E618-495A-9294-A2B59D646B07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RSPM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D461826-CC72-4E4B-84F1-6D0B89F457A8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F462B20F-1D5F-46AA-9EAF-5B9EB1872BA2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BE88A6BB-233A-4455-8A2B-7D4992B0F4AB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88BCCC1-8F6B-4EC6-AE0E-895AA610276E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F38F8BCB-F549-4FFF-A0A7-1F997F6BE265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75FBB64-CA56-46DA-B2A6-50C1307DE09E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A4DE28B0-90C9-4694-BAD0-8749B02996E3}"/>
              </a:ext>
            </a:extLst>
          </p:cNvPr>
          <p:cNvSpPr txBox="1"/>
          <p:nvPr/>
        </p:nvSpPr>
        <p:spPr>
          <a:xfrm>
            <a:off x="2949381" y="422182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GMST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FD4ED9B-588B-40DA-862D-6587F4813B60}"/>
              </a:ext>
            </a:extLst>
          </p:cNvPr>
          <p:cNvSpPr txBox="1"/>
          <p:nvPr/>
        </p:nvSpPr>
        <p:spPr>
          <a:xfrm>
            <a:off x="3656368" y="4227310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7BCC842D-88CB-4CD4-AB46-569C1C6435AF}"/>
              </a:ext>
            </a:extLst>
          </p:cNvPr>
          <p:cNvSpPr txBox="1"/>
          <p:nvPr/>
        </p:nvSpPr>
        <p:spPr>
          <a:xfrm>
            <a:off x="4363355" y="4227309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9F65CF17-3E25-4D90-9E11-7894A95CC977}"/>
              </a:ext>
            </a:extLst>
          </p:cNvPr>
          <p:cNvSpPr txBox="1"/>
          <p:nvPr/>
        </p:nvSpPr>
        <p:spPr>
          <a:xfrm>
            <a:off x="5070342" y="422730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282E98EC-6ED3-401A-A15A-987268AFFEF4}"/>
              </a:ext>
            </a:extLst>
          </p:cNvPr>
          <p:cNvSpPr txBox="1"/>
          <p:nvPr/>
        </p:nvSpPr>
        <p:spPr>
          <a:xfrm>
            <a:off x="5774202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4617A2BB-B8C6-4D0E-A8E0-124479141682}"/>
              </a:ext>
            </a:extLst>
          </p:cNvPr>
          <p:cNvSpPr txBox="1"/>
          <p:nvPr/>
        </p:nvSpPr>
        <p:spPr>
          <a:xfrm>
            <a:off x="6484315" y="4227306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5482703E-6CC3-4B1B-9A93-94DC67C901DC}"/>
              </a:ext>
            </a:extLst>
          </p:cNvPr>
          <p:cNvSpPr txBox="1"/>
          <p:nvPr/>
        </p:nvSpPr>
        <p:spPr>
          <a:xfrm>
            <a:off x="5771906" y="4714472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C9452AA4-D1C7-4DB0-BB82-9E2AF56594F8}"/>
              </a:ext>
            </a:extLst>
          </p:cNvPr>
          <p:cNvSpPr txBox="1"/>
          <p:nvPr/>
        </p:nvSpPr>
        <p:spPr>
          <a:xfrm>
            <a:off x="5968465" y="4498827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FA68664E-AB22-4327-8D53-7B48AF333BEA}"/>
              </a:ext>
            </a:extLst>
          </p:cNvPr>
          <p:cNvGrpSpPr/>
          <p:nvPr/>
        </p:nvGrpSpPr>
        <p:grpSpPr>
          <a:xfrm>
            <a:off x="2225523" y="2870369"/>
            <a:ext cx="4907702" cy="369332"/>
            <a:chOff x="4115975" y="4399471"/>
            <a:chExt cx="4907702" cy="369332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5D65DE43-42C3-4988-88C3-04E0C6214AC6}"/>
                </a:ext>
              </a:extLst>
            </p:cNvPr>
            <p:cNvSpPr/>
            <p:nvPr/>
          </p:nvSpPr>
          <p:spPr bwMode="auto">
            <a:xfrm>
              <a:off x="4115975" y="4399471"/>
              <a:ext cx="700069" cy="36933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REQM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D244127-6DE3-424C-9AB5-3AD786122F6E}"/>
                </a:ext>
              </a:extLst>
            </p:cNvPr>
            <p:cNvSpPr/>
            <p:nvPr/>
          </p:nvSpPr>
          <p:spPr bwMode="auto">
            <a:xfrm>
              <a:off x="4816044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FUNC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72C6EBBF-2B8C-4B87-9798-E3F9ABAECF30}"/>
                </a:ext>
              </a:extLst>
            </p:cNvPr>
            <p:cNvSpPr/>
            <p:nvPr/>
          </p:nvSpPr>
          <p:spPr bwMode="auto">
            <a:xfrm>
              <a:off x="5519961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TYPE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619A9456-C524-46C5-8535-2F7A26204B65}"/>
                </a:ext>
              </a:extLst>
            </p:cNvPr>
            <p:cNvSpPr/>
            <p:nvPr/>
          </p:nvSpPr>
          <p:spPr bwMode="auto">
            <a:xfrm>
              <a:off x="6223879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MODE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ED27005D-759D-47BE-B3FF-47B5EB829E8E}"/>
                </a:ext>
              </a:extLst>
            </p:cNvPr>
            <p:cNvSpPr/>
            <p:nvPr/>
          </p:nvSpPr>
          <p:spPr bwMode="auto">
            <a:xfrm>
              <a:off x="692382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ERRC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FAA929BF-AB28-441F-8235-049036A8B7A7}"/>
                </a:ext>
              </a:extLst>
            </p:cNvPr>
            <p:cNvSpPr/>
            <p:nvPr/>
          </p:nvSpPr>
          <p:spPr bwMode="auto">
            <a:xfrm>
              <a:off x="762377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DATA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BC256AA-09CB-4155-9E9F-725DEB157756}"/>
                </a:ext>
              </a:extLst>
            </p:cNvPr>
            <p:cNvSpPr/>
            <p:nvPr/>
          </p:nvSpPr>
          <p:spPr bwMode="auto">
            <a:xfrm>
              <a:off x="8323608" y="4399471"/>
              <a:ext cx="700069" cy="369332"/>
            </a:xfrm>
            <a:prstGeom prst="rect">
              <a:avLst/>
            </a:prstGeom>
            <a:noFill/>
            <a:ln w="9525" cap="flat" cmpd="sng" algn="ctr">
              <a:solidFill>
                <a:srgbClr val="44546A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rPr>
                <a:t>CRC32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0C87ED7F-2A77-459B-AA16-C19BCE24FD80}"/>
              </a:ext>
            </a:extLst>
          </p:cNvPr>
          <p:cNvSpPr txBox="1"/>
          <p:nvPr/>
        </p:nvSpPr>
        <p:spPr>
          <a:xfrm>
            <a:off x="2934557" y="255660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GMST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BB637E4B-86B9-4C3F-AB3E-1AF6BC46D89A}"/>
              </a:ext>
            </a:extLst>
          </p:cNvPr>
          <p:cNvSpPr txBox="1"/>
          <p:nvPr/>
        </p:nvSpPr>
        <p:spPr>
          <a:xfrm>
            <a:off x="3632579" y="256208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17F436BB-72F0-44E2-AF33-6674107B2FF5}"/>
              </a:ext>
            </a:extLst>
          </p:cNvPr>
          <p:cNvSpPr txBox="1"/>
          <p:nvPr/>
        </p:nvSpPr>
        <p:spPr>
          <a:xfrm>
            <a:off x="4339566" y="2562085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0135DCF5-20B6-4EE9-9F62-6154CDCEB97F}"/>
              </a:ext>
            </a:extLst>
          </p:cNvPr>
          <p:cNvSpPr txBox="1"/>
          <p:nvPr/>
        </p:nvSpPr>
        <p:spPr>
          <a:xfrm>
            <a:off x="5046553" y="2562084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64BD81FC-3476-44EF-AA22-62E621FCDEBC}"/>
              </a:ext>
            </a:extLst>
          </p:cNvPr>
          <p:cNvSpPr txBox="1"/>
          <p:nvPr/>
        </p:nvSpPr>
        <p:spPr>
          <a:xfrm>
            <a:off x="6489663" y="2354845"/>
            <a:ext cx="652759" cy="461665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CRC32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45013F06-46C1-4B8B-9BEF-417DF595F606}"/>
              </a:ext>
            </a:extLst>
          </p:cNvPr>
          <p:cNvSpPr txBox="1"/>
          <p:nvPr/>
        </p:nvSpPr>
        <p:spPr>
          <a:xfrm>
            <a:off x="5770034" y="2050926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16B5CD5F-BFA7-47A8-93C7-BE8EE30775D9}"/>
              </a:ext>
            </a:extLst>
          </p:cNvPr>
          <p:cNvSpPr txBox="1"/>
          <p:nvPr/>
        </p:nvSpPr>
        <p:spPr>
          <a:xfrm>
            <a:off x="5770034" y="2561081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0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AD5940FA-877C-485F-919A-2A4FE6733B09}"/>
              </a:ext>
            </a:extLst>
          </p:cNvPr>
          <p:cNvSpPr txBox="1"/>
          <p:nvPr/>
        </p:nvSpPr>
        <p:spPr>
          <a:xfrm>
            <a:off x="5966593" y="2345436"/>
            <a:ext cx="369332" cy="1981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200" dirty="0">
                <a:solidFill>
                  <a:prstClr val="black"/>
                </a:solidFill>
                <a:latin typeface="Calibri" panose="020F0502020204030204"/>
              </a:rPr>
              <a:t>…</a:t>
            </a:r>
            <a:endParaRPr kumimoji="0" lang="zh-TW" alt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4" name="直線單箭頭接點 123">
            <a:extLst>
              <a:ext uri="{FF2B5EF4-FFF2-40B4-BE49-F238E27FC236}">
                <a16:creationId xmlns:a16="http://schemas.microsoft.com/office/drawing/2014/main" id="{48F43037-14B2-47AB-A40D-D39F364DCC67}"/>
              </a:ext>
            </a:extLst>
          </p:cNvPr>
          <p:cNvCxnSpPr/>
          <p:nvPr/>
        </p:nvCxnSpPr>
        <p:spPr>
          <a:xfrm>
            <a:off x="2022766" y="3362418"/>
            <a:ext cx="531321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4583D7E4-EDE0-4877-9FFB-E5868CD0513A}"/>
              </a:ext>
            </a:extLst>
          </p:cNvPr>
          <p:cNvSpPr txBox="1"/>
          <p:nvPr/>
        </p:nvSpPr>
        <p:spPr>
          <a:xfrm>
            <a:off x="2231151" y="2563218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REQM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416BBCE7-566A-47FC-B69E-52602B312E37}"/>
              </a:ext>
            </a:extLst>
          </p:cNvPr>
          <p:cNvSpPr txBox="1"/>
          <p:nvPr/>
        </p:nvSpPr>
        <p:spPr>
          <a:xfrm>
            <a:off x="2239268" y="4227307"/>
            <a:ext cx="652759" cy="276999"/>
          </a:xfrm>
          <a:prstGeom prst="rect">
            <a:avLst/>
          </a:prstGeom>
          <a:solidFill>
            <a:srgbClr val="E7E6E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RSPM</a:t>
            </a:r>
            <a:endParaRPr kumimoji="0" lang="zh-TW" altLang="en-US" sz="12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27" name="直線單箭頭接點 126">
            <a:extLst>
              <a:ext uri="{FF2B5EF4-FFF2-40B4-BE49-F238E27FC236}">
                <a16:creationId xmlns:a16="http://schemas.microsoft.com/office/drawing/2014/main" id="{EBE49DD0-40C4-4C31-801A-9FF65296F725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4285338" y="4504308"/>
            <a:ext cx="404397" cy="95462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F40B7F01-8FA5-4810-86FE-9C6F0A233F07}"/>
              </a:ext>
            </a:extLst>
          </p:cNvPr>
          <p:cNvSpPr txBox="1"/>
          <p:nvPr/>
        </p:nvSpPr>
        <p:spPr>
          <a:xfrm>
            <a:off x="3162383" y="5458937"/>
            <a:ext cx="1484696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kern="0" spc="-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狀態為動作中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kern="0" spc="-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狀態為停止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2: 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狀態為暫停</a:t>
            </a:r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BE1580DC-92F3-4784-8477-A99B651321CD}"/>
              </a:ext>
            </a:extLst>
          </p:cNvPr>
          <p:cNvCxnSpPr>
            <a:cxnSpLocks/>
            <a:endCxn id="103" idx="2"/>
          </p:cNvCxnSpPr>
          <p:nvPr/>
        </p:nvCxnSpPr>
        <p:spPr>
          <a:xfrm flipH="1" flipV="1">
            <a:off x="5396722" y="4504307"/>
            <a:ext cx="54227" cy="107117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940F0090-A5E9-4C99-ADDA-024FF19E691D}"/>
              </a:ext>
            </a:extLst>
          </p:cNvPr>
          <p:cNvSpPr txBox="1"/>
          <p:nvPr/>
        </p:nvSpPr>
        <p:spPr>
          <a:xfrm>
            <a:off x="5354065" y="5568655"/>
            <a:ext cx="1484696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若狀態為異常，回傳包含異常碼</a:t>
            </a:r>
          </a:p>
        </p:txBody>
      </p:sp>
    </p:spTree>
    <p:extLst>
      <p:ext uri="{BB962C8B-B14F-4D97-AF65-F5344CB8AC3E}">
        <p14:creationId xmlns:p14="http://schemas.microsoft.com/office/powerpoint/2010/main" val="65170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MOVJ</a:t>
            </a:r>
          </a:p>
          <a:p>
            <a:pPr lvl="1"/>
            <a:r>
              <a:rPr lang="zh-TW" altLang="en-US" sz="2000" dirty="0"/>
              <a:t>軸移動命令</a:t>
            </a:r>
            <a:endParaRPr lang="en-US" altLang="zh-TW" sz="2000" dirty="0"/>
          </a:p>
          <a:p>
            <a:pPr lvl="1"/>
            <a:r>
              <a:rPr lang="zh-TW" altLang="en-US" sz="2000" dirty="0"/>
              <a:t>命令每一軸都移動到</a:t>
            </a:r>
            <a:r>
              <a:rPr lang="en-US" altLang="zh-TW" sz="2000" dirty="0"/>
              <a:t>10</a:t>
            </a:r>
            <a:r>
              <a:rPr lang="zh-TW" altLang="en-US" sz="2000" dirty="0"/>
              <a:t>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B4FFB49-5239-4E03-925F-9F724942D95F}"/>
              </a:ext>
            </a:extLst>
          </p:cNvPr>
          <p:cNvGrpSpPr/>
          <p:nvPr/>
        </p:nvGrpSpPr>
        <p:grpSpPr>
          <a:xfrm>
            <a:off x="486682" y="578188"/>
            <a:ext cx="8200118" cy="5962820"/>
            <a:chOff x="486682" y="578188"/>
            <a:chExt cx="8200118" cy="5962820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F12384CC-2E30-4FDE-95BC-33714333D6F1}"/>
                </a:ext>
              </a:extLst>
            </p:cNvPr>
            <p:cNvGrpSpPr/>
            <p:nvPr/>
          </p:nvGrpSpPr>
          <p:grpSpPr>
            <a:xfrm>
              <a:off x="486682" y="578188"/>
              <a:ext cx="8200118" cy="5962820"/>
              <a:chOff x="486682" y="578188"/>
              <a:chExt cx="8200118" cy="5962820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9B4D6958-5C30-40C4-956B-BAB86A410626}"/>
                  </a:ext>
                </a:extLst>
              </p:cNvPr>
              <p:cNvGrpSpPr/>
              <p:nvPr/>
            </p:nvGrpSpPr>
            <p:grpSpPr>
              <a:xfrm>
                <a:off x="486682" y="578188"/>
                <a:ext cx="8200118" cy="5908635"/>
                <a:chOff x="493032" y="463039"/>
                <a:chExt cx="8200118" cy="5908635"/>
              </a:xfrm>
            </p:grpSpPr>
            <p:sp>
              <p:nvSpPr>
                <p:cNvPr id="48" name="矩形: 圓角 47">
                  <a:extLst>
                    <a:ext uri="{FF2B5EF4-FFF2-40B4-BE49-F238E27FC236}">
                      <a16:creationId xmlns:a16="http://schemas.microsoft.com/office/drawing/2014/main" id="{6CFAD1D6-9E5D-4C7D-9218-3EB47EBDD97D}"/>
                    </a:ext>
                  </a:extLst>
                </p:cNvPr>
                <p:cNvSpPr/>
                <p:nvPr/>
              </p:nvSpPr>
              <p:spPr>
                <a:xfrm>
                  <a:off x="678298" y="2878551"/>
                  <a:ext cx="1350818" cy="958734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rgbClr val="4472C4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上控程式</a:t>
                  </a:r>
                </a:p>
              </p:txBody>
            </p:sp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4410044E-359F-449C-813B-09E48E11DB26}"/>
                    </a:ext>
                  </a:extLst>
                </p:cNvPr>
                <p:cNvSpPr/>
                <p:nvPr/>
              </p:nvSpPr>
              <p:spPr>
                <a:xfrm>
                  <a:off x="7342332" y="2878551"/>
                  <a:ext cx="1350818" cy="958734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rgbClr val="4472C4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4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新細明體" panose="02020500000000000000" pitchFamily="18" charset="-120"/>
                      <a:cs typeface="+mn-cs"/>
                    </a:rPr>
                    <a:t>RASeMIO</a:t>
                  </a:r>
                  <a:endParaRPr kumimoji="0" lang="zh-TW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cxnSp>
              <p:nvCxnSpPr>
                <p:cNvPr id="50" name="直線單箭頭接點 49">
                  <a:extLst>
                    <a:ext uri="{FF2B5EF4-FFF2-40B4-BE49-F238E27FC236}">
                      <a16:creationId xmlns:a16="http://schemas.microsoft.com/office/drawing/2014/main" id="{7A286F79-A607-46E3-B7C3-9025CB30D1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9116" y="3507547"/>
                  <a:ext cx="5313216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4472C4"/>
                  </a:solidFill>
                  <a:prstDash val="solid"/>
                  <a:miter lim="800000"/>
                  <a:headEnd type="triangle" w="med" len="med"/>
                  <a:tailEnd type="none" w="med" len="med"/>
                </a:ln>
                <a:effectLst/>
              </p:spPr>
            </p:cxnSp>
            <p:grpSp>
              <p:nvGrpSpPr>
                <p:cNvPr id="51" name="群組 50">
                  <a:extLst>
                    <a:ext uri="{FF2B5EF4-FFF2-40B4-BE49-F238E27FC236}">
                      <a16:creationId xmlns:a16="http://schemas.microsoft.com/office/drawing/2014/main" id="{189E4C8E-FDAA-4142-8753-DF103F519EA3}"/>
                    </a:ext>
                  </a:extLst>
                </p:cNvPr>
                <p:cNvGrpSpPr/>
                <p:nvPr/>
              </p:nvGrpSpPr>
              <p:grpSpPr>
                <a:xfrm>
                  <a:off x="2231873" y="3652619"/>
                  <a:ext cx="4907702" cy="369332"/>
                  <a:chOff x="4115975" y="4399471"/>
                  <a:chExt cx="4907702" cy="369332"/>
                </a:xfrm>
              </p:grpSpPr>
              <p:sp>
                <p:nvSpPr>
                  <p:cNvPr id="52" name="矩形 51">
                    <a:extLst>
                      <a:ext uri="{FF2B5EF4-FFF2-40B4-BE49-F238E27FC236}">
                        <a16:creationId xmlns:a16="http://schemas.microsoft.com/office/drawing/2014/main" id="{F6B4D16F-19DC-4DA7-AFE3-251BF30EC8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15975" y="4399471"/>
                    <a:ext cx="700069" cy="369332"/>
                  </a:xfrm>
                  <a:prstGeom prst="rect">
                    <a:avLst/>
                  </a:prstGeom>
                  <a:solidFill>
                    <a:srgbClr val="FFC000">
                      <a:lumMod val="20000"/>
                      <a:lumOff val="80000"/>
                    </a:srgbClr>
                  </a:solidFill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RSPM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D9BB5E24-9156-4D31-A82A-D9188DFEE5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16044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FUNC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4" name="矩形 53">
                    <a:extLst>
                      <a:ext uri="{FF2B5EF4-FFF2-40B4-BE49-F238E27FC236}">
                        <a16:creationId xmlns:a16="http://schemas.microsoft.com/office/drawing/2014/main" id="{70E2F9E8-7ABB-487E-BAC4-F6E9006FCC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19961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TYPE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D6FE3128-A0DC-4EB4-AFF1-E0DA033EF9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23879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MODE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E113CE5F-AABD-44C6-A7DF-AAF31848B2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2382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ERRC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24F2B931-AEB3-48D5-AC9C-F6F4B88EA1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62377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DATA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584D147A-606F-437D-ACD8-5B6A89F502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32360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CRC32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CA009756-551E-48F8-927C-EE707CC5850B}"/>
                    </a:ext>
                  </a:extLst>
                </p:cNvPr>
                <p:cNvSpPr txBox="1"/>
                <p:nvPr/>
              </p:nvSpPr>
              <p:spPr>
                <a:xfrm>
                  <a:off x="2955731" y="4115456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MOVJ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DD8F571E-7C7C-4952-B6F0-166F0C35DB4A}"/>
                    </a:ext>
                  </a:extLst>
                </p:cNvPr>
                <p:cNvSpPr txBox="1"/>
                <p:nvPr/>
              </p:nvSpPr>
              <p:spPr>
                <a:xfrm>
                  <a:off x="3662718" y="4111973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B5D1745B-A771-4FA6-8C28-8428303B7A94}"/>
                    </a:ext>
                  </a:extLst>
                </p:cNvPr>
                <p:cNvSpPr txBox="1"/>
                <p:nvPr/>
              </p:nvSpPr>
              <p:spPr>
                <a:xfrm>
                  <a:off x="4369705" y="4111972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kern="0" spc="-100" dirty="0">
                      <a:solidFill>
                        <a:prstClr val="black"/>
                      </a:solidFill>
                      <a:latin typeface="Calibri" panose="020F0502020204030204"/>
                    </a:rPr>
                    <a:t>6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FCA70BFD-F220-4C60-BFD9-B657A1BDADFE}"/>
                    </a:ext>
                  </a:extLst>
                </p:cNvPr>
                <p:cNvSpPr txBox="1"/>
                <p:nvPr/>
              </p:nvSpPr>
              <p:spPr>
                <a:xfrm>
                  <a:off x="5076692" y="4111971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EC95328-1693-4816-8879-C188CB157EA1}"/>
                    </a:ext>
                  </a:extLst>
                </p:cNvPr>
                <p:cNvSpPr txBox="1"/>
                <p:nvPr/>
              </p:nvSpPr>
              <p:spPr>
                <a:xfrm>
                  <a:off x="5780552" y="411197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kern="0" spc="-100" dirty="0">
                      <a:solidFill>
                        <a:prstClr val="black"/>
                      </a:solidFill>
                      <a:latin typeface="Calibri" panose="020F0502020204030204"/>
                    </a:rPr>
                    <a:t>3</a:t>
                  </a: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4FDC24D0-E572-4BFD-B624-54160BD8F33C}"/>
                    </a:ext>
                  </a:extLst>
                </p:cNvPr>
                <p:cNvSpPr txBox="1"/>
                <p:nvPr/>
              </p:nvSpPr>
              <p:spPr>
                <a:xfrm>
                  <a:off x="6490665" y="4111969"/>
                  <a:ext cx="652759" cy="461665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CRC32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計算</a:t>
                  </a:r>
                </a:p>
              </p:txBody>
            </p:sp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AD74A460-FD90-4B96-81F8-04556A99B1DF}"/>
                    </a:ext>
                  </a:extLst>
                </p:cNvPr>
                <p:cNvSpPr txBox="1"/>
                <p:nvPr/>
              </p:nvSpPr>
              <p:spPr>
                <a:xfrm>
                  <a:off x="5780552" y="440648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DD39C330-FA10-453B-B72F-F337EF7C333E}"/>
                    </a:ext>
                  </a:extLst>
                </p:cNvPr>
                <p:cNvSpPr txBox="1"/>
                <p:nvPr/>
              </p:nvSpPr>
              <p:spPr>
                <a:xfrm>
                  <a:off x="5780552" y="470099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5B51444B-18B4-4B57-AFD7-87CA010EF906}"/>
                    </a:ext>
                  </a:extLst>
                </p:cNvPr>
                <p:cNvSpPr txBox="1"/>
                <p:nvPr/>
              </p:nvSpPr>
              <p:spPr>
                <a:xfrm>
                  <a:off x="5780552" y="499550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B8866311-2537-460B-8CFE-A6C30C78F79A}"/>
                    </a:ext>
                  </a:extLst>
                </p:cNvPr>
                <p:cNvSpPr txBox="1"/>
                <p:nvPr/>
              </p:nvSpPr>
              <p:spPr>
                <a:xfrm>
                  <a:off x="5780552" y="529001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B1FBA180-9C79-45D9-9C6D-21F536B0E116}"/>
                    </a:ext>
                  </a:extLst>
                </p:cNvPr>
                <p:cNvSpPr txBox="1"/>
                <p:nvPr/>
              </p:nvSpPr>
              <p:spPr>
                <a:xfrm>
                  <a:off x="5780552" y="558452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AA7EEC94-2BB3-49CA-B454-8968ADE8D002}"/>
                    </a:ext>
                  </a:extLst>
                </p:cNvPr>
                <p:cNvSpPr txBox="1"/>
                <p:nvPr/>
              </p:nvSpPr>
              <p:spPr>
                <a:xfrm>
                  <a:off x="5780552" y="6094675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733CCC56-7C01-46ED-BD92-1C0EEEDC2803}"/>
                    </a:ext>
                  </a:extLst>
                </p:cNvPr>
                <p:cNvSpPr txBox="1"/>
                <p:nvPr/>
              </p:nvSpPr>
              <p:spPr>
                <a:xfrm>
                  <a:off x="5977111" y="5879030"/>
                  <a:ext cx="369332" cy="198131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zh-TW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…</a:t>
                  </a:r>
                  <a:endParaRPr kumimoji="0" lang="zh-TW" alt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72" name="群組 71">
                  <a:extLst>
                    <a:ext uri="{FF2B5EF4-FFF2-40B4-BE49-F238E27FC236}">
                      <a16:creationId xmlns:a16="http://schemas.microsoft.com/office/drawing/2014/main" id="{8F8D465E-D947-489D-AF1F-F8CF5A243C1A}"/>
                    </a:ext>
                  </a:extLst>
                </p:cNvPr>
                <p:cNvGrpSpPr/>
                <p:nvPr/>
              </p:nvGrpSpPr>
              <p:grpSpPr>
                <a:xfrm>
                  <a:off x="2231873" y="2755032"/>
                  <a:ext cx="4907702" cy="369332"/>
                  <a:chOff x="4115975" y="4399471"/>
                  <a:chExt cx="4907702" cy="369332"/>
                </a:xfrm>
              </p:grpSpPr>
              <p:sp>
                <p:nvSpPr>
                  <p:cNvPr id="73" name="矩形 72">
                    <a:extLst>
                      <a:ext uri="{FF2B5EF4-FFF2-40B4-BE49-F238E27FC236}">
                        <a16:creationId xmlns:a16="http://schemas.microsoft.com/office/drawing/2014/main" id="{5994BB41-D50F-4CD8-A24B-25054C27EB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15975" y="4399471"/>
                    <a:ext cx="700069" cy="369332"/>
                  </a:xfrm>
                  <a:prstGeom prst="rect">
                    <a:avLst/>
                  </a:prstGeom>
                  <a:solidFill>
                    <a:srgbClr val="FFC000">
                      <a:lumMod val="20000"/>
                      <a:lumOff val="80000"/>
                    </a:srgbClr>
                  </a:solidFill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REQM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4" name="矩形 73">
                    <a:extLst>
                      <a:ext uri="{FF2B5EF4-FFF2-40B4-BE49-F238E27FC236}">
                        <a16:creationId xmlns:a16="http://schemas.microsoft.com/office/drawing/2014/main" id="{25064877-BCD7-4C58-B468-C192E3BB93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16044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FUNC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FD961BD8-F837-4D83-B1A7-FE24900B30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19961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TYPE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6" name="矩形 75">
                    <a:extLst>
                      <a:ext uri="{FF2B5EF4-FFF2-40B4-BE49-F238E27FC236}">
                        <a16:creationId xmlns:a16="http://schemas.microsoft.com/office/drawing/2014/main" id="{05F64FB3-BE16-4894-A459-BD244DE0E3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23879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MODE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7" name="矩形 76">
                    <a:extLst>
                      <a:ext uri="{FF2B5EF4-FFF2-40B4-BE49-F238E27FC236}">
                        <a16:creationId xmlns:a16="http://schemas.microsoft.com/office/drawing/2014/main" id="{97736190-509E-4C06-96C7-17EA6F352A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2382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ERRC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F31DABA0-3DC8-447D-917A-72D08954C9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62377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DATA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7C9DBBC7-1727-4150-A3C4-963DF26AF1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323608" y="4399471"/>
                    <a:ext cx="700069" cy="369332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44546A">
                        <a:lumMod val="7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</a:rPr>
                      <a:t>CRC32</a:t>
                    </a:r>
                    <a:endParaRPr kumimoji="0" lang="zh-TW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A46062AC-AF2F-4874-9CF3-7370E24344C0}"/>
                    </a:ext>
                  </a:extLst>
                </p:cNvPr>
                <p:cNvSpPr txBox="1"/>
                <p:nvPr/>
              </p:nvSpPr>
              <p:spPr>
                <a:xfrm>
                  <a:off x="2931942" y="2450232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MOVJ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6711CA64-BFAC-49E9-A3CD-5A4F96AAB81D}"/>
                    </a:ext>
                  </a:extLst>
                </p:cNvPr>
                <p:cNvSpPr txBox="1"/>
                <p:nvPr/>
              </p:nvSpPr>
              <p:spPr>
                <a:xfrm>
                  <a:off x="3638929" y="244674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54C23A55-6FBF-45DA-A439-D93507C3281E}"/>
                    </a:ext>
                  </a:extLst>
                </p:cNvPr>
                <p:cNvSpPr txBox="1"/>
                <p:nvPr/>
              </p:nvSpPr>
              <p:spPr>
                <a:xfrm>
                  <a:off x="4345916" y="2446748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kern="0" spc="-100" dirty="0">
                      <a:solidFill>
                        <a:prstClr val="black"/>
                      </a:solidFill>
                      <a:latin typeface="Calibri" panose="020F0502020204030204"/>
                    </a:rPr>
                    <a:t>6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1B1DDA01-A83D-417D-97FF-9F9E7E71088B}"/>
                    </a:ext>
                  </a:extLst>
                </p:cNvPr>
                <p:cNvSpPr txBox="1"/>
                <p:nvPr/>
              </p:nvSpPr>
              <p:spPr>
                <a:xfrm>
                  <a:off x="5052903" y="2446747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13166BEB-AD8F-43D5-90CF-61FC1B7F89C6}"/>
                    </a:ext>
                  </a:extLst>
                </p:cNvPr>
                <p:cNvSpPr txBox="1"/>
                <p:nvPr/>
              </p:nvSpPr>
              <p:spPr>
                <a:xfrm>
                  <a:off x="5776384" y="46303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30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971CEFEF-7025-4300-B7D1-C1D91D5B1B9C}"/>
                    </a:ext>
                  </a:extLst>
                </p:cNvPr>
                <p:cNvSpPr txBox="1"/>
                <p:nvPr/>
              </p:nvSpPr>
              <p:spPr>
                <a:xfrm>
                  <a:off x="6496013" y="2239508"/>
                  <a:ext cx="652759" cy="461665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CRC32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計算</a:t>
                  </a:r>
                </a:p>
              </p:txBody>
            </p:sp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B10B2E4A-8C6A-4EFD-8FA5-0114B34871B8}"/>
                    </a:ext>
                  </a:extLst>
                </p:cNvPr>
                <p:cNvSpPr txBox="1"/>
                <p:nvPr/>
              </p:nvSpPr>
              <p:spPr>
                <a:xfrm>
                  <a:off x="5776384" y="75754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D8660FD5-5EC4-40B1-BE76-7516FFA36D2B}"/>
                    </a:ext>
                  </a:extLst>
                </p:cNvPr>
                <p:cNvSpPr txBox="1"/>
                <p:nvPr/>
              </p:nvSpPr>
              <p:spPr>
                <a:xfrm>
                  <a:off x="5776384" y="105205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2E5B3172-FD82-43FE-96D1-05BEC1A822D1}"/>
                    </a:ext>
                  </a:extLst>
                </p:cNvPr>
                <p:cNvSpPr txBox="1"/>
                <p:nvPr/>
              </p:nvSpPr>
              <p:spPr>
                <a:xfrm>
                  <a:off x="5776384" y="134656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9314FEC3-309E-4F80-AA4C-1EC09C90C1EE}"/>
                    </a:ext>
                  </a:extLst>
                </p:cNvPr>
                <p:cNvSpPr txBox="1"/>
                <p:nvPr/>
              </p:nvSpPr>
              <p:spPr>
                <a:xfrm>
                  <a:off x="5776384" y="164107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07EAEAC9-87D5-477C-ADD8-B0BE51D0F3B0}"/>
                    </a:ext>
                  </a:extLst>
                </p:cNvPr>
                <p:cNvSpPr txBox="1"/>
                <p:nvPr/>
              </p:nvSpPr>
              <p:spPr>
                <a:xfrm>
                  <a:off x="5776384" y="1935589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10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E2D14E6F-936F-4B99-98AE-5E9230ECC177}"/>
                    </a:ext>
                  </a:extLst>
                </p:cNvPr>
                <p:cNvSpPr txBox="1"/>
                <p:nvPr/>
              </p:nvSpPr>
              <p:spPr>
                <a:xfrm>
                  <a:off x="5776384" y="2445744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0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94B96BDB-A8F0-496D-B754-E86F9142D1A3}"/>
                    </a:ext>
                  </a:extLst>
                </p:cNvPr>
                <p:cNvSpPr txBox="1"/>
                <p:nvPr/>
              </p:nvSpPr>
              <p:spPr>
                <a:xfrm>
                  <a:off x="5972943" y="2230099"/>
                  <a:ext cx="369332" cy="198131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zh-TW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…</a:t>
                  </a:r>
                  <a:endParaRPr kumimoji="0" lang="zh-TW" alt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134" name="直線單箭頭接點 133">
                  <a:extLst>
                    <a:ext uri="{FF2B5EF4-FFF2-40B4-BE49-F238E27FC236}">
                      <a16:creationId xmlns:a16="http://schemas.microsoft.com/office/drawing/2014/main" id="{13E0310A-312D-48AF-BA20-967D73A886B6}"/>
                    </a:ext>
                  </a:extLst>
                </p:cNvPr>
                <p:cNvCxnSpPr/>
                <p:nvPr/>
              </p:nvCxnSpPr>
              <p:spPr>
                <a:xfrm>
                  <a:off x="2029116" y="3247081"/>
                  <a:ext cx="5313216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4472C4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CDBFE0C6-3A0B-4E4E-B77C-685489F2F5E4}"/>
                    </a:ext>
                  </a:extLst>
                </p:cNvPr>
                <p:cNvSpPr txBox="1"/>
                <p:nvPr/>
              </p:nvSpPr>
              <p:spPr>
                <a:xfrm>
                  <a:off x="2237501" y="2447881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REQM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5A09D0F7-D028-420F-83EE-C17C8FA0D767}"/>
                    </a:ext>
                  </a:extLst>
                </p:cNvPr>
                <p:cNvSpPr txBox="1"/>
                <p:nvPr/>
              </p:nvSpPr>
              <p:spPr>
                <a:xfrm>
                  <a:off x="2245618" y="4111970"/>
                  <a:ext cx="652759" cy="276999"/>
                </a:xfrm>
                <a:prstGeom prst="rect">
                  <a:avLst/>
                </a:prstGeom>
                <a:solidFill>
                  <a:srgbClr val="E7E6E6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RSPM</a:t>
                  </a:r>
                  <a:endPara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cxnSp>
              <p:nvCxnSpPr>
                <p:cNvPr id="137" name="直線單箭頭接點 136">
                  <a:extLst>
                    <a:ext uri="{FF2B5EF4-FFF2-40B4-BE49-F238E27FC236}">
                      <a16:creationId xmlns:a16="http://schemas.microsoft.com/office/drawing/2014/main" id="{49FA1E4D-4F6D-4B13-BE76-15619C88B544}"/>
                    </a:ext>
                  </a:extLst>
                </p:cNvPr>
                <p:cNvCxnSpPr>
                  <a:cxnSpLocks/>
                  <a:endCxn id="82" idx="0"/>
                </p:cNvCxnSpPr>
                <p:nvPr/>
              </p:nvCxnSpPr>
              <p:spPr>
                <a:xfrm flipH="1">
                  <a:off x="4672296" y="2074088"/>
                  <a:ext cx="136694" cy="37266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B779D8C6-64AE-4F29-A972-3BC9B6AAE6A9}"/>
                    </a:ext>
                  </a:extLst>
                </p:cNvPr>
                <p:cNvSpPr txBox="1"/>
                <p:nvPr/>
              </p:nvSpPr>
              <p:spPr>
                <a:xfrm>
                  <a:off x="4366887" y="1600559"/>
                  <a:ext cx="1101941" cy="5232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Mode</a:t>
                  </a: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代表軸數</a:t>
                  </a:r>
                </a:p>
              </p:txBody>
            </p:sp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0592C4EB-E2A0-4BAF-A036-EF22AAF606B2}"/>
                    </a:ext>
                  </a:extLst>
                </p:cNvPr>
                <p:cNvSpPr txBox="1"/>
                <p:nvPr/>
              </p:nvSpPr>
              <p:spPr>
                <a:xfrm>
                  <a:off x="1873943" y="5430631"/>
                  <a:ext cx="2010098" cy="5232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指令正確，則</a:t>
                  </a:r>
                  <a:r>
                    <a:rPr kumimoji="0" lang="en-US" altLang="zh-TW" sz="1400" b="1" i="0" u="none" strike="noStrike" kern="0" cap="none" spc="-10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RASeMIO</a:t>
                  </a: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將回傳相同上控命令內容</a:t>
                  </a:r>
                </a:p>
              </p:txBody>
            </p:sp>
            <p:cxnSp>
              <p:nvCxnSpPr>
                <p:cNvPr id="140" name="直線單箭頭接點 139">
                  <a:extLst>
                    <a:ext uri="{FF2B5EF4-FFF2-40B4-BE49-F238E27FC236}">
                      <a16:creationId xmlns:a16="http://schemas.microsoft.com/office/drawing/2014/main" id="{556A3311-3933-452C-A84D-83E17ACD2F81}"/>
                    </a:ext>
                  </a:extLst>
                </p:cNvPr>
                <p:cNvCxnSpPr>
                  <a:cxnSpLocks/>
                  <a:stCxn id="139" idx="3"/>
                </p:cNvCxnSpPr>
                <p:nvPr/>
              </p:nvCxnSpPr>
              <p:spPr>
                <a:xfrm flipV="1">
                  <a:off x="3884041" y="4911191"/>
                  <a:ext cx="1845410" cy="78105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56A9503A-C915-4DBD-AFF2-FB0C7FDFD753}"/>
                    </a:ext>
                  </a:extLst>
                </p:cNvPr>
                <p:cNvSpPr txBox="1"/>
                <p:nvPr/>
              </p:nvSpPr>
              <p:spPr>
                <a:xfrm>
                  <a:off x="493032" y="4603414"/>
                  <a:ext cx="1192651" cy="307777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注意是</a:t>
                  </a:r>
                  <a:r>
                    <a:rPr kumimoji="0" lang="en-US" altLang="zh-TW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RSPM</a:t>
                  </a:r>
                  <a:endParaRPr kumimoji="0" lang="zh-TW" altLang="en-US" sz="1400" b="1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cxnSp>
              <p:nvCxnSpPr>
                <p:cNvPr id="142" name="直線單箭頭接點 141">
                  <a:extLst>
                    <a:ext uri="{FF2B5EF4-FFF2-40B4-BE49-F238E27FC236}">
                      <a16:creationId xmlns:a16="http://schemas.microsoft.com/office/drawing/2014/main" id="{42546F74-D8F8-418F-ADF3-C6989AB6971D}"/>
                    </a:ext>
                  </a:extLst>
                </p:cNvPr>
                <p:cNvCxnSpPr>
                  <a:cxnSpLocks/>
                  <a:stCxn id="141" idx="3"/>
                  <a:endCxn id="136" idx="2"/>
                </p:cNvCxnSpPr>
                <p:nvPr/>
              </p:nvCxnSpPr>
              <p:spPr>
                <a:xfrm flipV="1">
                  <a:off x="1685683" y="4388969"/>
                  <a:ext cx="886315" cy="368334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6B7E0B1C-2326-48A3-99A8-4241A6FAF47C}"/>
                    </a:ext>
                  </a:extLst>
                </p:cNvPr>
                <p:cNvSpPr txBox="1"/>
                <p:nvPr/>
              </p:nvSpPr>
              <p:spPr>
                <a:xfrm>
                  <a:off x="6915800" y="499453"/>
                  <a:ext cx="575083" cy="307777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速度</a:t>
                  </a:r>
                </a:p>
              </p:txBody>
            </p:sp>
            <p:cxnSp>
              <p:nvCxnSpPr>
                <p:cNvPr id="91" name="直線單箭頭接點 90">
                  <a:extLst>
                    <a:ext uri="{FF2B5EF4-FFF2-40B4-BE49-F238E27FC236}">
                      <a16:creationId xmlns:a16="http://schemas.microsoft.com/office/drawing/2014/main" id="{6A25A592-6C31-4929-B4FF-4C5682537474}"/>
                    </a:ext>
                  </a:extLst>
                </p:cNvPr>
                <p:cNvCxnSpPr>
                  <a:cxnSpLocks/>
                  <a:stCxn id="90" idx="1"/>
                </p:cNvCxnSpPr>
                <p:nvPr/>
              </p:nvCxnSpPr>
              <p:spPr>
                <a:xfrm flipH="1" flipV="1">
                  <a:off x="6490666" y="601540"/>
                  <a:ext cx="425134" cy="51802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8A8382D5-BCDF-4A4F-A40E-8909C6D279E0}"/>
                    </a:ext>
                  </a:extLst>
                </p:cNvPr>
                <p:cNvSpPr txBox="1"/>
                <p:nvPr/>
              </p:nvSpPr>
              <p:spPr>
                <a:xfrm>
                  <a:off x="6915800" y="1010777"/>
                  <a:ext cx="575083" cy="307777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400" b="1" kern="0" spc="-1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角</a:t>
                  </a:r>
                  <a:r>
                    <a:rPr kumimoji="0" lang="zh-TW" altLang="en-US" sz="1400" b="1" i="0" u="none" strike="noStrike" kern="0" cap="none" spc="-10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度</a:t>
                  </a:r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E11F28A-7257-41A4-A624-6169EC14D4D5}"/>
                  </a:ext>
                </a:extLst>
              </p:cNvPr>
              <p:cNvSpPr/>
              <p:nvPr/>
            </p:nvSpPr>
            <p:spPr bwMode="auto">
              <a:xfrm>
                <a:off x="5733326" y="4227118"/>
                <a:ext cx="750989" cy="2313890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pitchFamily="18" charset="-120"/>
                </a:endParaRPr>
              </a:p>
            </p:txBody>
          </p:sp>
        </p:grpSp>
        <p:sp>
          <p:nvSpPr>
            <p:cNvPr id="13" name="右大括弧 12">
              <a:extLst>
                <a:ext uri="{FF2B5EF4-FFF2-40B4-BE49-F238E27FC236}">
                  <a16:creationId xmlns:a16="http://schemas.microsoft.com/office/drawing/2014/main" id="{A1912A26-C6A8-438B-9A87-48EC1D54A799}"/>
                </a:ext>
              </a:extLst>
            </p:cNvPr>
            <p:cNvSpPr/>
            <p:nvPr/>
          </p:nvSpPr>
          <p:spPr bwMode="auto">
            <a:xfrm>
              <a:off x="6484315" y="922379"/>
              <a:ext cx="213645" cy="1296674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593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zh-TW" altLang="en-US" sz="2000" dirty="0"/>
              <a:t>上控發出命令有錯</a:t>
            </a:r>
          </a:p>
          <a:p>
            <a:pPr marL="457200" lvl="1" indent="0">
              <a:buNone/>
            </a:pPr>
            <a:endParaRPr lang="zh-TW" altLang="en-US" sz="2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B0774821-3BBA-4CB2-B381-AE0A6D9FBDCA}"/>
              </a:ext>
            </a:extLst>
          </p:cNvPr>
          <p:cNvGrpSpPr/>
          <p:nvPr/>
        </p:nvGrpSpPr>
        <p:grpSpPr>
          <a:xfrm>
            <a:off x="671948" y="590038"/>
            <a:ext cx="8014852" cy="5908635"/>
            <a:chOff x="1942002" y="656270"/>
            <a:chExt cx="8014852" cy="5908635"/>
          </a:xfrm>
        </p:grpSpPr>
        <p:sp>
          <p:nvSpPr>
            <p:cNvPr id="153" name="矩形: 圓角 152">
              <a:extLst>
                <a:ext uri="{FF2B5EF4-FFF2-40B4-BE49-F238E27FC236}">
                  <a16:creationId xmlns:a16="http://schemas.microsoft.com/office/drawing/2014/main" id="{48C207E5-EB1A-4FED-8841-174DCA6A0D8E}"/>
                </a:ext>
              </a:extLst>
            </p:cNvPr>
            <p:cNvSpPr/>
            <p:nvPr/>
          </p:nvSpPr>
          <p:spPr>
            <a:xfrm>
              <a:off x="1942002" y="3062818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上控程式</a:t>
              </a:r>
            </a:p>
          </p:txBody>
        </p:sp>
        <p:sp>
          <p:nvSpPr>
            <p:cNvPr id="154" name="矩形: 圓角 153">
              <a:extLst>
                <a:ext uri="{FF2B5EF4-FFF2-40B4-BE49-F238E27FC236}">
                  <a16:creationId xmlns:a16="http://schemas.microsoft.com/office/drawing/2014/main" id="{8AD64F76-14ED-4B6B-8318-FA633917B777}"/>
                </a:ext>
              </a:extLst>
            </p:cNvPr>
            <p:cNvSpPr/>
            <p:nvPr/>
          </p:nvSpPr>
          <p:spPr>
            <a:xfrm>
              <a:off x="8606036" y="3062818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新細明體" panose="02020500000000000000" pitchFamily="18" charset="-120"/>
                  <a:cs typeface="+mn-cs"/>
                </a:rPr>
                <a:t>RASeMIO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55" name="直線單箭頭接點 154">
              <a:extLst>
                <a:ext uri="{FF2B5EF4-FFF2-40B4-BE49-F238E27FC236}">
                  <a16:creationId xmlns:a16="http://schemas.microsoft.com/office/drawing/2014/main" id="{A70C20FD-3377-4DD2-9BEE-83FD87C83BDB}"/>
                </a:ext>
              </a:extLst>
            </p:cNvPr>
            <p:cNvCxnSpPr>
              <a:cxnSpLocks/>
            </p:cNvCxnSpPr>
            <p:nvPr/>
          </p:nvCxnSpPr>
          <p:spPr>
            <a:xfrm>
              <a:off x="3292820" y="3691814"/>
              <a:ext cx="53132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56" name="直線單箭頭接點 155">
              <a:extLst>
                <a:ext uri="{FF2B5EF4-FFF2-40B4-BE49-F238E27FC236}">
                  <a16:creationId xmlns:a16="http://schemas.microsoft.com/office/drawing/2014/main" id="{EDFFDD14-26E5-4D24-931A-F657A053296F}"/>
                </a:ext>
              </a:extLst>
            </p:cNvPr>
            <p:cNvCxnSpPr/>
            <p:nvPr/>
          </p:nvCxnSpPr>
          <p:spPr>
            <a:xfrm>
              <a:off x="3292820" y="3431348"/>
              <a:ext cx="53132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57" name="群組 156">
              <a:extLst>
                <a:ext uri="{FF2B5EF4-FFF2-40B4-BE49-F238E27FC236}">
                  <a16:creationId xmlns:a16="http://schemas.microsoft.com/office/drawing/2014/main" id="{F68898BB-7E72-4748-91E3-79CE457513E6}"/>
                </a:ext>
              </a:extLst>
            </p:cNvPr>
            <p:cNvGrpSpPr/>
            <p:nvPr/>
          </p:nvGrpSpPr>
          <p:grpSpPr>
            <a:xfrm>
              <a:off x="3499746" y="3845850"/>
              <a:ext cx="4907702" cy="369332"/>
              <a:chOff x="4115975" y="4399471"/>
              <a:chExt cx="4907702" cy="369332"/>
            </a:xfrm>
          </p:grpSpPr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CC87A6F5-7FCC-4BF2-B62B-17A1250AF266}"/>
                  </a:ext>
                </a:extLst>
              </p:cNvPr>
              <p:cNvSpPr/>
              <p:nvPr/>
            </p:nvSpPr>
            <p:spPr bwMode="auto">
              <a:xfrm>
                <a:off x="4115975" y="4399471"/>
                <a:ext cx="700069" cy="36933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RSPM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B3FA2417-12F5-46DE-965F-AF9F9F702704}"/>
                  </a:ext>
                </a:extLst>
              </p:cNvPr>
              <p:cNvSpPr/>
              <p:nvPr/>
            </p:nvSpPr>
            <p:spPr bwMode="auto">
              <a:xfrm>
                <a:off x="4816044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1F221B02-9926-49A4-8170-085F165254E8}"/>
                  </a:ext>
                </a:extLst>
              </p:cNvPr>
              <p:cNvSpPr/>
              <p:nvPr/>
            </p:nvSpPr>
            <p:spPr bwMode="auto">
              <a:xfrm>
                <a:off x="5519961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55E49B5-28BA-43F4-91AE-797E8ADB9934}"/>
                  </a:ext>
                </a:extLst>
              </p:cNvPr>
              <p:cNvSpPr/>
              <p:nvPr/>
            </p:nvSpPr>
            <p:spPr bwMode="auto">
              <a:xfrm>
                <a:off x="6223879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A4699B19-54C6-40B7-897D-2238C9C656F5}"/>
                  </a:ext>
                </a:extLst>
              </p:cNvPr>
              <p:cNvSpPr/>
              <p:nvPr/>
            </p:nvSpPr>
            <p:spPr bwMode="auto">
              <a:xfrm>
                <a:off x="692382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BEB996E2-06F2-47C2-AC8F-CB9E96978181}"/>
                  </a:ext>
                </a:extLst>
              </p:cNvPr>
              <p:cNvSpPr/>
              <p:nvPr/>
            </p:nvSpPr>
            <p:spPr bwMode="auto">
              <a:xfrm>
                <a:off x="762377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2A469082-82D9-45E6-9FFC-1E8E7CE10664}"/>
                  </a:ext>
                </a:extLst>
              </p:cNvPr>
              <p:cNvSpPr/>
              <p:nvPr/>
            </p:nvSpPr>
            <p:spPr bwMode="auto">
              <a:xfrm>
                <a:off x="832360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07B58657-6AAF-44B2-A8DD-2AD0BD053115}"/>
                </a:ext>
              </a:extLst>
            </p:cNvPr>
            <p:cNvSpPr txBox="1"/>
            <p:nvPr/>
          </p:nvSpPr>
          <p:spPr>
            <a:xfrm>
              <a:off x="4223604" y="4308687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HELO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758C010E-3B7F-45F2-8C8E-05067B016145}"/>
                </a:ext>
              </a:extLst>
            </p:cNvPr>
            <p:cNvSpPr txBox="1"/>
            <p:nvPr/>
          </p:nvSpPr>
          <p:spPr>
            <a:xfrm>
              <a:off x="4930591" y="4305204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C434EC0E-6212-479A-B282-42B3C61889F9}"/>
                </a:ext>
              </a:extLst>
            </p:cNvPr>
            <p:cNvSpPr txBox="1"/>
            <p:nvPr/>
          </p:nvSpPr>
          <p:spPr>
            <a:xfrm>
              <a:off x="5637578" y="4305203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B39313EA-A14C-47A2-A02C-75EEDD036216}"/>
                </a:ext>
              </a:extLst>
            </p:cNvPr>
            <p:cNvSpPr txBox="1"/>
            <p:nvPr/>
          </p:nvSpPr>
          <p:spPr>
            <a:xfrm>
              <a:off x="6344565" y="4305202"/>
              <a:ext cx="652759" cy="276999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50000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21CC8086-1D15-4DEC-A2B9-B93804173628}"/>
                </a:ext>
              </a:extLst>
            </p:cNvPr>
            <p:cNvSpPr txBox="1"/>
            <p:nvPr/>
          </p:nvSpPr>
          <p:spPr>
            <a:xfrm>
              <a:off x="7048425" y="430520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2F6B2C03-C413-4D3D-AE4C-1C53F578AFFC}"/>
                </a:ext>
              </a:extLst>
            </p:cNvPr>
            <p:cNvSpPr txBox="1"/>
            <p:nvPr/>
          </p:nvSpPr>
          <p:spPr>
            <a:xfrm>
              <a:off x="7758538" y="4305200"/>
              <a:ext cx="652759" cy="461665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CRC32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</a:t>
              </a: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9D8E7D0C-A9E4-4ED0-B5F3-CFA6E648F628}"/>
                </a:ext>
              </a:extLst>
            </p:cNvPr>
            <p:cNvSpPr txBox="1"/>
            <p:nvPr/>
          </p:nvSpPr>
          <p:spPr>
            <a:xfrm>
              <a:off x="7048425" y="459971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A51FA49D-FD0C-4BB4-9C9D-6808599F0288}"/>
                </a:ext>
              </a:extLst>
            </p:cNvPr>
            <p:cNvSpPr txBox="1"/>
            <p:nvPr/>
          </p:nvSpPr>
          <p:spPr>
            <a:xfrm>
              <a:off x="7048425" y="489422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id="{014C560E-5936-4901-AE7F-EED59BC8439D}"/>
                </a:ext>
              </a:extLst>
            </p:cNvPr>
            <p:cNvSpPr txBox="1"/>
            <p:nvPr/>
          </p:nvSpPr>
          <p:spPr>
            <a:xfrm>
              <a:off x="7048425" y="518873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E11B30C8-AFB0-43B5-89EF-328D6BCA1270}"/>
                </a:ext>
              </a:extLst>
            </p:cNvPr>
            <p:cNvSpPr txBox="1"/>
            <p:nvPr/>
          </p:nvSpPr>
          <p:spPr>
            <a:xfrm>
              <a:off x="7048425" y="548324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6F8E035B-00B9-4730-B44C-A7136DEF86BF}"/>
                </a:ext>
              </a:extLst>
            </p:cNvPr>
            <p:cNvSpPr txBox="1"/>
            <p:nvPr/>
          </p:nvSpPr>
          <p:spPr>
            <a:xfrm>
              <a:off x="7048425" y="577775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51581400-4426-4A1A-88B0-BA34F2EC921E}"/>
                </a:ext>
              </a:extLst>
            </p:cNvPr>
            <p:cNvSpPr txBox="1"/>
            <p:nvPr/>
          </p:nvSpPr>
          <p:spPr>
            <a:xfrm>
              <a:off x="7048425" y="6287906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18076B60-237F-4EAE-AFA0-FF73E1D521EE}"/>
                </a:ext>
              </a:extLst>
            </p:cNvPr>
            <p:cNvSpPr txBox="1"/>
            <p:nvPr/>
          </p:nvSpPr>
          <p:spPr>
            <a:xfrm>
              <a:off x="7244984" y="6072261"/>
              <a:ext cx="369332" cy="1981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TW" sz="1200" dirty="0">
                  <a:solidFill>
                    <a:prstClr val="black"/>
                  </a:solidFill>
                  <a:latin typeface="Calibri" panose="020F0502020204030204"/>
                </a:rPr>
                <a:t>…</a:t>
              </a:r>
              <a:endParaRPr kumimoji="0" lang="zh-TW" alt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76122969-F1A5-4674-B8F5-068050DF995A}"/>
                </a:ext>
              </a:extLst>
            </p:cNvPr>
            <p:cNvGrpSpPr/>
            <p:nvPr/>
          </p:nvGrpSpPr>
          <p:grpSpPr>
            <a:xfrm>
              <a:off x="3499746" y="2948263"/>
              <a:ext cx="4907702" cy="369332"/>
              <a:chOff x="4115975" y="4399471"/>
              <a:chExt cx="4907702" cy="369332"/>
            </a:xfrm>
          </p:grpSpPr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7AF6236C-883E-434F-B649-00D2A7A77EA1}"/>
                  </a:ext>
                </a:extLst>
              </p:cNvPr>
              <p:cNvSpPr/>
              <p:nvPr/>
            </p:nvSpPr>
            <p:spPr bwMode="auto">
              <a:xfrm>
                <a:off x="4115975" y="4399471"/>
                <a:ext cx="700069" cy="36933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REQM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DBC1E939-AF69-457D-B699-4EA16DCBEAF3}"/>
                  </a:ext>
                </a:extLst>
              </p:cNvPr>
              <p:cNvSpPr/>
              <p:nvPr/>
            </p:nvSpPr>
            <p:spPr bwMode="auto">
              <a:xfrm>
                <a:off x="4816044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256378B8-EDDC-4D51-B116-C2A8AB5E059C}"/>
                  </a:ext>
                </a:extLst>
              </p:cNvPr>
              <p:cNvSpPr/>
              <p:nvPr/>
            </p:nvSpPr>
            <p:spPr bwMode="auto">
              <a:xfrm>
                <a:off x="5519961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A6C29C96-3CA3-462C-A277-2D7585418DE3}"/>
                  </a:ext>
                </a:extLst>
              </p:cNvPr>
              <p:cNvSpPr/>
              <p:nvPr/>
            </p:nvSpPr>
            <p:spPr bwMode="auto">
              <a:xfrm>
                <a:off x="6223879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39EDF6D-D27D-4C14-97C3-F7C40004EAC7}"/>
                  </a:ext>
                </a:extLst>
              </p:cNvPr>
              <p:cNvSpPr/>
              <p:nvPr/>
            </p:nvSpPr>
            <p:spPr bwMode="auto">
              <a:xfrm>
                <a:off x="692382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1923B8F5-6360-4AB1-AB18-8472B59437A6}"/>
                  </a:ext>
                </a:extLst>
              </p:cNvPr>
              <p:cNvSpPr/>
              <p:nvPr/>
            </p:nvSpPr>
            <p:spPr bwMode="auto">
              <a:xfrm>
                <a:off x="762377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E6385053-DEE4-4797-88E2-E0E309724CBC}"/>
                  </a:ext>
                </a:extLst>
              </p:cNvPr>
              <p:cNvSpPr/>
              <p:nvPr/>
            </p:nvSpPr>
            <p:spPr bwMode="auto">
              <a:xfrm>
                <a:off x="832360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86" name="文字方塊 185">
              <a:extLst>
                <a:ext uri="{FF2B5EF4-FFF2-40B4-BE49-F238E27FC236}">
                  <a16:creationId xmlns:a16="http://schemas.microsoft.com/office/drawing/2014/main" id="{A5A9AE43-9BCE-41AF-9EB7-44138AF14681}"/>
                </a:ext>
              </a:extLst>
            </p:cNvPr>
            <p:cNvSpPr txBox="1"/>
            <p:nvPr/>
          </p:nvSpPr>
          <p:spPr>
            <a:xfrm>
              <a:off x="4208282" y="2643463"/>
              <a:ext cx="652759" cy="276999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HELO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EAB28B86-0AF8-4E1F-8BCB-D577613BC783}"/>
                </a:ext>
              </a:extLst>
            </p:cNvPr>
            <p:cNvSpPr txBox="1"/>
            <p:nvPr/>
          </p:nvSpPr>
          <p:spPr>
            <a:xfrm>
              <a:off x="4906802" y="263998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D9D9325A-AD67-45F6-B413-89182069A08C}"/>
                </a:ext>
              </a:extLst>
            </p:cNvPr>
            <p:cNvSpPr txBox="1"/>
            <p:nvPr/>
          </p:nvSpPr>
          <p:spPr>
            <a:xfrm>
              <a:off x="5613789" y="2639979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8706355D-B1E3-42E2-8EEC-990B3767553B}"/>
                </a:ext>
              </a:extLst>
            </p:cNvPr>
            <p:cNvSpPr txBox="1"/>
            <p:nvPr/>
          </p:nvSpPr>
          <p:spPr>
            <a:xfrm>
              <a:off x="6320776" y="2639978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0" name="文字方塊 189">
              <a:extLst>
                <a:ext uri="{FF2B5EF4-FFF2-40B4-BE49-F238E27FC236}">
                  <a16:creationId xmlns:a16="http://schemas.microsoft.com/office/drawing/2014/main" id="{A012B07F-B653-4C0E-AB54-3E508DAF7EEC}"/>
                </a:ext>
              </a:extLst>
            </p:cNvPr>
            <p:cNvSpPr txBox="1"/>
            <p:nvPr/>
          </p:nvSpPr>
          <p:spPr>
            <a:xfrm>
              <a:off x="7044257" y="65627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D052FA9-21C0-456C-92BC-3EC605E19AD4}"/>
                </a:ext>
              </a:extLst>
            </p:cNvPr>
            <p:cNvSpPr txBox="1"/>
            <p:nvPr/>
          </p:nvSpPr>
          <p:spPr>
            <a:xfrm>
              <a:off x="7763886" y="2432739"/>
              <a:ext cx="652759" cy="461665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CRC32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</a:t>
              </a: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905C1BF8-904A-4864-A2EA-5833B01551E4}"/>
                </a:ext>
              </a:extLst>
            </p:cNvPr>
            <p:cNvSpPr txBox="1"/>
            <p:nvPr/>
          </p:nvSpPr>
          <p:spPr>
            <a:xfrm>
              <a:off x="7044257" y="95078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3" name="文字方塊 192">
              <a:extLst>
                <a:ext uri="{FF2B5EF4-FFF2-40B4-BE49-F238E27FC236}">
                  <a16:creationId xmlns:a16="http://schemas.microsoft.com/office/drawing/2014/main" id="{4A483582-4767-4F46-A169-3F8B892E863C}"/>
                </a:ext>
              </a:extLst>
            </p:cNvPr>
            <p:cNvSpPr txBox="1"/>
            <p:nvPr/>
          </p:nvSpPr>
          <p:spPr>
            <a:xfrm>
              <a:off x="7044257" y="124529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4" name="文字方塊 193">
              <a:extLst>
                <a:ext uri="{FF2B5EF4-FFF2-40B4-BE49-F238E27FC236}">
                  <a16:creationId xmlns:a16="http://schemas.microsoft.com/office/drawing/2014/main" id="{1937493F-9A76-4587-BFE0-965420372591}"/>
                </a:ext>
              </a:extLst>
            </p:cNvPr>
            <p:cNvSpPr txBox="1"/>
            <p:nvPr/>
          </p:nvSpPr>
          <p:spPr>
            <a:xfrm>
              <a:off x="7044257" y="153980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5" name="文字方塊 194">
              <a:extLst>
                <a:ext uri="{FF2B5EF4-FFF2-40B4-BE49-F238E27FC236}">
                  <a16:creationId xmlns:a16="http://schemas.microsoft.com/office/drawing/2014/main" id="{6E9E3062-10DA-4A66-A25B-0ED7E795E73E}"/>
                </a:ext>
              </a:extLst>
            </p:cNvPr>
            <p:cNvSpPr txBox="1"/>
            <p:nvPr/>
          </p:nvSpPr>
          <p:spPr>
            <a:xfrm>
              <a:off x="7044257" y="183431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6" name="文字方塊 195">
              <a:extLst>
                <a:ext uri="{FF2B5EF4-FFF2-40B4-BE49-F238E27FC236}">
                  <a16:creationId xmlns:a16="http://schemas.microsoft.com/office/drawing/2014/main" id="{2CE70829-112D-4554-8775-0E03F95D4113}"/>
                </a:ext>
              </a:extLst>
            </p:cNvPr>
            <p:cNvSpPr txBox="1"/>
            <p:nvPr/>
          </p:nvSpPr>
          <p:spPr>
            <a:xfrm>
              <a:off x="7044257" y="212882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7" name="文字方塊 196">
              <a:extLst>
                <a:ext uri="{FF2B5EF4-FFF2-40B4-BE49-F238E27FC236}">
                  <a16:creationId xmlns:a16="http://schemas.microsoft.com/office/drawing/2014/main" id="{F5B1AF11-1387-414F-AEC9-0C7A76D91D33}"/>
                </a:ext>
              </a:extLst>
            </p:cNvPr>
            <p:cNvSpPr txBox="1"/>
            <p:nvPr/>
          </p:nvSpPr>
          <p:spPr>
            <a:xfrm>
              <a:off x="7044257" y="2638975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8" name="文字方塊 197">
              <a:extLst>
                <a:ext uri="{FF2B5EF4-FFF2-40B4-BE49-F238E27FC236}">
                  <a16:creationId xmlns:a16="http://schemas.microsoft.com/office/drawing/2014/main" id="{BA832775-5213-49CB-99C0-299E8A04C2D6}"/>
                </a:ext>
              </a:extLst>
            </p:cNvPr>
            <p:cNvSpPr txBox="1"/>
            <p:nvPr/>
          </p:nvSpPr>
          <p:spPr>
            <a:xfrm>
              <a:off x="7240816" y="2423330"/>
              <a:ext cx="369332" cy="1981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TW" sz="1200" dirty="0">
                  <a:solidFill>
                    <a:prstClr val="black"/>
                  </a:solidFill>
                  <a:latin typeface="Calibri" panose="020F0502020204030204"/>
                </a:rPr>
                <a:t>…</a:t>
              </a:r>
              <a:endParaRPr kumimoji="0" lang="zh-TW" alt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9" name="文字方塊 198">
              <a:extLst>
                <a:ext uri="{FF2B5EF4-FFF2-40B4-BE49-F238E27FC236}">
                  <a16:creationId xmlns:a16="http://schemas.microsoft.com/office/drawing/2014/main" id="{04EF7619-8876-4415-A087-5D06AB1579FC}"/>
                </a:ext>
              </a:extLst>
            </p:cNvPr>
            <p:cNvSpPr txBox="1"/>
            <p:nvPr/>
          </p:nvSpPr>
          <p:spPr>
            <a:xfrm>
              <a:off x="4172581" y="2335685"/>
              <a:ext cx="24476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zh-TW" altLang="en-US" sz="14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沒有</a:t>
              </a:r>
              <a:r>
                <a:rPr kumimoji="0" lang="en-US" altLang="zh-TW" sz="14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HELO</a:t>
              </a:r>
              <a:r>
                <a:rPr kumimoji="0" lang="zh-TW" altLang="en-US" sz="14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這個命令</a:t>
              </a:r>
            </a:p>
          </p:txBody>
        </p:sp>
        <p:sp>
          <p:nvSpPr>
            <p:cNvPr id="200" name="文字方塊 199">
              <a:extLst>
                <a:ext uri="{FF2B5EF4-FFF2-40B4-BE49-F238E27FC236}">
                  <a16:creationId xmlns:a16="http://schemas.microsoft.com/office/drawing/2014/main" id="{94DD7A4C-1AE3-4FF4-B12A-0A530C9CB7AF}"/>
                </a:ext>
              </a:extLst>
            </p:cNvPr>
            <p:cNvSpPr txBox="1"/>
            <p:nvPr/>
          </p:nvSpPr>
          <p:spPr>
            <a:xfrm>
              <a:off x="3505374" y="2641112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REQM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1" name="文字方塊 200">
              <a:extLst>
                <a:ext uri="{FF2B5EF4-FFF2-40B4-BE49-F238E27FC236}">
                  <a16:creationId xmlns:a16="http://schemas.microsoft.com/office/drawing/2014/main" id="{B000012D-8792-44EE-B9E2-0E9EEF4542B1}"/>
                </a:ext>
              </a:extLst>
            </p:cNvPr>
            <p:cNvSpPr txBox="1"/>
            <p:nvPr/>
          </p:nvSpPr>
          <p:spPr>
            <a:xfrm>
              <a:off x="3513491" y="430520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RSPM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25F85F03-3831-4307-BB8D-7FA1325F5575}"/>
                </a:ext>
              </a:extLst>
            </p:cNvPr>
            <p:cNvSpPr txBox="1"/>
            <p:nvPr/>
          </p:nvSpPr>
          <p:spPr>
            <a:xfrm>
              <a:off x="4706124" y="5112006"/>
              <a:ext cx="1192651" cy="30777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回傳錯誤碼</a:t>
              </a:r>
            </a:p>
          </p:txBody>
        </p:sp>
        <p:cxnSp>
          <p:nvCxnSpPr>
            <p:cNvPr id="203" name="直線單箭頭接點 202">
              <a:extLst>
                <a:ext uri="{FF2B5EF4-FFF2-40B4-BE49-F238E27FC236}">
                  <a16:creationId xmlns:a16="http://schemas.microsoft.com/office/drawing/2014/main" id="{7A6FBFAD-B382-4473-BDD6-22572650382B}"/>
                </a:ext>
              </a:extLst>
            </p:cNvPr>
            <p:cNvCxnSpPr>
              <a:cxnSpLocks/>
              <a:stCxn id="202" idx="3"/>
              <a:endCxn id="168" idx="2"/>
            </p:cNvCxnSpPr>
            <p:nvPr/>
          </p:nvCxnSpPr>
          <p:spPr>
            <a:xfrm flipV="1">
              <a:off x="5898775" y="4582201"/>
              <a:ext cx="772170" cy="683694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4198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zh-TW" altLang="en-US" sz="2000" dirty="0"/>
              <a:t>上控發出命令正確，但目前系統錯誤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B0774821-3BBA-4CB2-B381-AE0A6D9FBDCA}"/>
              </a:ext>
            </a:extLst>
          </p:cNvPr>
          <p:cNvGrpSpPr/>
          <p:nvPr/>
        </p:nvGrpSpPr>
        <p:grpSpPr>
          <a:xfrm>
            <a:off x="671948" y="590038"/>
            <a:ext cx="8014852" cy="5908635"/>
            <a:chOff x="1942002" y="656270"/>
            <a:chExt cx="8014852" cy="5908635"/>
          </a:xfrm>
        </p:grpSpPr>
        <p:sp>
          <p:nvSpPr>
            <p:cNvPr id="153" name="矩形: 圓角 152">
              <a:extLst>
                <a:ext uri="{FF2B5EF4-FFF2-40B4-BE49-F238E27FC236}">
                  <a16:creationId xmlns:a16="http://schemas.microsoft.com/office/drawing/2014/main" id="{48C207E5-EB1A-4FED-8841-174DCA6A0D8E}"/>
                </a:ext>
              </a:extLst>
            </p:cNvPr>
            <p:cNvSpPr/>
            <p:nvPr/>
          </p:nvSpPr>
          <p:spPr>
            <a:xfrm>
              <a:off x="1942002" y="3062818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上控程式</a:t>
              </a:r>
            </a:p>
          </p:txBody>
        </p:sp>
        <p:sp>
          <p:nvSpPr>
            <p:cNvPr id="154" name="矩形: 圓角 153">
              <a:extLst>
                <a:ext uri="{FF2B5EF4-FFF2-40B4-BE49-F238E27FC236}">
                  <a16:creationId xmlns:a16="http://schemas.microsoft.com/office/drawing/2014/main" id="{8AD64F76-14ED-4B6B-8318-FA633917B777}"/>
                </a:ext>
              </a:extLst>
            </p:cNvPr>
            <p:cNvSpPr/>
            <p:nvPr/>
          </p:nvSpPr>
          <p:spPr>
            <a:xfrm>
              <a:off x="8606036" y="3062818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新細明體" panose="02020500000000000000" pitchFamily="18" charset="-120"/>
                  <a:cs typeface="+mn-cs"/>
                </a:rPr>
                <a:t>RASeMIO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55" name="直線單箭頭接點 154">
              <a:extLst>
                <a:ext uri="{FF2B5EF4-FFF2-40B4-BE49-F238E27FC236}">
                  <a16:creationId xmlns:a16="http://schemas.microsoft.com/office/drawing/2014/main" id="{A70C20FD-3377-4DD2-9BEE-83FD87C83BDB}"/>
                </a:ext>
              </a:extLst>
            </p:cNvPr>
            <p:cNvCxnSpPr>
              <a:cxnSpLocks/>
            </p:cNvCxnSpPr>
            <p:nvPr/>
          </p:nvCxnSpPr>
          <p:spPr>
            <a:xfrm>
              <a:off x="3292820" y="3691814"/>
              <a:ext cx="53132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56" name="直線單箭頭接點 155">
              <a:extLst>
                <a:ext uri="{FF2B5EF4-FFF2-40B4-BE49-F238E27FC236}">
                  <a16:creationId xmlns:a16="http://schemas.microsoft.com/office/drawing/2014/main" id="{EDFFDD14-26E5-4D24-931A-F657A053296F}"/>
                </a:ext>
              </a:extLst>
            </p:cNvPr>
            <p:cNvCxnSpPr/>
            <p:nvPr/>
          </p:nvCxnSpPr>
          <p:spPr>
            <a:xfrm>
              <a:off x="3292820" y="3431348"/>
              <a:ext cx="53132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57" name="群組 156">
              <a:extLst>
                <a:ext uri="{FF2B5EF4-FFF2-40B4-BE49-F238E27FC236}">
                  <a16:creationId xmlns:a16="http://schemas.microsoft.com/office/drawing/2014/main" id="{F68898BB-7E72-4748-91E3-79CE457513E6}"/>
                </a:ext>
              </a:extLst>
            </p:cNvPr>
            <p:cNvGrpSpPr/>
            <p:nvPr/>
          </p:nvGrpSpPr>
          <p:grpSpPr>
            <a:xfrm>
              <a:off x="3499746" y="3845850"/>
              <a:ext cx="4907702" cy="369332"/>
              <a:chOff x="4115975" y="4399471"/>
              <a:chExt cx="4907702" cy="369332"/>
            </a:xfrm>
          </p:grpSpPr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CC87A6F5-7FCC-4BF2-B62B-17A1250AF266}"/>
                  </a:ext>
                </a:extLst>
              </p:cNvPr>
              <p:cNvSpPr/>
              <p:nvPr/>
            </p:nvSpPr>
            <p:spPr bwMode="auto">
              <a:xfrm>
                <a:off x="4115975" y="4399471"/>
                <a:ext cx="700069" cy="36933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RSPM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B3FA2417-12F5-46DE-965F-AF9F9F702704}"/>
                  </a:ext>
                </a:extLst>
              </p:cNvPr>
              <p:cNvSpPr/>
              <p:nvPr/>
            </p:nvSpPr>
            <p:spPr bwMode="auto">
              <a:xfrm>
                <a:off x="4816044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1F221B02-9926-49A4-8170-085F165254E8}"/>
                  </a:ext>
                </a:extLst>
              </p:cNvPr>
              <p:cNvSpPr/>
              <p:nvPr/>
            </p:nvSpPr>
            <p:spPr bwMode="auto">
              <a:xfrm>
                <a:off x="5519961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55E49B5-28BA-43F4-91AE-797E8ADB9934}"/>
                  </a:ext>
                </a:extLst>
              </p:cNvPr>
              <p:cNvSpPr/>
              <p:nvPr/>
            </p:nvSpPr>
            <p:spPr bwMode="auto">
              <a:xfrm>
                <a:off x="6223879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A4699B19-54C6-40B7-897D-2238C9C656F5}"/>
                  </a:ext>
                </a:extLst>
              </p:cNvPr>
              <p:cNvSpPr/>
              <p:nvPr/>
            </p:nvSpPr>
            <p:spPr bwMode="auto">
              <a:xfrm>
                <a:off x="692382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BEB996E2-06F2-47C2-AC8F-CB9E96978181}"/>
                  </a:ext>
                </a:extLst>
              </p:cNvPr>
              <p:cNvSpPr/>
              <p:nvPr/>
            </p:nvSpPr>
            <p:spPr bwMode="auto">
              <a:xfrm>
                <a:off x="762377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2A469082-82D9-45E6-9FFC-1E8E7CE10664}"/>
                  </a:ext>
                </a:extLst>
              </p:cNvPr>
              <p:cNvSpPr/>
              <p:nvPr/>
            </p:nvSpPr>
            <p:spPr bwMode="auto">
              <a:xfrm>
                <a:off x="832360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07B58657-6AAF-44B2-A8DD-2AD0BD053115}"/>
                </a:ext>
              </a:extLst>
            </p:cNvPr>
            <p:cNvSpPr txBox="1"/>
            <p:nvPr/>
          </p:nvSpPr>
          <p:spPr>
            <a:xfrm>
              <a:off x="4223604" y="4308687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MOVJ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758C010E-3B7F-45F2-8C8E-05067B016145}"/>
                </a:ext>
              </a:extLst>
            </p:cNvPr>
            <p:cNvSpPr txBox="1"/>
            <p:nvPr/>
          </p:nvSpPr>
          <p:spPr>
            <a:xfrm>
              <a:off x="4930591" y="4305204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C434EC0E-6212-479A-B282-42B3C61889F9}"/>
                </a:ext>
              </a:extLst>
            </p:cNvPr>
            <p:cNvSpPr txBox="1"/>
            <p:nvPr/>
          </p:nvSpPr>
          <p:spPr>
            <a:xfrm>
              <a:off x="5637578" y="4305203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B39313EA-A14C-47A2-A02C-75EEDD036216}"/>
                </a:ext>
              </a:extLst>
            </p:cNvPr>
            <p:cNvSpPr txBox="1"/>
            <p:nvPr/>
          </p:nvSpPr>
          <p:spPr>
            <a:xfrm>
              <a:off x="6344565" y="4305202"/>
              <a:ext cx="652759" cy="276999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kern="0" spc="-100" dirty="0">
                  <a:solidFill>
                    <a:prstClr val="black"/>
                  </a:solidFill>
                  <a:latin typeface="Calibri" panose="020F0502020204030204"/>
                </a:rPr>
                <a:t>2</a:t>
              </a: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21CC8086-1D15-4DEC-A2B9-B93804173628}"/>
                </a:ext>
              </a:extLst>
            </p:cNvPr>
            <p:cNvSpPr txBox="1"/>
            <p:nvPr/>
          </p:nvSpPr>
          <p:spPr>
            <a:xfrm>
              <a:off x="7048425" y="430520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2F6B2C03-C413-4D3D-AE4C-1C53F578AFFC}"/>
                </a:ext>
              </a:extLst>
            </p:cNvPr>
            <p:cNvSpPr txBox="1"/>
            <p:nvPr/>
          </p:nvSpPr>
          <p:spPr>
            <a:xfrm>
              <a:off x="7758538" y="4305200"/>
              <a:ext cx="652759" cy="461665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CRC32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</a:t>
              </a: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9D8E7D0C-A9E4-4ED0-B5F3-CFA6E648F628}"/>
                </a:ext>
              </a:extLst>
            </p:cNvPr>
            <p:cNvSpPr txBox="1"/>
            <p:nvPr/>
          </p:nvSpPr>
          <p:spPr>
            <a:xfrm>
              <a:off x="7048425" y="459971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A51FA49D-FD0C-4BB4-9C9D-6808599F0288}"/>
                </a:ext>
              </a:extLst>
            </p:cNvPr>
            <p:cNvSpPr txBox="1"/>
            <p:nvPr/>
          </p:nvSpPr>
          <p:spPr>
            <a:xfrm>
              <a:off x="7048425" y="489422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id="{014C560E-5936-4901-AE7F-EED59BC8439D}"/>
                </a:ext>
              </a:extLst>
            </p:cNvPr>
            <p:cNvSpPr txBox="1"/>
            <p:nvPr/>
          </p:nvSpPr>
          <p:spPr>
            <a:xfrm>
              <a:off x="7048425" y="518873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E11B30C8-AFB0-43B5-89EF-328D6BCA1270}"/>
                </a:ext>
              </a:extLst>
            </p:cNvPr>
            <p:cNvSpPr txBox="1"/>
            <p:nvPr/>
          </p:nvSpPr>
          <p:spPr>
            <a:xfrm>
              <a:off x="7048425" y="548324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6F8E035B-00B9-4730-B44C-A7136DEF86BF}"/>
                </a:ext>
              </a:extLst>
            </p:cNvPr>
            <p:cNvSpPr txBox="1"/>
            <p:nvPr/>
          </p:nvSpPr>
          <p:spPr>
            <a:xfrm>
              <a:off x="7048425" y="577775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51581400-4426-4A1A-88B0-BA34F2EC921E}"/>
                </a:ext>
              </a:extLst>
            </p:cNvPr>
            <p:cNvSpPr txBox="1"/>
            <p:nvPr/>
          </p:nvSpPr>
          <p:spPr>
            <a:xfrm>
              <a:off x="7048425" y="6287906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18076B60-237F-4EAE-AFA0-FF73E1D521EE}"/>
                </a:ext>
              </a:extLst>
            </p:cNvPr>
            <p:cNvSpPr txBox="1"/>
            <p:nvPr/>
          </p:nvSpPr>
          <p:spPr>
            <a:xfrm>
              <a:off x="7244984" y="6072261"/>
              <a:ext cx="369332" cy="1981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TW" sz="1200" dirty="0">
                  <a:solidFill>
                    <a:prstClr val="black"/>
                  </a:solidFill>
                  <a:latin typeface="Calibri" panose="020F0502020204030204"/>
                </a:rPr>
                <a:t>…</a:t>
              </a:r>
              <a:endParaRPr kumimoji="0" lang="zh-TW" alt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76122969-F1A5-4674-B8F5-068050DF995A}"/>
                </a:ext>
              </a:extLst>
            </p:cNvPr>
            <p:cNvGrpSpPr/>
            <p:nvPr/>
          </p:nvGrpSpPr>
          <p:grpSpPr>
            <a:xfrm>
              <a:off x="3499746" y="2948263"/>
              <a:ext cx="4907702" cy="369332"/>
              <a:chOff x="4115975" y="4399471"/>
              <a:chExt cx="4907702" cy="369332"/>
            </a:xfrm>
          </p:grpSpPr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7AF6236C-883E-434F-B649-00D2A7A77EA1}"/>
                  </a:ext>
                </a:extLst>
              </p:cNvPr>
              <p:cNvSpPr/>
              <p:nvPr/>
            </p:nvSpPr>
            <p:spPr bwMode="auto">
              <a:xfrm>
                <a:off x="4115975" y="4399471"/>
                <a:ext cx="700069" cy="36933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REQM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DBC1E939-AF69-457D-B699-4EA16DCBEAF3}"/>
                  </a:ext>
                </a:extLst>
              </p:cNvPr>
              <p:cNvSpPr/>
              <p:nvPr/>
            </p:nvSpPr>
            <p:spPr bwMode="auto">
              <a:xfrm>
                <a:off x="4816044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256378B8-EDDC-4D51-B116-C2A8AB5E059C}"/>
                  </a:ext>
                </a:extLst>
              </p:cNvPr>
              <p:cNvSpPr/>
              <p:nvPr/>
            </p:nvSpPr>
            <p:spPr bwMode="auto">
              <a:xfrm>
                <a:off x="5519961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A6C29C96-3CA3-462C-A277-2D7585418DE3}"/>
                  </a:ext>
                </a:extLst>
              </p:cNvPr>
              <p:cNvSpPr/>
              <p:nvPr/>
            </p:nvSpPr>
            <p:spPr bwMode="auto">
              <a:xfrm>
                <a:off x="6223879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39EDF6D-D27D-4C14-97C3-F7C40004EAC7}"/>
                  </a:ext>
                </a:extLst>
              </p:cNvPr>
              <p:cNvSpPr/>
              <p:nvPr/>
            </p:nvSpPr>
            <p:spPr bwMode="auto">
              <a:xfrm>
                <a:off x="692382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1923B8F5-6360-4AB1-AB18-8472B59437A6}"/>
                  </a:ext>
                </a:extLst>
              </p:cNvPr>
              <p:cNvSpPr/>
              <p:nvPr/>
            </p:nvSpPr>
            <p:spPr bwMode="auto">
              <a:xfrm>
                <a:off x="762377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E6385053-DEE4-4797-88E2-E0E309724CBC}"/>
                  </a:ext>
                </a:extLst>
              </p:cNvPr>
              <p:cNvSpPr/>
              <p:nvPr/>
            </p:nvSpPr>
            <p:spPr bwMode="auto">
              <a:xfrm>
                <a:off x="8323608" y="4399471"/>
                <a:ext cx="700069" cy="369332"/>
              </a:xfrm>
              <a:prstGeom prst="rect">
                <a:avLst/>
              </a:prstGeom>
              <a:no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CRC32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86" name="文字方塊 185">
              <a:extLst>
                <a:ext uri="{FF2B5EF4-FFF2-40B4-BE49-F238E27FC236}">
                  <a16:creationId xmlns:a16="http://schemas.microsoft.com/office/drawing/2014/main" id="{A5A9AE43-9BCE-41AF-9EB7-44138AF14681}"/>
                </a:ext>
              </a:extLst>
            </p:cNvPr>
            <p:cNvSpPr txBox="1"/>
            <p:nvPr/>
          </p:nvSpPr>
          <p:spPr>
            <a:xfrm>
              <a:off x="4208282" y="2643463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0" cap="none" spc="-10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defRPr>
              </a:lvl1pPr>
            </a:lstStyle>
            <a:p>
              <a:r>
                <a:rPr lang="en-US" altLang="zh-TW" dirty="0"/>
                <a:t>MOVJ</a:t>
              </a:r>
              <a:endParaRPr lang="zh-TW" altLang="en-US" dirty="0"/>
            </a:p>
          </p:txBody>
        </p: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EAB28B86-0AF8-4E1F-8BCB-D577613BC783}"/>
                </a:ext>
              </a:extLst>
            </p:cNvPr>
            <p:cNvSpPr txBox="1"/>
            <p:nvPr/>
          </p:nvSpPr>
          <p:spPr>
            <a:xfrm>
              <a:off x="4906802" y="263998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D9D9325A-AD67-45F6-B413-89182069A08C}"/>
                </a:ext>
              </a:extLst>
            </p:cNvPr>
            <p:cNvSpPr txBox="1"/>
            <p:nvPr/>
          </p:nvSpPr>
          <p:spPr>
            <a:xfrm>
              <a:off x="5613789" y="2639979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8706355D-B1E3-42E2-8EEC-990B3767553B}"/>
                </a:ext>
              </a:extLst>
            </p:cNvPr>
            <p:cNvSpPr txBox="1"/>
            <p:nvPr/>
          </p:nvSpPr>
          <p:spPr>
            <a:xfrm>
              <a:off x="6320776" y="2639978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0" name="文字方塊 189">
              <a:extLst>
                <a:ext uri="{FF2B5EF4-FFF2-40B4-BE49-F238E27FC236}">
                  <a16:creationId xmlns:a16="http://schemas.microsoft.com/office/drawing/2014/main" id="{A012B07F-B653-4C0E-AB54-3E508DAF7EEC}"/>
                </a:ext>
              </a:extLst>
            </p:cNvPr>
            <p:cNvSpPr txBox="1"/>
            <p:nvPr/>
          </p:nvSpPr>
          <p:spPr>
            <a:xfrm>
              <a:off x="7044257" y="65627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D052FA9-21C0-456C-92BC-3EC605E19AD4}"/>
                </a:ext>
              </a:extLst>
            </p:cNvPr>
            <p:cNvSpPr txBox="1"/>
            <p:nvPr/>
          </p:nvSpPr>
          <p:spPr>
            <a:xfrm>
              <a:off x="7763886" y="2432739"/>
              <a:ext cx="652759" cy="461665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CRC32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</a:t>
              </a: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905C1BF8-904A-4864-A2EA-5833B01551E4}"/>
                </a:ext>
              </a:extLst>
            </p:cNvPr>
            <p:cNvSpPr txBox="1"/>
            <p:nvPr/>
          </p:nvSpPr>
          <p:spPr>
            <a:xfrm>
              <a:off x="7044257" y="95078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3" name="文字方塊 192">
              <a:extLst>
                <a:ext uri="{FF2B5EF4-FFF2-40B4-BE49-F238E27FC236}">
                  <a16:creationId xmlns:a16="http://schemas.microsoft.com/office/drawing/2014/main" id="{4A483582-4767-4F46-A169-3F8B892E863C}"/>
                </a:ext>
              </a:extLst>
            </p:cNvPr>
            <p:cNvSpPr txBox="1"/>
            <p:nvPr/>
          </p:nvSpPr>
          <p:spPr>
            <a:xfrm>
              <a:off x="7044257" y="124529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4" name="文字方塊 193">
              <a:extLst>
                <a:ext uri="{FF2B5EF4-FFF2-40B4-BE49-F238E27FC236}">
                  <a16:creationId xmlns:a16="http://schemas.microsoft.com/office/drawing/2014/main" id="{1937493F-9A76-4587-BFE0-965420372591}"/>
                </a:ext>
              </a:extLst>
            </p:cNvPr>
            <p:cNvSpPr txBox="1"/>
            <p:nvPr/>
          </p:nvSpPr>
          <p:spPr>
            <a:xfrm>
              <a:off x="7044257" y="153980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5" name="文字方塊 194">
              <a:extLst>
                <a:ext uri="{FF2B5EF4-FFF2-40B4-BE49-F238E27FC236}">
                  <a16:creationId xmlns:a16="http://schemas.microsoft.com/office/drawing/2014/main" id="{6E9E3062-10DA-4A66-A25B-0ED7E795E73E}"/>
                </a:ext>
              </a:extLst>
            </p:cNvPr>
            <p:cNvSpPr txBox="1"/>
            <p:nvPr/>
          </p:nvSpPr>
          <p:spPr>
            <a:xfrm>
              <a:off x="7044257" y="183431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6" name="文字方塊 195">
              <a:extLst>
                <a:ext uri="{FF2B5EF4-FFF2-40B4-BE49-F238E27FC236}">
                  <a16:creationId xmlns:a16="http://schemas.microsoft.com/office/drawing/2014/main" id="{2CE70829-112D-4554-8775-0E03F95D4113}"/>
                </a:ext>
              </a:extLst>
            </p:cNvPr>
            <p:cNvSpPr txBox="1"/>
            <p:nvPr/>
          </p:nvSpPr>
          <p:spPr>
            <a:xfrm>
              <a:off x="7044257" y="2128820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7" name="文字方塊 196">
              <a:extLst>
                <a:ext uri="{FF2B5EF4-FFF2-40B4-BE49-F238E27FC236}">
                  <a16:creationId xmlns:a16="http://schemas.microsoft.com/office/drawing/2014/main" id="{F5B1AF11-1387-414F-AEC9-0C7A76D91D33}"/>
                </a:ext>
              </a:extLst>
            </p:cNvPr>
            <p:cNvSpPr txBox="1"/>
            <p:nvPr/>
          </p:nvSpPr>
          <p:spPr>
            <a:xfrm>
              <a:off x="7044257" y="2638975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8" name="文字方塊 197">
              <a:extLst>
                <a:ext uri="{FF2B5EF4-FFF2-40B4-BE49-F238E27FC236}">
                  <a16:creationId xmlns:a16="http://schemas.microsoft.com/office/drawing/2014/main" id="{BA832775-5213-49CB-99C0-299E8A04C2D6}"/>
                </a:ext>
              </a:extLst>
            </p:cNvPr>
            <p:cNvSpPr txBox="1"/>
            <p:nvPr/>
          </p:nvSpPr>
          <p:spPr>
            <a:xfrm>
              <a:off x="7240816" y="2423330"/>
              <a:ext cx="369332" cy="1981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TW" sz="1200" dirty="0">
                  <a:solidFill>
                    <a:prstClr val="black"/>
                  </a:solidFill>
                  <a:latin typeface="Calibri" panose="020F0502020204030204"/>
                </a:rPr>
                <a:t>…</a:t>
              </a:r>
              <a:endParaRPr kumimoji="0" lang="zh-TW" alt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0" name="文字方塊 199">
              <a:extLst>
                <a:ext uri="{FF2B5EF4-FFF2-40B4-BE49-F238E27FC236}">
                  <a16:creationId xmlns:a16="http://schemas.microsoft.com/office/drawing/2014/main" id="{94DD7A4C-1AE3-4FF4-B12A-0A530C9CB7AF}"/>
                </a:ext>
              </a:extLst>
            </p:cNvPr>
            <p:cNvSpPr txBox="1"/>
            <p:nvPr/>
          </p:nvSpPr>
          <p:spPr>
            <a:xfrm>
              <a:off x="3505374" y="2641112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REQM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1" name="文字方塊 200">
              <a:extLst>
                <a:ext uri="{FF2B5EF4-FFF2-40B4-BE49-F238E27FC236}">
                  <a16:creationId xmlns:a16="http://schemas.microsoft.com/office/drawing/2014/main" id="{B000012D-8792-44EE-B9E2-0E9EEF4542B1}"/>
                </a:ext>
              </a:extLst>
            </p:cNvPr>
            <p:cNvSpPr txBox="1"/>
            <p:nvPr/>
          </p:nvSpPr>
          <p:spPr>
            <a:xfrm>
              <a:off x="3513491" y="4305201"/>
              <a:ext cx="652759" cy="276999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RSPM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25F85F03-3831-4307-BB8D-7FA1325F5575}"/>
                </a:ext>
              </a:extLst>
            </p:cNvPr>
            <p:cNvSpPr txBox="1"/>
            <p:nvPr/>
          </p:nvSpPr>
          <p:spPr>
            <a:xfrm>
              <a:off x="3513492" y="5112006"/>
              <a:ext cx="2385284" cy="30777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目前為錯誤碼</a:t>
              </a:r>
              <a:r>
                <a:rPr kumimoji="0" lang="en-US" altLang="zh-TW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200</a:t>
              </a:r>
              <a:r>
                <a:rPr kumimoji="0" lang="zh-TW" altLang="en-US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的錯誤狀態</a:t>
              </a:r>
            </a:p>
          </p:txBody>
        </p:sp>
        <p:cxnSp>
          <p:nvCxnSpPr>
            <p:cNvPr id="203" name="直線單箭頭接點 202">
              <a:extLst>
                <a:ext uri="{FF2B5EF4-FFF2-40B4-BE49-F238E27FC236}">
                  <a16:creationId xmlns:a16="http://schemas.microsoft.com/office/drawing/2014/main" id="{7A6FBFAD-B382-4473-BDD6-22572650382B}"/>
                </a:ext>
              </a:extLst>
            </p:cNvPr>
            <p:cNvCxnSpPr>
              <a:cxnSpLocks/>
              <a:stCxn id="202" idx="3"/>
              <a:endCxn id="168" idx="2"/>
            </p:cNvCxnSpPr>
            <p:nvPr/>
          </p:nvCxnSpPr>
          <p:spPr>
            <a:xfrm flipV="1">
              <a:off x="5898776" y="4582201"/>
              <a:ext cx="772169" cy="683694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86606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ERRC</a:t>
            </a:r>
          </a:p>
          <a:p>
            <a:pPr lvl="1"/>
            <a:r>
              <a:rPr lang="zh-TW" altLang="en-US" sz="2000" dirty="0"/>
              <a:t>取得錯誤碼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BAA27DC-EC30-4F69-9FAB-89259F7F8B18}"/>
              </a:ext>
            </a:extLst>
          </p:cNvPr>
          <p:cNvGrpSpPr/>
          <p:nvPr/>
        </p:nvGrpSpPr>
        <p:grpSpPr>
          <a:xfrm>
            <a:off x="671948" y="2049869"/>
            <a:ext cx="8014852" cy="3338231"/>
            <a:chOff x="671948" y="2049869"/>
            <a:chExt cx="8014852" cy="3338231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A022F90A-C3AB-4365-97CF-309C8E23CD80}"/>
                </a:ext>
              </a:extLst>
            </p:cNvPr>
            <p:cNvGrpSpPr/>
            <p:nvPr/>
          </p:nvGrpSpPr>
          <p:grpSpPr>
            <a:xfrm>
              <a:off x="2022766" y="2049869"/>
              <a:ext cx="5313216" cy="3338231"/>
              <a:chOff x="1908466" y="2083205"/>
              <a:chExt cx="5313216" cy="3338231"/>
            </a:xfrm>
          </p:grpSpPr>
          <p:cxnSp>
            <p:nvCxnSpPr>
              <p:cNvPr id="145" name="直線單箭頭接點 144">
                <a:extLst>
                  <a:ext uri="{FF2B5EF4-FFF2-40B4-BE49-F238E27FC236}">
                    <a16:creationId xmlns:a16="http://schemas.microsoft.com/office/drawing/2014/main" id="{C4A0690A-DB4C-436F-A47B-D7F093DA4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8466" y="3655163"/>
                <a:ext cx="5313216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5B0DE1A1-9AB1-4D7D-A5B1-EE38BFD28CF9}"/>
                  </a:ext>
                </a:extLst>
              </p:cNvPr>
              <p:cNvGrpSpPr/>
              <p:nvPr/>
            </p:nvGrpSpPr>
            <p:grpSpPr>
              <a:xfrm>
                <a:off x="2111223" y="3800235"/>
                <a:ext cx="4907702" cy="369332"/>
                <a:chOff x="4115975" y="4399471"/>
                <a:chExt cx="4907702" cy="369332"/>
              </a:xfrm>
            </p:grpSpPr>
            <p:sp>
              <p:nvSpPr>
                <p:cNvPr id="147" name="矩形 146">
                  <a:extLst>
                    <a:ext uri="{FF2B5EF4-FFF2-40B4-BE49-F238E27FC236}">
                      <a16:creationId xmlns:a16="http://schemas.microsoft.com/office/drawing/2014/main" id="{44C9E420-D860-46B2-8285-9784DB721ACB}"/>
                    </a:ext>
                  </a:extLst>
                </p:cNvPr>
                <p:cNvSpPr/>
                <p:nvPr/>
              </p:nvSpPr>
              <p:spPr bwMode="auto">
                <a:xfrm>
                  <a:off x="4115975" y="4399471"/>
                  <a:ext cx="700069" cy="369332"/>
                </a:xfrm>
                <a:prstGeom prst="rect">
                  <a:avLst/>
                </a:prstGeom>
                <a:solidFill>
                  <a:srgbClr val="FFC000">
                    <a:lumMod val="20000"/>
                    <a:lumOff val="80000"/>
                  </a:srgbClr>
                </a:solidFill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RSPM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97F1EDA4-3ED6-4AB4-9ECE-AC4321119EDF}"/>
                    </a:ext>
                  </a:extLst>
                </p:cNvPr>
                <p:cNvSpPr/>
                <p:nvPr/>
              </p:nvSpPr>
              <p:spPr bwMode="auto">
                <a:xfrm>
                  <a:off x="4816044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FUNC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77A375F8-E7E6-415B-B751-A55179971EEB}"/>
                    </a:ext>
                  </a:extLst>
                </p:cNvPr>
                <p:cNvSpPr/>
                <p:nvPr/>
              </p:nvSpPr>
              <p:spPr bwMode="auto">
                <a:xfrm>
                  <a:off x="5519961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TYPE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C9DD24B0-8BE6-42B9-9023-66BAF1E669B0}"/>
                    </a:ext>
                  </a:extLst>
                </p:cNvPr>
                <p:cNvSpPr/>
                <p:nvPr/>
              </p:nvSpPr>
              <p:spPr bwMode="auto">
                <a:xfrm>
                  <a:off x="6223879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MODE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6B7EA1D6-07D9-42A0-A493-F71D17C6EFDE}"/>
                    </a:ext>
                  </a:extLst>
                </p:cNvPr>
                <p:cNvSpPr/>
                <p:nvPr/>
              </p:nvSpPr>
              <p:spPr bwMode="auto">
                <a:xfrm>
                  <a:off x="692382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ERRC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7F2AAE9C-AD1B-405B-B021-EAD4DC6950ED}"/>
                    </a:ext>
                  </a:extLst>
                </p:cNvPr>
                <p:cNvSpPr/>
                <p:nvPr/>
              </p:nvSpPr>
              <p:spPr bwMode="auto">
                <a:xfrm>
                  <a:off x="762377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DATA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B244747C-2C51-484A-B2AF-E05A5A62BBDC}"/>
                    </a:ext>
                  </a:extLst>
                </p:cNvPr>
                <p:cNvSpPr/>
                <p:nvPr/>
              </p:nvSpPr>
              <p:spPr bwMode="auto">
                <a:xfrm>
                  <a:off x="832360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CRC32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1D12E3FE-1199-4F48-8FB7-33AD668E951B}"/>
                  </a:ext>
                </a:extLst>
              </p:cNvPr>
              <p:cNvSpPr txBox="1"/>
              <p:nvPr/>
            </p:nvSpPr>
            <p:spPr>
              <a:xfrm>
                <a:off x="2835081" y="4263072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ERRC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34FCC6F-04DF-4837-A9D7-B4D332921FAF}"/>
                  </a:ext>
                </a:extLst>
              </p:cNvPr>
              <p:cNvSpPr txBox="1"/>
              <p:nvPr/>
            </p:nvSpPr>
            <p:spPr>
              <a:xfrm>
                <a:off x="3542068" y="4259589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216BF2F5-15A8-4CF1-8F0E-A90565C7440A}"/>
                  </a:ext>
                </a:extLst>
              </p:cNvPr>
              <p:cNvSpPr txBox="1"/>
              <p:nvPr/>
            </p:nvSpPr>
            <p:spPr>
              <a:xfrm>
                <a:off x="4249055" y="4259588"/>
                <a:ext cx="652759" cy="276999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200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E79391EE-B8E9-4F57-ADD1-E692A588B62B}"/>
                  </a:ext>
                </a:extLst>
              </p:cNvPr>
              <p:cNvSpPr txBox="1"/>
              <p:nvPr/>
            </p:nvSpPr>
            <p:spPr>
              <a:xfrm>
                <a:off x="4956042" y="4259587"/>
                <a:ext cx="652759" cy="276999"/>
              </a:xfrm>
              <a:prstGeom prst="rect">
                <a:avLst/>
              </a:prstGeom>
              <a:solidFill>
                <a:srgbClr val="ED7D31">
                  <a:lumMod val="40000"/>
                  <a:lumOff val="6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200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38FC6DAF-62C1-4D0A-A47B-9FB9DA1DBBA6}"/>
                  </a:ext>
                </a:extLst>
              </p:cNvPr>
              <p:cNvSpPr txBox="1"/>
              <p:nvPr/>
            </p:nvSpPr>
            <p:spPr>
              <a:xfrm>
                <a:off x="5659902" y="4259586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98F3E9D1-DA84-421D-91EF-E6B737DB7288}"/>
                  </a:ext>
                </a:extLst>
              </p:cNvPr>
              <p:cNvSpPr txBox="1"/>
              <p:nvPr/>
            </p:nvSpPr>
            <p:spPr>
              <a:xfrm>
                <a:off x="6370015" y="4259585"/>
                <a:ext cx="652759" cy="461665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CRC32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</a:p>
            </p:txBody>
          </p:sp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D215D7C5-F135-4EC0-BEB3-20897A6E3252}"/>
                  </a:ext>
                </a:extLst>
              </p:cNvPr>
              <p:cNvSpPr txBox="1"/>
              <p:nvPr/>
            </p:nvSpPr>
            <p:spPr>
              <a:xfrm>
                <a:off x="5659902" y="4759717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4C2A9B88-9529-4959-875C-11EDCB3624E5}"/>
                  </a:ext>
                </a:extLst>
              </p:cNvPr>
              <p:cNvSpPr txBox="1"/>
              <p:nvPr/>
            </p:nvSpPr>
            <p:spPr>
              <a:xfrm>
                <a:off x="5856461" y="4544072"/>
                <a:ext cx="369332" cy="1981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TW" sz="1200" dirty="0">
                    <a:solidFill>
                      <a:prstClr val="black"/>
                    </a:solidFill>
                    <a:latin typeface="Calibri" panose="020F0502020204030204"/>
                  </a:rPr>
                  <a:t>…</a:t>
                </a:r>
                <a:endParaRPr kumimoji="0" lang="zh-TW" alt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62" name="群組 161">
                <a:extLst>
                  <a:ext uri="{FF2B5EF4-FFF2-40B4-BE49-F238E27FC236}">
                    <a16:creationId xmlns:a16="http://schemas.microsoft.com/office/drawing/2014/main" id="{B28BD2B0-1D65-4065-ABBE-32C30122A540}"/>
                  </a:ext>
                </a:extLst>
              </p:cNvPr>
              <p:cNvGrpSpPr/>
              <p:nvPr/>
            </p:nvGrpSpPr>
            <p:grpSpPr>
              <a:xfrm>
                <a:off x="2111223" y="2902648"/>
                <a:ext cx="4907702" cy="369332"/>
                <a:chOff x="4115975" y="4399471"/>
                <a:chExt cx="4907702" cy="369332"/>
              </a:xfrm>
            </p:grpSpPr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48BA02B3-9F6D-4790-98AD-1044CAA56260}"/>
                    </a:ext>
                  </a:extLst>
                </p:cNvPr>
                <p:cNvSpPr/>
                <p:nvPr/>
              </p:nvSpPr>
              <p:spPr bwMode="auto">
                <a:xfrm>
                  <a:off x="4115975" y="4399471"/>
                  <a:ext cx="700069" cy="369332"/>
                </a:xfrm>
                <a:prstGeom prst="rect">
                  <a:avLst/>
                </a:prstGeom>
                <a:solidFill>
                  <a:srgbClr val="FFC000">
                    <a:lumMod val="20000"/>
                    <a:lumOff val="80000"/>
                  </a:srgbClr>
                </a:solidFill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REQM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A3F81DB8-43B4-42AD-AC51-3DBB6B0761F0}"/>
                    </a:ext>
                  </a:extLst>
                </p:cNvPr>
                <p:cNvSpPr/>
                <p:nvPr/>
              </p:nvSpPr>
              <p:spPr bwMode="auto">
                <a:xfrm>
                  <a:off x="4816044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FUNC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845D5A9B-6FFB-4189-8868-FCA13E3EEDB3}"/>
                    </a:ext>
                  </a:extLst>
                </p:cNvPr>
                <p:cNvSpPr/>
                <p:nvPr/>
              </p:nvSpPr>
              <p:spPr bwMode="auto">
                <a:xfrm>
                  <a:off x="5519961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TYPE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6" name="矩形 165">
                  <a:extLst>
                    <a:ext uri="{FF2B5EF4-FFF2-40B4-BE49-F238E27FC236}">
                      <a16:creationId xmlns:a16="http://schemas.microsoft.com/office/drawing/2014/main" id="{F5887A44-6271-43C9-95FF-6F09B927B0F8}"/>
                    </a:ext>
                  </a:extLst>
                </p:cNvPr>
                <p:cNvSpPr/>
                <p:nvPr/>
              </p:nvSpPr>
              <p:spPr bwMode="auto">
                <a:xfrm>
                  <a:off x="6223879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MODE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FF8ED645-EE26-436A-B9D4-CF82BB6C568B}"/>
                    </a:ext>
                  </a:extLst>
                </p:cNvPr>
                <p:cNvSpPr/>
                <p:nvPr/>
              </p:nvSpPr>
              <p:spPr bwMode="auto">
                <a:xfrm>
                  <a:off x="692382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ERRC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A42E1577-F6A3-441B-9446-5102D9898B3E}"/>
                    </a:ext>
                  </a:extLst>
                </p:cNvPr>
                <p:cNvSpPr/>
                <p:nvPr/>
              </p:nvSpPr>
              <p:spPr bwMode="auto">
                <a:xfrm>
                  <a:off x="762377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DATA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9" name="矩形 168">
                  <a:extLst>
                    <a:ext uri="{FF2B5EF4-FFF2-40B4-BE49-F238E27FC236}">
                      <a16:creationId xmlns:a16="http://schemas.microsoft.com/office/drawing/2014/main" id="{13165421-68F3-4906-B7DA-FB0594D062E5}"/>
                    </a:ext>
                  </a:extLst>
                </p:cNvPr>
                <p:cNvSpPr/>
                <p:nvPr/>
              </p:nvSpPr>
              <p:spPr bwMode="auto">
                <a:xfrm>
                  <a:off x="832360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CRC32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34783484-9476-4DB9-9AD0-8C8297754BCC}"/>
                  </a:ext>
                </a:extLst>
              </p:cNvPr>
              <p:cNvSpPr txBox="1"/>
              <p:nvPr/>
            </p:nvSpPr>
            <p:spPr>
              <a:xfrm>
                <a:off x="2811292" y="2597848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ERRC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F74CCE7E-422E-4872-9690-5AFECF5923B4}"/>
                  </a:ext>
                </a:extLst>
              </p:cNvPr>
              <p:cNvSpPr txBox="1"/>
              <p:nvPr/>
            </p:nvSpPr>
            <p:spPr>
              <a:xfrm>
                <a:off x="3518279" y="2594365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5F39302F-F37E-4674-96F9-9BF302778728}"/>
                  </a:ext>
                </a:extLst>
              </p:cNvPr>
              <p:cNvSpPr txBox="1"/>
              <p:nvPr/>
            </p:nvSpPr>
            <p:spPr>
              <a:xfrm>
                <a:off x="4225266" y="2594364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C62EE4F6-779D-43D1-A0BA-CEC4DD8A5C39}"/>
                  </a:ext>
                </a:extLst>
              </p:cNvPr>
              <p:cNvSpPr txBox="1"/>
              <p:nvPr/>
            </p:nvSpPr>
            <p:spPr>
              <a:xfrm>
                <a:off x="4932253" y="2594363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0868EDEC-7542-4A46-8AB9-E8E8B16D9A10}"/>
                  </a:ext>
                </a:extLst>
              </p:cNvPr>
              <p:cNvSpPr txBox="1"/>
              <p:nvPr/>
            </p:nvSpPr>
            <p:spPr>
              <a:xfrm>
                <a:off x="6375363" y="2387124"/>
                <a:ext cx="652759" cy="461665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CRC32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</a:p>
            </p:txBody>
          </p:sp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346F94F4-7217-44E0-8F78-6C9C94110AB6}"/>
                  </a:ext>
                </a:extLst>
              </p:cNvPr>
              <p:cNvSpPr txBox="1"/>
              <p:nvPr/>
            </p:nvSpPr>
            <p:spPr>
              <a:xfrm>
                <a:off x="5655734" y="2083205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9CBE5D05-FB46-486F-95B6-13D7379F9C45}"/>
                  </a:ext>
                </a:extLst>
              </p:cNvPr>
              <p:cNvSpPr txBox="1"/>
              <p:nvPr/>
            </p:nvSpPr>
            <p:spPr>
              <a:xfrm>
                <a:off x="5655734" y="2593360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D2DC98C4-7174-4879-A07A-A9F17826D576}"/>
                  </a:ext>
                </a:extLst>
              </p:cNvPr>
              <p:cNvSpPr txBox="1"/>
              <p:nvPr/>
            </p:nvSpPr>
            <p:spPr>
              <a:xfrm>
                <a:off x="5852293" y="2377715"/>
                <a:ext cx="369332" cy="1981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TW" sz="1200" dirty="0">
                    <a:solidFill>
                      <a:prstClr val="black"/>
                    </a:solidFill>
                    <a:latin typeface="Calibri" panose="020F0502020204030204"/>
                  </a:rPr>
                  <a:t>…</a:t>
                </a:r>
                <a:endParaRPr kumimoji="0" lang="zh-TW" alt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78" name="直線單箭頭接點 177">
                <a:extLst>
                  <a:ext uri="{FF2B5EF4-FFF2-40B4-BE49-F238E27FC236}">
                    <a16:creationId xmlns:a16="http://schemas.microsoft.com/office/drawing/2014/main" id="{F9B70BD7-E58F-4543-AA44-0AE277FD879C}"/>
                  </a:ext>
                </a:extLst>
              </p:cNvPr>
              <p:cNvCxnSpPr/>
              <p:nvPr/>
            </p:nvCxnSpPr>
            <p:spPr>
              <a:xfrm>
                <a:off x="1908466" y="3394697"/>
                <a:ext cx="5313216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5391A808-A9F8-4213-8B43-C3360601BB58}"/>
                  </a:ext>
                </a:extLst>
              </p:cNvPr>
              <p:cNvSpPr txBox="1"/>
              <p:nvPr/>
            </p:nvSpPr>
            <p:spPr>
              <a:xfrm>
                <a:off x="2116851" y="2595497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REQM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FDABAC8D-E4BA-46ED-B808-5529A22F80D3}"/>
                  </a:ext>
                </a:extLst>
              </p:cNvPr>
              <p:cNvSpPr txBox="1"/>
              <p:nvPr/>
            </p:nvSpPr>
            <p:spPr>
              <a:xfrm>
                <a:off x="2124968" y="4259586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RSPM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ABB42F9C-F200-459B-9E71-696EDC3A3371}"/>
                  </a:ext>
                </a:extLst>
              </p:cNvPr>
              <p:cNvSpPr txBox="1"/>
              <p:nvPr/>
            </p:nvSpPr>
            <p:spPr>
              <a:xfrm>
                <a:off x="3412525" y="4898216"/>
                <a:ext cx="2010098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400" b="1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取得目前為錯誤碼</a:t>
                </a:r>
                <a:r>
                  <a:rPr kumimoji="0" lang="en-US" altLang="zh-TW" sz="1400" b="1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200</a:t>
                </a:r>
                <a:r>
                  <a:rPr kumimoji="0" lang="zh-TW" altLang="en-US" sz="1400" b="1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的錯誤狀態</a:t>
                </a:r>
              </a:p>
            </p:txBody>
          </p:sp>
          <p:cxnSp>
            <p:nvCxnSpPr>
              <p:cNvPr id="182" name="直線單箭頭接點 181">
                <a:extLst>
                  <a:ext uri="{FF2B5EF4-FFF2-40B4-BE49-F238E27FC236}">
                    <a16:creationId xmlns:a16="http://schemas.microsoft.com/office/drawing/2014/main" id="{09039BF6-CAE6-4163-8B03-8AE63AD96E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1814" y="4541686"/>
                <a:ext cx="400178" cy="35653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83" name="直線單箭頭接點 182">
                <a:extLst>
                  <a:ext uri="{FF2B5EF4-FFF2-40B4-BE49-F238E27FC236}">
                    <a16:creationId xmlns:a16="http://schemas.microsoft.com/office/drawing/2014/main" id="{F35CD14D-AAAD-4344-8A25-D7B748941CE1}"/>
                  </a:ext>
                </a:extLst>
              </p:cNvPr>
              <p:cNvCxnSpPr>
                <a:cxnSpLocks/>
                <a:stCxn id="181" idx="0"/>
              </p:cNvCxnSpPr>
              <p:nvPr/>
            </p:nvCxnSpPr>
            <p:spPr>
              <a:xfrm flipV="1">
                <a:off x="4417574" y="4526098"/>
                <a:ext cx="207870" cy="372118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184" name="矩形: 圓角 183">
              <a:extLst>
                <a:ext uri="{FF2B5EF4-FFF2-40B4-BE49-F238E27FC236}">
                  <a16:creationId xmlns:a16="http://schemas.microsoft.com/office/drawing/2014/main" id="{14094EF7-6B88-40E9-BFA6-8DCDFF0310CF}"/>
                </a:ext>
              </a:extLst>
            </p:cNvPr>
            <p:cNvSpPr/>
            <p:nvPr/>
          </p:nvSpPr>
          <p:spPr>
            <a:xfrm>
              <a:off x="671948" y="2996586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上控程式</a:t>
              </a:r>
            </a:p>
          </p:txBody>
        </p:sp>
        <p:sp>
          <p:nvSpPr>
            <p:cNvPr id="185" name="矩形: 圓角 184">
              <a:extLst>
                <a:ext uri="{FF2B5EF4-FFF2-40B4-BE49-F238E27FC236}">
                  <a16:creationId xmlns:a16="http://schemas.microsoft.com/office/drawing/2014/main" id="{D22D437F-78C7-4BBA-99E3-9CEC8981B173}"/>
                </a:ext>
              </a:extLst>
            </p:cNvPr>
            <p:cNvSpPr/>
            <p:nvPr/>
          </p:nvSpPr>
          <p:spPr>
            <a:xfrm>
              <a:off x="7335982" y="2996586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新細明體" panose="02020500000000000000" pitchFamily="18" charset="-120"/>
                  <a:cs typeface="+mn-cs"/>
                </a:rPr>
                <a:t>RASeMIO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313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F8462D0-959B-4013-B160-6F191F20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6501"/>
            <a:ext cx="8364538" cy="4991100"/>
          </a:xfrm>
        </p:spPr>
        <p:txBody>
          <a:bodyPr/>
          <a:lstStyle/>
          <a:p>
            <a:r>
              <a:rPr lang="en-US" altLang="zh-TW" sz="2000" dirty="0"/>
              <a:t>ERRT</a:t>
            </a:r>
          </a:p>
          <a:p>
            <a:pPr lvl="1"/>
            <a:r>
              <a:rPr lang="zh-TW" altLang="en-US" sz="2000" dirty="0"/>
              <a:t>錯誤復歸</a:t>
            </a:r>
            <a:endParaRPr lang="en-US" altLang="zh-TW" sz="2000" dirty="0"/>
          </a:p>
          <a:p>
            <a:pPr lvl="1"/>
            <a:r>
              <a:rPr lang="zh-TW" altLang="en-US" sz="2000" dirty="0"/>
              <a:t>部份錯誤</a:t>
            </a:r>
            <a:r>
              <a:rPr lang="en-US" altLang="zh-TW" sz="2000" dirty="0"/>
              <a:t>(</a:t>
            </a:r>
            <a:r>
              <a:rPr lang="zh-TW" altLang="en-US" sz="2000" dirty="0"/>
              <a:t>如</a:t>
            </a:r>
            <a:r>
              <a:rPr lang="en-US" altLang="zh-TW" sz="2000" dirty="0"/>
              <a:t>Driver</a:t>
            </a:r>
            <a:r>
              <a:rPr lang="zh-TW" altLang="en-US" sz="2000" dirty="0"/>
              <a:t>錯誤</a:t>
            </a:r>
            <a:r>
              <a:rPr lang="en-US" altLang="zh-TW" sz="2000" dirty="0"/>
              <a:t>)</a:t>
            </a:r>
            <a:r>
              <a:rPr lang="zh-TW" altLang="en-US" sz="2000" dirty="0"/>
              <a:t> 無法順利復歸</a:t>
            </a:r>
          </a:p>
          <a:p>
            <a:pPr marL="457200" lvl="1" indent="0">
              <a:buNone/>
            </a:pPr>
            <a:endParaRPr lang="zh-TW" altLang="en-US" sz="2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D31FF4-4F06-4C4F-A2EA-3C81AE39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077D4-D401-4D51-B5A9-2E9CCFC7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BAA27DC-EC30-4F69-9FAB-89259F7F8B18}"/>
              </a:ext>
            </a:extLst>
          </p:cNvPr>
          <p:cNvGrpSpPr/>
          <p:nvPr/>
        </p:nvGrpSpPr>
        <p:grpSpPr>
          <a:xfrm>
            <a:off x="671948" y="2049869"/>
            <a:ext cx="8014852" cy="2953511"/>
            <a:chOff x="671948" y="2049869"/>
            <a:chExt cx="8014852" cy="2953511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A022F90A-C3AB-4365-97CF-309C8E23CD80}"/>
                </a:ext>
              </a:extLst>
            </p:cNvPr>
            <p:cNvGrpSpPr/>
            <p:nvPr/>
          </p:nvGrpSpPr>
          <p:grpSpPr>
            <a:xfrm>
              <a:off x="2022766" y="2049869"/>
              <a:ext cx="5313216" cy="2953511"/>
              <a:chOff x="1908466" y="2083205"/>
              <a:chExt cx="5313216" cy="2953511"/>
            </a:xfrm>
          </p:grpSpPr>
          <p:cxnSp>
            <p:nvCxnSpPr>
              <p:cNvPr id="145" name="直線單箭頭接點 144">
                <a:extLst>
                  <a:ext uri="{FF2B5EF4-FFF2-40B4-BE49-F238E27FC236}">
                    <a16:creationId xmlns:a16="http://schemas.microsoft.com/office/drawing/2014/main" id="{C4A0690A-DB4C-436F-A47B-D7F093DA4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8466" y="3655163"/>
                <a:ext cx="5313216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5B0DE1A1-9AB1-4D7D-A5B1-EE38BFD28CF9}"/>
                  </a:ext>
                </a:extLst>
              </p:cNvPr>
              <p:cNvGrpSpPr/>
              <p:nvPr/>
            </p:nvGrpSpPr>
            <p:grpSpPr>
              <a:xfrm>
                <a:off x="2111223" y="3800235"/>
                <a:ext cx="4907702" cy="369332"/>
                <a:chOff x="4115975" y="4399471"/>
                <a:chExt cx="4907702" cy="369332"/>
              </a:xfrm>
            </p:grpSpPr>
            <p:sp>
              <p:nvSpPr>
                <p:cNvPr id="147" name="矩形 146">
                  <a:extLst>
                    <a:ext uri="{FF2B5EF4-FFF2-40B4-BE49-F238E27FC236}">
                      <a16:creationId xmlns:a16="http://schemas.microsoft.com/office/drawing/2014/main" id="{44C9E420-D860-46B2-8285-9784DB721ACB}"/>
                    </a:ext>
                  </a:extLst>
                </p:cNvPr>
                <p:cNvSpPr/>
                <p:nvPr/>
              </p:nvSpPr>
              <p:spPr bwMode="auto">
                <a:xfrm>
                  <a:off x="4115975" y="4399471"/>
                  <a:ext cx="700069" cy="369332"/>
                </a:xfrm>
                <a:prstGeom prst="rect">
                  <a:avLst/>
                </a:prstGeom>
                <a:solidFill>
                  <a:srgbClr val="FFC000">
                    <a:lumMod val="20000"/>
                    <a:lumOff val="80000"/>
                  </a:srgbClr>
                </a:solidFill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RSPM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97F1EDA4-3ED6-4AB4-9ECE-AC4321119EDF}"/>
                    </a:ext>
                  </a:extLst>
                </p:cNvPr>
                <p:cNvSpPr/>
                <p:nvPr/>
              </p:nvSpPr>
              <p:spPr bwMode="auto">
                <a:xfrm>
                  <a:off x="4816044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FUNC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77A375F8-E7E6-415B-B751-A55179971EEB}"/>
                    </a:ext>
                  </a:extLst>
                </p:cNvPr>
                <p:cNvSpPr/>
                <p:nvPr/>
              </p:nvSpPr>
              <p:spPr bwMode="auto">
                <a:xfrm>
                  <a:off x="5519961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TYPE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C9DD24B0-8BE6-42B9-9023-66BAF1E669B0}"/>
                    </a:ext>
                  </a:extLst>
                </p:cNvPr>
                <p:cNvSpPr/>
                <p:nvPr/>
              </p:nvSpPr>
              <p:spPr bwMode="auto">
                <a:xfrm>
                  <a:off x="6223879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MODE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6B7EA1D6-07D9-42A0-A493-F71D17C6EFDE}"/>
                    </a:ext>
                  </a:extLst>
                </p:cNvPr>
                <p:cNvSpPr/>
                <p:nvPr/>
              </p:nvSpPr>
              <p:spPr bwMode="auto">
                <a:xfrm>
                  <a:off x="692382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ERRC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7F2AAE9C-AD1B-405B-B021-EAD4DC6950ED}"/>
                    </a:ext>
                  </a:extLst>
                </p:cNvPr>
                <p:cNvSpPr/>
                <p:nvPr/>
              </p:nvSpPr>
              <p:spPr bwMode="auto">
                <a:xfrm>
                  <a:off x="762377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DATA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B244747C-2C51-484A-B2AF-E05A5A62BBDC}"/>
                    </a:ext>
                  </a:extLst>
                </p:cNvPr>
                <p:cNvSpPr/>
                <p:nvPr/>
              </p:nvSpPr>
              <p:spPr bwMode="auto">
                <a:xfrm>
                  <a:off x="832360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CRC32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1D12E3FE-1199-4F48-8FB7-33AD668E951B}"/>
                  </a:ext>
                </a:extLst>
              </p:cNvPr>
              <p:cNvSpPr txBox="1"/>
              <p:nvPr/>
            </p:nvSpPr>
            <p:spPr>
              <a:xfrm>
                <a:off x="2835081" y="4263072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ERRT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34FCC6F-04DF-4837-A9D7-B4D332921FAF}"/>
                  </a:ext>
                </a:extLst>
              </p:cNvPr>
              <p:cNvSpPr txBox="1"/>
              <p:nvPr/>
            </p:nvSpPr>
            <p:spPr>
              <a:xfrm>
                <a:off x="3542068" y="4259589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216BF2F5-15A8-4CF1-8F0E-A90565C7440A}"/>
                  </a:ext>
                </a:extLst>
              </p:cNvPr>
              <p:cNvSpPr txBox="1"/>
              <p:nvPr/>
            </p:nvSpPr>
            <p:spPr>
              <a:xfrm>
                <a:off x="4249055" y="4259588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kern="0" cap="none" spc="-10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defRPr>
                </a:lvl1pPr>
              </a:lstStyle>
              <a:p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E79391EE-B8E9-4F57-ADD1-E692A588B62B}"/>
                  </a:ext>
                </a:extLst>
              </p:cNvPr>
              <p:cNvSpPr txBox="1"/>
              <p:nvPr/>
            </p:nvSpPr>
            <p:spPr>
              <a:xfrm>
                <a:off x="4956042" y="4259587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kern="0" cap="none" spc="-10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defRPr>
                </a:lvl1pPr>
              </a:lstStyle>
              <a:p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38FC6DAF-62C1-4D0A-A47B-9FB9DA1DBBA6}"/>
                  </a:ext>
                </a:extLst>
              </p:cNvPr>
              <p:cNvSpPr txBox="1"/>
              <p:nvPr/>
            </p:nvSpPr>
            <p:spPr>
              <a:xfrm>
                <a:off x="5659902" y="4259586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98F3E9D1-DA84-421D-91EF-E6B737DB7288}"/>
                  </a:ext>
                </a:extLst>
              </p:cNvPr>
              <p:cNvSpPr txBox="1"/>
              <p:nvPr/>
            </p:nvSpPr>
            <p:spPr>
              <a:xfrm>
                <a:off x="6370015" y="4259585"/>
                <a:ext cx="652759" cy="461665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CRC32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</a:p>
            </p:txBody>
          </p:sp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D215D7C5-F135-4EC0-BEB3-20897A6E3252}"/>
                  </a:ext>
                </a:extLst>
              </p:cNvPr>
              <p:cNvSpPr txBox="1"/>
              <p:nvPr/>
            </p:nvSpPr>
            <p:spPr>
              <a:xfrm>
                <a:off x="5659902" y="4759717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4C2A9B88-9529-4959-875C-11EDCB3624E5}"/>
                  </a:ext>
                </a:extLst>
              </p:cNvPr>
              <p:cNvSpPr txBox="1"/>
              <p:nvPr/>
            </p:nvSpPr>
            <p:spPr>
              <a:xfrm>
                <a:off x="5856461" y="4544072"/>
                <a:ext cx="369332" cy="1981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TW" sz="1200" dirty="0">
                    <a:solidFill>
                      <a:prstClr val="black"/>
                    </a:solidFill>
                    <a:latin typeface="Calibri" panose="020F0502020204030204"/>
                  </a:rPr>
                  <a:t>…</a:t>
                </a:r>
                <a:endParaRPr kumimoji="0" lang="zh-TW" alt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62" name="群組 161">
                <a:extLst>
                  <a:ext uri="{FF2B5EF4-FFF2-40B4-BE49-F238E27FC236}">
                    <a16:creationId xmlns:a16="http://schemas.microsoft.com/office/drawing/2014/main" id="{B28BD2B0-1D65-4065-ABBE-32C30122A540}"/>
                  </a:ext>
                </a:extLst>
              </p:cNvPr>
              <p:cNvGrpSpPr/>
              <p:nvPr/>
            </p:nvGrpSpPr>
            <p:grpSpPr>
              <a:xfrm>
                <a:off x="2111223" y="2902648"/>
                <a:ext cx="4907702" cy="369332"/>
                <a:chOff x="4115975" y="4399471"/>
                <a:chExt cx="4907702" cy="369332"/>
              </a:xfrm>
            </p:grpSpPr>
            <p:sp>
              <p:nvSpPr>
                <p:cNvPr id="163" name="矩形 162">
                  <a:extLst>
                    <a:ext uri="{FF2B5EF4-FFF2-40B4-BE49-F238E27FC236}">
                      <a16:creationId xmlns:a16="http://schemas.microsoft.com/office/drawing/2014/main" id="{48BA02B3-9F6D-4790-98AD-1044CAA56260}"/>
                    </a:ext>
                  </a:extLst>
                </p:cNvPr>
                <p:cNvSpPr/>
                <p:nvPr/>
              </p:nvSpPr>
              <p:spPr bwMode="auto">
                <a:xfrm>
                  <a:off x="4115975" y="4399471"/>
                  <a:ext cx="700069" cy="369332"/>
                </a:xfrm>
                <a:prstGeom prst="rect">
                  <a:avLst/>
                </a:prstGeom>
                <a:solidFill>
                  <a:srgbClr val="FFC000">
                    <a:lumMod val="20000"/>
                    <a:lumOff val="80000"/>
                  </a:srgbClr>
                </a:solidFill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REQM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A3F81DB8-43B4-42AD-AC51-3DBB6B0761F0}"/>
                    </a:ext>
                  </a:extLst>
                </p:cNvPr>
                <p:cNvSpPr/>
                <p:nvPr/>
              </p:nvSpPr>
              <p:spPr bwMode="auto">
                <a:xfrm>
                  <a:off x="4816044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FUNC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5" name="矩形 164">
                  <a:extLst>
                    <a:ext uri="{FF2B5EF4-FFF2-40B4-BE49-F238E27FC236}">
                      <a16:creationId xmlns:a16="http://schemas.microsoft.com/office/drawing/2014/main" id="{845D5A9B-6FFB-4189-8868-FCA13E3EEDB3}"/>
                    </a:ext>
                  </a:extLst>
                </p:cNvPr>
                <p:cNvSpPr/>
                <p:nvPr/>
              </p:nvSpPr>
              <p:spPr bwMode="auto">
                <a:xfrm>
                  <a:off x="5519961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TYPE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6" name="矩形 165">
                  <a:extLst>
                    <a:ext uri="{FF2B5EF4-FFF2-40B4-BE49-F238E27FC236}">
                      <a16:creationId xmlns:a16="http://schemas.microsoft.com/office/drawing/2014/main" id="{F5887A44-6271-43C9-95FF-6F09B927B0F8}"/>
                    </a:ext>
                  </a:extLst>
                </p:cNvPr>
                <p:cNvSpPr/>
                <p:nvPr/>
              </p:nvSpPr>
              <p:spPr bwMode="auto">
                <a:xfrm>
                  <a:off x="6223879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MODE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FF8ED645-EE26-436A-B9D4-CF82BB6C568B}"/>
                    </a:ext>
                  </a:extLst>
                </p:cNvPr>
                <p:cNvSpPr/>
                <p:nvPr/>
              </p:nvSpPr>
              <p:spPr bwMode="auto">
                <a:xfrm>
                  <a:off x="692382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ERRC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A42E1577-F6A3-441B-9446-5102D9898B3E}"/>
                    </a:ext>
                  </a:extLst>
                </p:cNvPr>
                <p:cNvSpPr/>
                <p:nvPr/>
              </p:nvSpPr>
              <p:spPr bwMode="auto">
                <a:xfrm>
                  <a:off x="762377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DATA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9" name="矩形 168">
                  <a:extLst>
                    <a:ext uri="{FF2B5EF4-FFF2-40B4-BE49-F238E27FC236}">
                      <a16:creationId xmlns:a16="http://schemas.microsoft.com/office/drawing/2014/main" id="{13165421-68F3-4906-B7DA-FB0594D062E5}"/>
                    </a:ext>
                  </a:extLst>
                </p:cNvPr>
                <p:cNvSpPr/>
                <p:nvPr/>
              </p:nvSpPr>
              <p:spPr bwMode="auto">
                <a:xfrm>
                  <a:off x="8323608" y="4399471"/>
                  <a:ext cx="700069" cy="36933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rgbClr val="44546A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</a:rPr>
                    <a:t>CRC32</a:t>
                  </a: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34783484-9476-4DB9-9AD0-8C8297754BCC}"/>
                  </a:ext>
                </a:extLst>
              </p:cNvPr>
              <p:cNvSpPr txBox="1"/>
              <p:nvPr/>
            </p:nvSpPr>
            <p:spPr>
              <a:xfrm>
                <a:off x="2811292" y="2597848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ERRT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F74CCE7E-422E-4872-9690-5AFECF5923B4}"/>
                  </a:ext>
                </a:extLst>
              </p:cNvPr>
              <p:cNvSpPr txBox="1"/>
              <p:nvPr/>
            </p:nvSpPr>
            <p:spPr>
              <a:xfrm>
                <a:off x="3518279" y="2594365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5F39302F-F37E-4674-96F9-9BF302778728}"/>
                  </a:ext>
                </a:extLst>
              </p:cNvPr>
              <p:cNvSpPr txBox="1"/>
              <p:nvPr/>
            </p:nvSpPr>
            <p:spPr>
              <a:xfrm>
                <a:off x="4225266" y="2594364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C62EE4F6-779D-43D1-A0BA-CEC4DD8A5C39}"/>
                  </a:ext>
                </a:extLst>
              </p:cNvPr>
              <p:cNvSpPr txBox="1"/>
              <p:nvPr/>
            </p:nvSpPr>
            <p:spPr>
              <a:xfrm>
                <a:off x="4932253" y="2594363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0868EDEC-7542-4A46-8AB9-E8E8B16D9A10}"/>
                  </a:ext>
                </a:extLst>
              </p:cNvPr>
              <p:cNvSpPr txBox="1"/>
              <p:nvPr/>
            </p:nvSpPr>
            <p:spPr>
              <a:xfrm>
                <a:off x="6375363" y="2387124"/>
                <a:ext cx="652759" cy="461665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CRC32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</a:p>
            </p:txBody>
          </p:sp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346F94F4-7217-44E0-8F78-6C9C94110AB6}"/>
                  </a:ext>
                </a:extLst>
              </p:cNvPr>
              <p:cNvSpPr txBox="1"/>
              <p:nvPr/>
            </p:nvSpPr>
            <p:spPr>
              <a:xfrm>
                <a:off x="5655734" y="2083205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9CBE5D05-FB46-486F-95B6-13D7379F9C45}"/>
                  </a:ext>
                </a:extLst>
              </p:cNvPr>
              <p:cNvSpPr txBox="1"/>
              <p:nvPr/>
            </p:nvSpPr>
            <p:spPr>
              <a:xfrm>
                <a:off x="5655734" y="2593360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0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D2DC98C4-7174-4879-A07A-A9F17826D576}"/>
                  </a:ext>
                </a:extLst>
              </p:cNvPr>
              <p:cNvSpPr txBox="1"/>
              <p:nvPr/>
            </p:nvSpPr>
            <p:spPr>
              <a:xfrm>
                <a:off x="5852293" y="2377715"/>
                <a:ext cx="369332" cy="1981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TW" sz="1200" dirty="0">
                    <a:solidFill>
                      <a:prstClr val="black"/>
                    </a:solidFill>
                    <a:latin typeface="Calibri" panose="020F0502020204030204"/>
                  </a:rPr>
                  <a:t>…</a:t>
                </a:r>
                <a:endParaRPr kumimoji="0" lang="zh-TW" alt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78" name="直線單箭頭接點 177">
                <a:extLst>
                  <a:ext uri="{FF2B5EF4-FFF2-40B4-BE49-F238E27FC236}">
                    <a16:creationId xmlns:a16="http://schemas.microsoft.com/office/drawing/2014/main" id="{F9B70BD7-E58F-4543-AA44-0AE277FD879C}"/>
                  </a:ext>
                </a:extLst>
              </p:cNvPr>
              <p:cNvCxnSpPr/>
              <p:nvPr/>
            </p:nvCxnSpPr>
            <p:spPr>
              <a:xfrm>
                <a:off x="1908466" y="3394697"/>
                <a:ext cx="5313216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5391A808-A9F8-4213-8B43-C3360601BB58}"/>
                  </a:ext>
                </a:extLst>
              </p:cNvPr>
              <p:cNvSpPr txBox="1"/>
              <p:nvPr/>
            </p:nvSpPr>
            <p:spPr>
              <a:xfrm>
                <a:off x="2116851" y="2595497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REQM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FDABAC8D-E4BA-46ED-B808-5529A22F80D3}"/>
                  </a:ext>
                </a:extLst>
              </p:cNvPr>
              <p:cNvSpPr txBox="1"/>
              <p:nvPr/>
            </p:nvSpPr>
            <p:spPr>
              <a:xfrm>
                <a:off x="2124968" y="4259586"/>
                <a:ext cx="652759" cy="276999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RSPM</a:t>
                </a:r>
                <a:endPara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84" name="矩形: 圓角 183">
              <a:extLst>
                <a:ext uri="{FF2B5EF4-FFF2-40B4-BE49-F238E27FC236}">
                  <a16:creationId xmlns:a16="http://schemas.microsoft.com/office/drawing/2014/main" id="{14094EF7-6B88-40E9-BFA6-8DCDFF0310CF}"/>
                </a:ext>
              </a:extLst>
            </p:cNvPr>
            <p:cNvSpPr/>
            <p:nvPr/>
          </p:nvSpPr>
          <p:spPr>
            <a:xfrm>
              <a:off x="671948" y="2996586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上控程式</a:t>
              </a:r>
            </a:p>
          </p:txBody>
        </p:sp>
        <p:sp>
          <p:nvSpPr>
            <p:cNvPr id="185" name="矩形: 圓角 184">
              <a:extLst>
                <a:ext uri="{FF2B5EF4-FFF2-40B4-BE49-F238E27FC236}">
                  <a16:creationId xmlns:a16="http://schemas.microsoft.com/office/drawing/2014/main" id="{D22D437F-78C7-4BBA-99E3-9CEC8981B173}"/>
                </a:ext>
              </a:extLst>
            </p:cNvPr>
            <p:cNvSpPr/>
            <p:nvPr/>
          </p:nvSpPr>
          <p:spPr>
            <a:xfrm>
              <a:off x="7335982" y="2996586"/>
              <a:ext cx="1350818" cy="958734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新細明體" panose="02020500000000000000" pitchFamily="18" charset="-120"/>
                  <a:cs typeface="+mn-cs"/>
                </a:rPr>
                <a:t>RASeMIO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435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50" y="1113366"/>
          <a:ext cx="8364537" cy="183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5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5468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取得版本編號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GVER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GVER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版本第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碼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16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版本第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碼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65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版本第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碼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0016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93145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F79B75F8-CE8C-4D3B-AEFD-C5C7BAC112AF}"/>
              </a:ext>
            </a:extLst>
          </p:cNvPr>
          <p:cNvGraphicFramePr>
            <a:graphicFrameLocks/>
          </p:cNvGraphicFramePr>
          <p:nvPr/>
        </p:nvGraphicFramePr>
        <p:xfrm>
          <a:off x="450850" y="3001962"/>
          <a:ext cx="8364537" cy="211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5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5468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取得系統初始參數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INIT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28016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INIT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運動學編號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模擬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關節數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位置維度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532763"/>
                  </a:ext>
                </a:extLst>
              </a:tr>
              <a:tr h="1280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位置遮罩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56515"/>
                  </a:ext>
                </a:extLst>
              </a:tr>
              <a:tr h="1280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資料筆數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261000"/>
                  </a:ext>
                </a:extLst>
              </a:tr>
              <a:tr h="1280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55116"/>
                  </a:ext>
                </a:extLst>
              </a:tr>
            </a:tbl>
          </a:graphicData>
        </a:graphic>
      </p:graphicFrame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885158CB-5B81-4042-8908-41601FC80CCF}"/>
              </a:ext>
            </a:extLst>
          </p:cNvPr>
          <p:cNvGraphicFramePr>
            <a:graphicFrameLocks/>
          </p:cNvGraphicFramePr>
          <p:nvPr/>
        </p:nvGraphicFramePr>
        <p:xfrm>
          <a:off x="450850" y="5164879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5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5468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912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8" y="1113366"/>
          <a:ext cx="8364537" cy="156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6232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645584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得到目前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GSTA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GSTA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執行中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885158CB-5B81-4042-8908-41601FC80CCF}"/>
              </a:ext>
            </a:extLst>
          </p:cNvPr>
          <p:cNvGraphicFramePr>
            <a:graphicFrameLocks/>
          </p:cNvGraphicFramePr>
          <p:nvPr/>
        </p:nvGraphicFramePr>
        <p:xfrm>
          <a:off x="450848" y="4437805"/>
          <a:ext cx="8364537" cy="183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13129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4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10782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取得目前速度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GSPD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GSPD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點到點速度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16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(mm/s)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8708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速度比例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1793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015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06D614-EC2E-4A1E-95CA-622B7FD16966}"/>
              </a:ext>
            </a:extLst>
          </p:cNvPr>
          <p:cNvGraphicFramePr>
            <a:graphicFrameLocks/>
          </p:cNvGraphicFramePr>
          <p:nvPr/>
        </p:nvGraphicFramePr>
        <p:xfrm>
          <a:off x="450848" y="2775586"/>
          <a:ext cx="8364537" cy="156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6232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645584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得到目前動作狀態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動作中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暫停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延遲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699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7" y="1113366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0B945EF-B5C8-4C30-8E33-C2BEB936DD06}"/>
              </a:ext>
            </a:extLst>
          </p:cNvPr>
          <p:cNvGraphicFramePr>
            <a:graphicFrameLocks/>
          </p:cNvGraphicFramePr>
          <p:nvPr/>
        </p:nvGraphicFramePr>
        <p:xfrm>
          <a:off x="450847" y="2298347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錯誤復歸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F7E36EA-AC09-4C93-AED0-677C5C851980}"/>
              </a:ext>
            </a:extLst>
          </p:cNvPr>
          <p:cNvGraphicFramePr>
            <a:graphicFrameLocks/>
          </p:cNvGraphicFramePr>
          <p:nvPr/>
        </p:nvGraphicFramePr>
        <p:xfrm>
          <a:off x="450847" y="4668309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166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281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48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取得角度值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命令值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GJNT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98967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GJNT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關節數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角度資料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9896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92940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A774D6A-46A3-4EE5-BCEF-5A90E547BC91}"/>
              </a:ext>
            </a:extLst>
          </p:cNvPr>
          <p:cNvGraphicFramePr>
            <a:graphicFrameLocks/>
          </p:cNvGraphicFramePr>
          <p:nvPr/>
        </p:nvGraphicFramePr>
        <p:xfrm>
          <a:off x="450847" y="3483328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強制觸發錯誤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TERR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TERR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錯誤碼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50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7" y="1113366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取得位置值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命令值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GPOS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GPOS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 </a:t>
                      </a: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位置資料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143473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ABAB82C-F83C-409E-9D58-DC8CDBF9A988}"/>
              </a:ext>
            </a:extLst>
          </p:cNvPr>
          <p:cNvGraphicFramePr>
            <a:graphicFrameLocks/>
          </p:cNvGraphicFramePr>
          <p:nvPr/>
        </p:nvGraphicFramePr>
        <p:xfrm>
          <a:off x="450847" y="2788708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取得角度值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編碼器值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關節數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角度資料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34486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A7D04E3-0151-4F4E-BEA6-49C7E8E369AE}"/>
              </a:ext>
            </a:extLst>
          </p:cNvPr>
          <p:cNvGraphicFramePr>
            <a:graphicFrameLocks/>
          </p:cNvGraphicFramePr>
          <p:nvPr/>
        </p:nvGraphicFramePr>
        <p:xfrm>
          <a:off x="450847" y="4464050"/>
          <a:ext cx="8364537" cy="156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87730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1566334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757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755648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SSPD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設定速度類型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點到點速度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(mm/s)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2: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速度比例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SSPD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347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7" y="1113366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取得目前選定之牙叉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GSID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GSID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ABAB82C-F83C-409E-9D58-DC8CDBF9A988}"/>
              </a:ext>
            </a:extLst>
          </p:cNvPr>
          <p:cNvGraphicFramePr>
            <a:graphicFrameLocks/>
          </p:cNvGraphicFramePr>
          <p:nvPr/>
        </p:nvGraphicFramePr>
        <p:xfrm>
          <a:off x="450847" y="2348547"/>
          <a:ext cx="8364537" cy="174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23613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軸移動命令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MOVJ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軸數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點到點速度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5070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~ [N] </a:t>
                      </a: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角度資料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822098"/>
                  </a:ext>
                </a:extLst>
              </a:tr>
              <a:tr h="12361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852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MOVJ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8186E72-F681-4A23-B5B0-FBF8CB06C102}"/>
              </a:ext>
            </a:extLst>
          </p:cNvPr>
          <p:cNvGraphicFramePr>
            <a:graphicFrameLocks/>
          </p:cNvGraphicFramePr>
          <p:nvPr/>
        </p:nvGraphicFramePr>
        <p:xfrm>
          <a:off x="450847" y="4218728"/>
          <a:ext cx="8364537" cy="174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23613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直線移動命令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大地座標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維度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(mm/s)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5070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~ [N] </a:t>
                      </a: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位置資料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787001"/>
                  </a:ext>
                </a:extLst>
              </a:tr>
              <a:tr h="12361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0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306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6" y="1113366"/>
          <a:ext cx="8364537" cy="174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23613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直線移動命令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工具座標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維度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直線速度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(mm/s)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5070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~ [N] </a:t>
                      </a: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相對位置資料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557871"/>
                  </a:ext>
                </a:extLst>
              </a:tr>
              <a:tr h="12361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427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MOVT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B1643367-B340-4551-A374-EDCF9F00662F}"/>
              </a:ext>
            </a:extLst>
          </p:cNvPr>
          <p:cNvGraphicFramePr>
            <a:graphicFrameLocks/>
          </p:cNvGraphicFramePr>
          <p:nvPr/>
        </p:nvGraphicFramePr>
        <p:xfrm>
          <a:off x="450846" y="2895035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運動暫停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PAUS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PAUS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CD8B1410-2CCE-45DB-A085-DE25148455BD}"/>
              </a:ext>
            </a:extLst>
          </p:cNvPr>
          <p:cNvGraphicFramePr>
            <a:graphicFrameLocks/>
          </p:cNvGraphicFramePr>
          <p:nvPr/>
        </p:nvGraphicFramePr>
        <p:xfrm>
          <a:off x="450846" y="4041704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運動停止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11B2B4AB-985D-497A-AB24-5EAE5CE1165A}"/>
              </a:ext>
            </a:extLst>
          </p:cNvPr>
          <p:cNvGraphicFramePr>
            <a:graphicFrameLocks/>
          </p:cNvGraphicFramePr>
          <p:nvPr/>
        </p:nvGraphicFramePr>
        <p:xfrm>
          <a:off x="450846" y="5188374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58282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設定選定之牙叉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SSID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SSID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41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6" y="1113366"/>
          <a:ext cx="836453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RNRL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總行數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RNRL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F1EA8DA1-9530-494E-BD33-B196D1536626}"/>
              </a:ext>
            </a:extLst>
          </p:cNvPr>
          <p:cNvGraphicFramePr>
            <a:graphicFrameLocks/>
          </p:cNvGraphicFramePr>
          <p:nvPr/>
        </p:nvGraphicFramePr>
        <p:xfrm>
          <a:off x="450846" y="2452440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暫停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71D36474-9A30-4305-9172-FD09D94BBD2B}"/>
              </a:ext>
            </a:extLst>
          </p:cNvPr>
          <p:cNvGraphicFramePr>
            <a:graphicFrameLocks/>
          </p:cNvGraphicFramePr>
          <p:nvPr/>
        </p:nvGraphicFramePr>
        <p:xfrm>
          <a:off x="450846" y="3705154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7505490D-D36D-47CE-883E-58FF1D26EE7F}"/>
              </a:ext>
            </a:extLst>
          </p:cNvPr>
          <p:cNvGraphicFramePr>
            <a:graphicFrameLocks/>
          </p:cNvGraphicFramePr>
          <p:nvPr/>
        </p:nvGraphicFramePr>
        <p:xfrm>
          <a:off x="450846" y="4957869"/>
          <a:ext cx="836453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602315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清除教導點資料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CRPT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CRPT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268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5" y="1113366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7580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8542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設定教導點關節角度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自動編成點位名稱：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PT_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SPTJ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點位編號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角度資料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999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SPTJ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A5C70751-8972-4604-8114-5135F4B7AF5F}"/>
              </a:ext>
            </a:extLst>
          </p:cNvPr>
          <p:cNvGraphicFramePr>
            <a:graphicFrameLocks/>
          </p:cNvGraphicFramePr>
          <p:nvPr/>
        </p:nvGraphicFramePr>
        <p:xfrm>
          <a:off x="450845" y="2692400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7580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8542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設定教導點位置資料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自動編成點位名稱：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PT_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SPTP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點位編號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位置資料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999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SPTP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8D308442-626D-4DF0-9985-C766F6C652B9}"/>
              </a:ext>
            </a:extLst>
          </p:cNvPr>
          <p:cNvGraphicFramePr>
            <a:graphicFrameLocks/>
          </p:cNvGraphicFramePr>
          <p:nvPr/>
        </p:nvGraphicFramePr>
        <p:xfrm>
          <a:off x="450845" y="4271434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57079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7580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8542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設定教導點額外資料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自動編成點位名稱：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PT_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點位編號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~ [N-1]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額外資料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(mm)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999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SPTD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943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3" y="1113366"/>
          <a:ext cx="836453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706266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78932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407580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GION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GION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A52F9C0-E11F-4B52-AE2C-0453A3D1FD65}"/>
              </a:ext>
            </a:extLst>
          </p:cNvPr>
          <p:cNvGraphicFramePr>
            <a:graphicFrameLocks/>
          </p:cNvGraphicFramePr>
          <p:nvPr/>
        </p:nvGraphicFramePr>
        <p:xfrm>
          <a:off x="450843" y="2460413"/>
          <a:ext cx="8364537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2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 Input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GINT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起始編號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GINT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 ~ [N-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82702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B0A95F7-8656-4AE1-BD05-ACD690BC1A61}"/>
              </a:ext>
            </a:extLst>
          </p:cNvPr>
          <p:cNvGraphicFramePr>
            <a:graphicFrameLocks/>
          </p:cNvGraphicFramePr>
          <p:nvPr/>
        </p:nvGraphicFramePr>
        <p:xfrm>
          <a:off x="450843" y="4168140"/>
          <a:ext cx="8364537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7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56777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 Output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GOUT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起始編號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GOUT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 ~ [N-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82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68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3" y="1113366"/>
          <a:ext cx="8364537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 Output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點狀態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SOUT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起始編號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Output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 ~ [N-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I/O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769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SOUT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FE4229BE-0505-4262-8C51-C661E88FDFB3}"/>
              </a:ext>
            </a:extLst>
          </p:cNvPr>
          <p:cNvGraphicFramePr>
            <a:graphicFrameLocks/>
          </p:cNvGraphicFramePr>
          <p:nvPr/>
        </p:nvGraphicFramePr>
        <p:xfrm>
          <a:off x="450842" y="2815166"/>
          <a:ext cx="8364537" cy="129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4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0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設定加速時間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加速時間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ms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769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ACCT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EC6A9D6D-57D1-4DBB-A3D6-4A6B883327C2}"/>
              </a:ext>
            </a:extLst>
          </p:cNvPr>
          <p:cNvGraphicFramePr>
            <a:graphicFrameLocks/>
          </p:cNvGraphicFramePr>
          <p:nvPr/>
        </p:nvGraphicFramePr>
        <p:xfrm>
          <a:off x="450842" y="4317999"/>
          <a:ext cx="8364537" cy="129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9843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設定減速時間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DECT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減速時間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ms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769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DECT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031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3" y="1113366"/>
          <a:ext cx="8364537" cy="137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取得加速時間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GACC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GACC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加速時間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ms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444996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94419D6-1297-4D96-BD7A-6C260638FCD3}"/>
              </a:ext>
            </a:extLst>
          </p:cNvPr>
          <p:cNvGraphicFramePr>
            <a:graphicFrameLocks/>
          </p:cNvGraphicFramePr>
          <p:nvPr/>
        </p:nvGraphicFramePr>
        <p:xfrm>
          <a:off x="450843" y="2697480"/>
          <a:ext cx="8364537" cy="137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取得減速時間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GDEC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GDEC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減速時間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ms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4449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AE325C7-B204-4886-ACD3-8E44B3DB327E}"/>
              </a:ext>
            </a:extLst>
          </p:cNvPr>
          <p:cNvGraphicFramePr>
            <a:graphicFrameLocks/>
          </p:cNvGraphicFramePr>
          <p:nvPr/>
        </p:nvGraphicFramePr>
        <p:xfrm>
          <a:off x="450843" y="4281594"/>
          <a:ext cx="836453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開啟預設檔案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 …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79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2" y="1113366"/>
          <a:ext cx="8364537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1313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7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HOME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(AR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HOME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AR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DATA)</a:t>
                      </a:r>
                    </a:p>
                    <a:p>
                      <a:pPr algn="l"/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DATA)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05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6207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290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369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71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HOME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0459D22C-A3EE-4AD2-8971-22D9BC05F6CE}"/>
              </a:ext>
            </a:extLst>
          </p:cNvPr>
          <p:cNvGraphicFramePr>
            <a:graphicFrameLocks/>
          </p:cNvGraphicFramePr>
          <p:nvPr/>
        </p:nvGraphicFramePr>
        <p:xfrm>
          <a:off x="450842" y="3619499"/>
          <a:ext cx="8364537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21602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6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ORIGIN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(AR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ORIG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0: AR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DATA)</a:t>
                      </a:r>
                    </a:p>
                    <a:p>
                      <a:pPr algn="l"/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 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DATA)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05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6207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290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369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71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ORIG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612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42" y="1113366"/>
          <a:ext cx="8364537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1313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7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EXTEND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ETND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205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6207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290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369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71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ETND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0459D22C-A3EE-4AD2-8971-22D9BC05F6CE}"/>
              </a:ext>
            </a:extLst>
          </p:cNvPr>
          <p:cNvGraphicFramePr>
            <a:graphicFrameLocks/>
          </p:cNvGraphicFramePr>
          <p:nvPr/>
        </p:nvGraphicFramePr>
        <p:xfrm>
          <a:off x="450842" y="3619499"/>
          <a:ext cx="8364537" cy="266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21602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6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143691"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EXCHANGE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EXCG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14369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256495"/>
                  </a:ext>
                </a:extLst>
              </a:tr>
              <a:tr h="14369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6425"/>
                  </a:ext>
                </a:extLst>
              </a:tr>
              <a:tr h="14369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824909"/>
                  </a:ext>
                </a:extLst>
              </a:tr>
              <a:tr h="14369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70552"/>
                  </a:ext>
                </a:extLst>
              </a:tr>
              <a:tr h="14369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[5]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2708"/>
                  </a:ext>
                </a:extLst>
              </a:tr>
              <a:tr h="14369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83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EXCG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864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5613" y="867832"/>
          <a:ext cx="8364537" cy="2839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1313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7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LOAD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LOAD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96961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1676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8637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989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[5]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317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[6]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7205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478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LOAD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B8331C-3E41-4874-9EA3-4DE2EB82337A}"/>
              </a:ext>
            </a:extLst>
          </p:cNvPr>
          <p:cNvGraphicFramePr>
            <a:graphicFrameLocks/>
          </p:cNvGraphicFramePr>
          <p:nvPr/>
        </p:nvGraphicFramePr>
        <p:xfrm>
          <a:off x="455613" y="3772746"/>
          <a:ext cx="8364537" cy="2839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613134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31377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UNLOAD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(WR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系列指令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等同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指令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ULOD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[0]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[1]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96961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[2]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1676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[3]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8637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[4]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牙叉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989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[5]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317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[6]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7205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 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478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ULOD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980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ECC01B6-B2E8-4F46-9D17-3AD08B4E5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785288"/>
              </p:ext>
            </p:extLst>
          </p:nvPr>
        </p:nvGraphicFramePr>
        <p:xfrm>
          <a:off x="450843" y="1113366"/>
          <a:ext cx="8364537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833268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1348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Robot.ini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單一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字元個數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回傳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字元個數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指令列表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91E1679D-55F2-4577-8EF8-57A5BD3D5A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927699"/>
              </p:ext>
            </p:extLst>
          </p:nvPr>
        </p:nvGraphicFramePr>
        <p:xfrm>
          <a:off x="450843" y="2499573"/>
          <a:ext cx="8364537" cy="156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1155001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535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967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Robot.ini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單一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字元個數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(type%10000)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值字元個數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(type/10000)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與值資料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(start index=17)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SINI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450D5DEB-F57C-4129-B73D-8E34E691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541956"/>
              </p:ext>
            </p:extLst>
          </p:nvPr>
        </p:nvGraphicFramePr>
        <p:xfrm>
          <a:off x="450843" y="4165180"/>
          <a:ext cx="836453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67">
                  <a:extLst>
                    <a:ext uri="{9D8B030D-6E8A-4147-A177-3AD203B41FA5}">
                      <a16:colId xmlns:a16="http://schemas.microsoft.com/office/drawing/2014/main" val="6811776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33175961"/>
                    </a:ext>
                  </a:extLst>
                </a:gridCol>
                <a:gridCol w="730956">
                  <a:extLst>
                    <a:ext uri="{9D8B030D-6E8A-4147-A177-3AD203B41FA5}">
                      <a16:colId xmlns:a16="http://schemas.microsoft.com/office/drawing/2014/main" val="3760152115"/>
                    </a:ext>
                  </a:extLst>
                </a:gridCol>
                <a:gridCol w="1155001">
                  <a:extLst>
                    <a:ext uri="{9D8B030D-6E8A-4147-A177-3AD203B41FA5}">
                      <a16:colId xmlns:a16="http://schemas.microsoft.com/office/drawing/2014/main" val="3266603524"/>
                    </a:ext>
                  </a:extLst>
                </a:gridCol>
                <a:gridCol w="753533">
                  <a:extLst>
                    <a:ext uri="{9D8B030D-6E8A-4147-A177-3AD203B41FA5}">
                      <a16:colId xmlns:a16="http://schemas.microsoft.com/office/drawing/2014/main" val="35868101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0996141"/>
                    </a:ext>
                  </a:extLst>
                </a:gridCol>
                <a:gridCol w="967311">
                  <a:extLst>
                    <a:ext uri="{9D8B030D-6E8A-4147-A177-3AD203B41FA5}">
                      <a16:colId xmlns:a16="http://schemas.microsoft.com/office/drawing/2014/main" val="1995343399"/>
                    </a:ext>
                  </a:extLst>
                </a:gridCol>
                <a:gridCol w="693736">
                  <a:extLst>
                    <a:ext uri="{9D8B030D-6E8A-4147-A177-3AD203B41FA5}">
                      <a16:colId xmlns:a16="http://schemas.microsoft.com/office/drawing/2014/main" val="147720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TYPE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ERRC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CRC32</a:t>
                      </a:r>
                      <a:endParaRPr lang="zh-TW" altLang="en-US"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093700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Language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REQM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字元個數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RL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51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STRL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20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580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11FE239-5020-4377-A856-0F2C69793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 TCP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AB38A3-AFE0-4F73-9EB8-132F75572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FC7C264-E679-40A5-A7A6-5E5EBDF7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7" y="1111548"/>
            <a:ext cx="8839200" cy="280163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 TCP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通訊格式與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TCP/IP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通訊格式大致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6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HoldingRegisters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Request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寫入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6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InputRegisters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Response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StartAddress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RNID: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給定不為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的指令編號，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欄位，下一個指令需與上一個指令編號不同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指令碼定義，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uint16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uint16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 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ERRC: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錯誤碼定義，為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uint16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 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參數定義，為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qfloat16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 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29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Modbus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A00ED04-8CB7-4FF5-BF43-4B67264CDA1C}"/>
              </a:ext>
            </a:extLst>
          </p:cNvPr>
          <p:cNvGrpSpPr/>
          <p:nvPr/>
        </p:nvGrpSpPr>
        <p:grpSpPr>
          <a:xfrm>
            <a:off x="141162" y="4025049"/>
            <a:ext cx="8929410" cy="2384104"/>
            <a:chOff x="2152534" y="3203252"/>
            <a:chExt cx="8929410" cy="2384104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B44306A2-3617-4944-A286-50D4B5610BA3}"/>
                </a:ext>
              </a:extLst>
            </p:cNvPr>
            <p:cNvSpPr/>
            <p:nvPr/>
          </p:nvSpPr>
          <p:spPr>
            <a:xfrm>
              <a:off x="2152534" y="4375851"/>
              <a:ext cx="1611745" cy="1052945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上位控制程式</a:t>
              </a:r>
              <a:endPara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Windows/Linux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89F5B2A6-B54A-4FB9-875A-DACE7A3CA46E}"/>
                </a:ext>
              </a:extLst>
            </p:cNvPr>
            <p:cNvSpPr/>
            <p:nvPr/>
          </p:nvSpPr>
          <p:spPr>
            <a:xfrm>
              <a:off x="9588731" y="4375851"/>
              <a:ext cx="1493213" cy="1052945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RASeMIO</a:t>
              </a:r>
              <a:r>
                <a: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程式</a:t>
              </a:r>
              <a:endPara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Windows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9C87F160-B971-4BE8-BC07-37972F4E5857}"/>
                </a:ext>
              </a:extLst>
            </p:cNvPr>
            <p:cNvCxnSpPr>
              <a:cxnSpLocks/>
            </p:cNvCxnSpPr>
            <p:nvPr/>
          </p:nvCxnSpPr>
          <p:spPr>
            <a:xfrm>
              <a:off x="3764279" y="4693921"/>
              <a:ext cx="5824452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55BE377F-BFD4-41A7-BEB3-2869F46A75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4280" y="5084619"/>
              <a:ext cx="5824451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276F5C9-AA57-4B7E-B96B-FA40E9205530}"/>
                </a:ext>
              </a:extLst>
            </p:cNvPr>
            <p:cNvSpPr txBox="1"/>
            <p:nvPr/>
          </p:nvSpPr>
          <p:spPr>
            <a:xfrm>
              <a:off x="3908903" y="4565808"/>
              <a:ext cx="14297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AFEFD2"/>
                  </a:highlight>
                  <a:uLnTx/>
                  <a:uFillTx/>
                  <a:latin typeface="Calibri" panose="020F0502020204030204"/>
                </a:rPr>
                <a:t>Request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AFEFD2"/>
                </a:highlight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F8F544C-7970-41A2-9DBA-D37E4A5194D2}"/>
                </a:ext>
              </a:extLst>
            </p:cNvPr>
            <p:cNvSpPr txBox="1"/>
            <p:nvPr/>
          </p:nvSpPr>
          <p:spPr>
            <a:xfrm>
              <a:off x="3877191" y="4901297"/>
              <a:ext cx="14297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BBE0E3"/>
                  </a:highlight>
                  <a:uLnTx/>
                  <a:uFillTx/>
                  <a:latin typeface="Calibri" panose="020F0502020204030204"/>
                </a:rPr>
                <a:t>Response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0E3"/>
                </a:highlight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E55CCC0-523B-4D3E-95CE-0722D4D6BF61}"/>
                </a:ext>
              </a:extLst>
            </p:cNvPr>
            <p:cNvGrpSpPr/>
            <p:nvPr/>
          </p:nvGrpSpPr>
          <p:grpSpPr>
            <a:xfrm>
              <a:off x="4242052" y="4197184"/>
              <a:ext cx="4207872" cy="369344"/>
              <a:chOff x="905933" y="3604539"/>
              <a:chExt cx="6058738" cy="494087"/>
            </a:xfrm>
            <a:noFill/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7491CEF-8D09-4950-AB73-717BCF9E8EA6}"/>
                  </a:ext>
                </a:extLst>
              </p:cNvPr>
              <p:cNvSpPr/>
              <p:nvPr/>
            </p:nvSpPr>
            <p:spPr bwMode="auto">
              <a:xfrm>
                <a:off x="905933" y="3604539"/>
                <a:ext cx="1008000" cy="494071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RNID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5E82F82-262D-44CD-A97F-93447FD1F3D2}"/>
                  </a:ext>
                </a:extLst>
              </p:cNvPr>
              <p:cNvSpPr/>
              <p:nvPr/>
            </p:nvSpPr>
            <p:spPr bwMode="auto">
              <a:xfrm>
                <a:off x="191393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C2DE89B-814D-48F3-A763-AA3A26B23AE1}"/>
                  </a:ext>
                </a:extLst>
              </p:cNvPr>
              <p:cNvSpPr/>
              <p:nvPr/>
            </p:nvSpPr>
            <p:spPr bwMode="auto">
              <a:xfrm>
                <a:off x="292747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2B7A690-1622-4BA5-B2C7-826B3473AE7E}"/>
                  </a:ext>
                </a:extLst>
              </p:cNvPr>
              <p:cNvSpPr/>
              <p:nvPr/>
            </p:nvSpPr>
            <p:spPr bwMode="auto">
              <a:xfrm>
                <a:off x="3941015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C8D31FD-97EB-4C5C-B8F8-314B7B92F343}"/>
                  </a:ext>
                </a:extLst>
              </p:cNvPr>
              <p:cNvSpPr/>
              <p:nvPr/>
            </p:nvSpPr>
            <p:spPr bwMode="auto">
              <a:xfrm>
                <a:off x="4948843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C50AF05-D557-4CCE-80F8-AEB7AF23B99A}"/>
                  </a:ext>
                </a:extLst>
              </p:cNvPr>
              <p:cNvSpPr/>
              <p:nvPr/>
            </p:nvSpPr>
            <p:spPr bwMode="auto">
              <a:xfrm>
                <a:off x="5956671" y="3604556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6B7B4C4F-EEDC-479E-8E01-66BE8E99D0BC}"/>
                </a:ext>
              </a:extLst>
            </p:cNvPr>
            <p:cNvGrpSpPr/>
            <p:nvPr/>
          </p:nvGrpSpPr>
          <p:grpSpPr>
            <a:xfrm>
              <a:off x="4242052" y="5218024"/>
              <a:ext cx="4207872" cy="369332"/>
              <a:chOff x="905933" y="3672502"/>
              <a:chExt cx="6058738" cy="494070"/>
            </a:xfrm>
            <a:noFill/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90A426D-B25C-42E9-855F-B9CAEBCE2AE6}"/>
                  </a:ext>
                </a:extLst>
              </p:cNvPr>
              <p:cNvSpPr/>
              <p:nvPr/>
            </p:nvSpPr>
            <p:spPr bwMode="auto">
              <a:xfrm>
                <a:off x="905933" y="3672502"/>
                <a:ext cx="1008000" cy="49407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RNID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03A42AB-9C59-4691-9118-4F73A79EC923}"/>
                  </a:ext>
                </a:extLst>
              </p:cNvPr>
              <p:cNvSpPr/>
              <p:nvPr/>
            </p:nvSpPr>
            <p:spPr bwMode="auto">
              <a:xfrm>
                <a:off x="1913933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FUNC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EB4755F-F505-4ED9-9D9E-728B091CB54D}"/>
                  </a:ext>
                </a:extLst>
              </p:cNvPr>
              <p:cNvSpPr/>
              <p:nvPr/>
            </p:nvSpPr>
            <p:spPr bwMode="auto">
              <a:xfrm>
                <a:off x="2927474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TYPE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99AB434-9D6E-4F78-87E9-FAB8B79E6B31}"/>
                  </a:ext>
                </a:extLst>
              </p:cNvPr>
              <p:cNvSpPr/>
              <p:nvPr/>
            </p:nvSpPr>
            <p:spPr bwMode="auto">
              <a:xfrm>
                <a:off x="3941015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MODE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9A58B3E-0C90-4930-B099-5F0C2D4D84B4}"/>
                  </a:ext>
                </a:extLst>
              </p:cNvPr>
              <p:cNvSpPr/>
              <p:nvPr/>
            </p:nvSpPr>
            <p:spPr bwMode="auto">
              <a:xfrm>
                <a:off x="4948843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ERRC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2F4C48D-B6D9-4E86-AEFC-BCC0308A7021}"/>
                  </a:ext>
                </a:extLst>
              </p:cNvPr>
              <p:cNvSpPr/>
              <p:nvPr/>
            </p:nvSpPr>
            <p:spPr bwMode="auto">
              <a:xfrm>
                <a:off x="5956671" y="3672502"/>
                <a:ext cx="1008000" cy="494070"/>
              </a:xfrm>
              <a:prstGeom prst="rect">
                <a:avLst/>
              </a:prstGeom>
              <a:grpFill/>
              <a:ln w="9525" cap="flat" cmpd="sng" algn="ctr">
                <a:solidFill>
                  <a:srgbClr val="44546A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rPr>
                  <a:t>DATA</a:t>
                </a: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471CB946-2C40-4B4D-A01F-E1DEB3BA6776}"/>
                </a:ext>
              </a:extLst>
            </p:cNvPr>
            <p:cNvSpPr txBox="1"/>
            <p:nvPr/>
          </p:nvSpPr>
          <p:spPr>
            <a:xfrm>
              <a:off x="4242052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kern="0" spc="-100" dirty="0">
                  <a:solidFill>
                    <a:prstClr val="black"/>
                  </a:solidFill>
                  <a:latin typeface="Calibri" panose="020F0502020204030204"/>
                </a:rPr>
                <a:t>2 </a:t>
              </a: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DBACB86-D955-468E-A556-166D07E1D6FF}"/>
                </a:ext>
              </a:extLst>
            </p:cNvPr>
            <p:cNvSpPr txBox="1"/>
            <p:nvPr/>
          </p:nvSpPr>
          <p:spPr>
            <a:xfrm>
              <a:off x="4947266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EBAE31C-7706-4C10-8076-61BE8FFECBB4}"/>
                </a:ext>
              </a:extLst>
            </p:cNvPr>
            <p:cNvSpPr txBox="1"/>
            <p:nvPr/>
          </p:nvSpPr>
          <p:spPr>
            <a:xfrm>
              <a:off x="5652480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kern="0" spc="-100" dirty="0">
                  <a:solidFill>
                    <a:prstClr val="black"/>
                  </a:solidFill>
                  <a:latin typeface="Calibri" panose="020F0502020204030204"/>
                </a:rPr>
                <a:t>2</a:t>
              </a: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000401D5-4402-4F75-8BB4-DA38B7759709}"/>
                </a:ext>
              </a:extLst>
            </p:cNvPr>
            <p:cNvSpPr txBox="1"/>
            <p:nvPr/>
          </p:nvSpPr>
          <p:spPr>
            <a:xfrm>
              <a:off x="6357694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kern="0" spc="-100" dirty="0">
                  <a:solidFill>
                    <a:prstClr val="black"/>
                  </a:solidFill>
                  <a:latin typeface="Calibri" panose="020F0502020204030204"/>
                </a:rPr>
                <a:t>2</a:t>
              </a: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168CF4C-BFDD-46D2-9D30-DCFC2EEB5451}"/>
                </a:ext>
              </a:extLst>
            </p:cNvPr>
            <p:cNvSpPr txBox="1"/>
            <p:nvPr/>
          </p:nvSpPr>
          <p:spPr>
            <a:xfrm>
              <a:off x="7062908" y="3831475"/>
              <a:ext cx="652759" cy="307777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kern="0" spc="-100" dirty="0">
                  <a:solidFill>
                    <a:prstClr val="black"/>
                  </a:solidFill>
                  <a:latin typeface="Calibri" panose="020F0502020204030204"/>
                </a:rPr>
                <a:t>2</a:t>
              </a: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122B0671-1D9D-418B-B4D0-5DE9B0653DEB}"/>
                </a:ext>
              </a:extLst>
            </p:cNvPr>
            <p:cNvSpPr txBox="1"/>
            <p:nvPr/>
          </p:nvSpPr>
          <p:spPr>
            <a:xfrm>
              <a:off x="7768122" y="3616032"/>
              <a:ext cx="652759" cy="523220"/>
            </a:xfrm>
            <a:prstGeom prst="rect">
              <a:avLst/>
            </a:prstGeom>
            <a:solidFill>
              <a:srgbClr val="E7E6E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2*29 Bytes</a:t>
              </a:r>
              <a:endParaRPr kumimoji="0" lang="zh-TW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F70E85ED-4629-4A3C-97AD-2AD0A2002DF7}"/>
                </a:ext>
              </a:extLst>
            </p:cNvPr>
            <p:cNvSpPr txBox="1"/>
            <p:nvPr/>
          </p:nvSpPr>
          <p:spPr>
            <a:xfrm>
              <a:off x="4242051" y="3215591"/>
              <a:ext cx="65275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kern="0" spc="-100" dirty="0">
                  <a:solidFill>
                    <a:prstClr val="black"/>
                  </a:solidFill>
                  <a:latin typeface="+mn-ea"/>
                  <a:ea typeface="+mn-ea"/>
                </a:rPr>
                <a:t>0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E9861464-23BB-44C2-BD27-17088F08F1E1}"/>
                </a:ext>
              </a:extLst>
            </p:cNvPr>
            <p:cNvSpPr txBox="1"/>
            <p:nvPr/>
          </p:nvSpPr>
          <p:spPr>
            <a:xfrm>
              <a:off x="4947265" y="3206598"/>
              <a:ext cx="65275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1</a:t>
              </a:r>
              <a:r>
                <a:rPr kumimoji="0" lang="en-US" altLang="zh-TW" sz="1200" kern="0" spc="-100" dirty="0">
                  <a:solidFill>
                    <a:prstClr val="black"/>
                  </a:solidFill>
                  <a:latin typeface="+mn-ea"/>
                  <a:ea typeface="+mn-ea"/>
                </a:rPr>
                <a:t>,2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F616BC77-4B95-4256-A6EF-F8C8D4954472}"/>
                </a:ext>
              </a:extLst>
            </p:cNvPr>
            <p:cNvSpPr txBox="1"/>
            <p:nvPr/>
          </p:nvSpPr>
          <p:spPr>
            <a:xfrm>
              <a:off x="5669692" y="3210300"/>
              <a:ext cx="65275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kern="0" spc="-100" dirty="0">
                  <a:solidFill>
                    <a:prstClr val="black"/>
                  </a:solidFill>
                  <a:latin typeface="+mn-ea"/>
                  <a:ea typeface="+mn-ea"/>
                </a:rPr>
                <a:t>3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EBB8DA22-1410-4833-994E-0DF89826C48E}"/>
                </a:ext>
              </a:extLst>
            </p:cNvPr>
            <p:cNvSpPr txBox="1"/>
            <p:nvPr/>
          </p:nvSpPr>
          <p:spPr>
            <a:xfrm>
              <a:off x="6357693" y="3203252"/>
              <a:ext cx="65275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4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7894A80-7D4D-4EC5-84EB-B732590974B1}"/>
                </a:ext>
              </a:extLst>
            </p:cNvPr>
            <p:cNvSpPr txBox="1"/>
            <p:nvPr/>
          </p:nvSpPr>
          <p:spPr>
            <a:xfrm>
              <a:off x="7060902" y="3204061"/>
              <a:ext cx="65275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5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C02B6B68-441B-4CF2-A08D-7473152ED6AE}"/>
                </a:ext>
              </a:extLst>
            </p:cNvPr>
            <p:cNvSpPr txBox="1"/>
            <p:nvPr/>
          </p:nvSpPr>
          <p:spPr>
            <a:xfrm>
              <a:off x="7768121" y="3203736"/>
              <a:ext cx="872188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</a:t>
              </a:r>
              <a:r>
                <a:rPr kumimoji="0" lang="en-US" altLang="zh-TW" sz="1200" kern="0" spc="-100" dirty="0">
                  <a:solidFill>
                    <a:prstClr val="black"/>
                  </a:solidFill>
                  <a:latin typeface="+mn-ea"/>
                  <a:ea typeface="+mn-ea"/>
                </a:rPr>
                <a:t>6~34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E5F1DE80-35CC-4DFD-BF8B-07CB6BB06A16}"/>
                </a:ext>
              </a:extLst>
            </p:cNvPr>
            <p:cNvSpPr txBox="1"/>
            <p:nvPr/>
          </p:nvSpPr>
          <p:spPr>
            <a:xfrm>
              <a:off x="2654839" y="3214158"/>
              <a:ext cx="1534757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Modbus</a:t>
              </a:r>
              <a:r>
                <a:rPr kumimoji="0" lang="zh-TW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</a:rPr>
                <a:t>欄位編號</a:t>
              </a:r>
              <a:r>
                <a:rPr kumimoji="0" lang="zh-TW" altLang="en-US" sz="1200" kern="0" spc="-100" dirty="0">
                  <a:solidFill>
                    <a:prstClr val="black"/>
                  </a:solidFill>
                  <a:latin typeface="+mn-ea"/>
                  <a:ea typeface="+mn-ea"/>
                </a:rPr>
                <a:t>：</a:t>
              </a:r>
              <a:endParaRPr kumimoji="0" lang="zh-TW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2C3B42AB-477F-4692-A097-91C58344BCF6}"/>
              </a:ext>
            </a:extLst>
          </p:cNvPr>
          <p:cNvGrpSpPr/>
          <p:nvPr/>
        </p:nvGrpSpPr>
        <p:grpSpPr>
          <a:xfrm>
            <a:off x="5704295" y="2616171"/>
            <a:ext cx="3423597" cy="1277273"/>
            <a:chOff x="5534136" y="1351346"/>
            <a:chExt cx="3423597" cy="1277273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2E2F8A51-679C-45B5-9CBA-ABBD97C55AC7}"/>
                </a:ext>
              </a:extLst>
            </p:cNvPr>
            <p:cNvSpPr/>
            <p:nvPr/>
          </p:nvSpPr>
          <p:spPr bwMode="auto">
            <a:xfrm>
              <a:off x="5534136" y="1376369"/>
              <a:ext cx="3386045" cy="1252250"/>
            </a:xfrm>
            <a:prstGeom prst="roundRect">
              <a:avLst>
                <a:gd name="adj" fmla="val 10029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89070F93-45C2-44A4-AC37-57FCCE0EAD23}"/>
                </a:ext>
              </a:extLst>
            </p:cNvPr>
            <p:cNvSpPr txBox="1"/>
            <p:nvPr/>
          </p:nvSpPr>
          <p:spPr>
            <a:xfrm>
              <a:off x="5534136" y="1351346"/>
              <a:ext cx="3423597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100" i="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unsigned int </a:t>
              </a:r>
              <a:r>
                <a:rPr lang="en-US" altLang="zh-TW" sz="1100" i="0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cmdVal</a:t>
              </a:r>
              <a:r>
                <a:rPr lang="en-US" altLang="zh-TW" sz="1100" i="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TW" sz="1100" b="1" i="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=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TW" sz="1100" b="0" i="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qFromLittleEndian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&lt;unsigned int&gt;(cmd.mid(0, 4).toUtf8().data());</a:t>
              </a:r>
            </a:p>
            <a:p>
              <a:r>
                <a:rPr lang="en-US" altLang="zh-TW" sz="1100" b="0" i="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quint16 cmd1 </a:t>
              </a:r>
              <a:r>
                <a:rPr lang="en-US" altLang="zh-TW" sz="1100" b="1" i="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=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TW" sz="1100" b="0" i="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cmdVal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zh-TW" sz="1100" b="0" i="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quint16 cmd2 </a:t>
              </a:r>
              <a:r>
                <a:rPr lang="en-US" altLang="zh-TW" sz="1100" b="1" i="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=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TW" sz="1100" b="0" i="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cmdVal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&gt;&gt; 16;</a:t>
              </a:r>
            </a:p>
            <a:p>
              <a:r>
                <a:rPr lang="en-US" altLang="zh-TW" sz="1100" b="0" i="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writeUnit.setValue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(1, cmd1);</a:t>
              </a:r>
            </a:p>
            <a:p>
              <a:r>
                <a:rPr lang="en-US" altLang="zh-TW" sz="1100" b="0" i="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writeUnit.setValue</a:t>
              </a:r>
              <a:r>
                <a:rPr lang="en-US" altLang="zh-TW" sz="1100" b="0" i="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(2, cmd2);</a:t>
              </a:r>
              <a:endParaRPr lang="zh-TW" altLang="en-US" sz="11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F4A76C4-B08D-4A6D-B696-056441B9F8B4}"/>
              </a:ext>
            </a:extLst>
          </p:cNvPr>
          <p:cNvCxnSpPr>
            <a:cxnSpLocks/>
          </p:cNvCxnSpPr>
          <p:nvPr/>
        </p:nvCxnSpPr>
        <p:spPr bwMode="auto">
          <a:xfrm>
            <a:off x="3984700" y="2629214"/>
            <a:ext cx="1753783" cy="1930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0738AEE-3C4D-4ACB-9B71-8F35FF05BC06}"/>
              </a:ext>
            </a:extLst>
          </p:cNvPr>
          <p:cNvSpPr txBox="1"/>
          <p:nvPr/>
        </p:nvSpPr>
        <p:spPr>
          <a:xfrm>
            <a:off x="4911513" y="251041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可參考</a:t>
            </a:r>
          </a:p>
        </p:txBody>
      </p:sp>
    </p:spTree>
    <p:extLst>
      <p:ext uri="{BB962C8B-B14F-4D97-AF65-F5344CB8AC3E}">
        <p14:creationId xmlns:p14="http://schemas.microsoft.com/office/powerpoint/2010/main" val="772221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多種啟動模式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189C558-CFB6-43AE-A954-DE77F4A7AB22}"/>
              </a:ext>
            </a:extLst>
          </p:cNvPr>
          <p:cNvSpPr txBox="1"/>
          <p:nvPr/>
        </p:nvSpPr>
        <p:spPr>
          <a:xfrm>
            <a:off x="450850" y="974265"/>
            <a:ext cx="67706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"You must run with arguments!"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QStringList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fromLocal8Bit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ras_debug_console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_d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"-d"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_d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ras_debug_console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"ON"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ras_run_type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_r 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runArgs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indexOf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"-r"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pt-BR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_r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"all"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ras_run_type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"server"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ras_run_type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"client"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ras_run_type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TW" sz="1200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…</a:t>
            </a:r>
            <a:endParaRPr lang="zh-TW" altLang="en-US" sz="1200" dirty="0"/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B0963D8C-193B-423D-8478-813FC445B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38785"/>
              </p:ext>
            </p:extLst>
          </p:nvPr>
        </p:nvGraphicFramePr>
        <p:xfrm>
          <a:off x="4417893" y="4510391"/>
          <a:ext cx="4445128" cy="13733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31190">
                  <a:extLst>
                    <a:ext uri="{9D8B030D-6E8A-4147-A177-3AD203B41FA5}">
                      <a16:colId xmlns:a16="http://schemas.microsoft.com/office/drawing/2014/main" val="3448448224"/>
                    </a:ext>
                  </a:extLst>
                </a:gridCol>
                <a:gridCol w="1423318">
                  <a:extLst>
                    <a:ext uri="{9D8B030D-6E8A-4147-A177-3AD203B41FA5}">
                      <a16:colId xmlns:a16="http://schemas.microsoft.com/office/drawing/2014/main" val="3816862317"/>
                    </a:ext>
                  </a:extLst>
                </a:gridCol>
                <a:gridCol w="584988">
                  <a:extLst>
                    <a:ext uri="{9D8B030D-6E8A-4147-A177-3AD203B41FA5}">
                      <a16:colId xmlns:a16="http://schemas.microsoft.com/office/drawing/2014/main" val="723265671"/>
                    </a:ext>
                  </a:extLst>
                </a:gridCol>
                <a:gridCol w="1805632">
                  <a:extLst>
                    <a:ext uri="{9D8B030D-6E8A-4147-A177-3AD203B41FA5}">
                      <a16:colId xmlns:a16="http://schemas.microsoft.com/office/drawing/2014/main" val="1827428594"/>
                    </a:ext>
                  </a:extLst>
                </a:gridCol>
              </a:tblGrid>
              <a:tr h="1685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功能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功能說明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參數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參數說明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779906"/>
                  </a:ext>
                </a:extLst>
              </a:tr>
              <a:tr h="168593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-r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79230" marR="79230" marT="39615" marB="396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執行方式</a:t>
                      </a:r>
                    </a:p>
                  </a:txBody>
                  <a:tcPr marL="79230" marR="79230" marT="39615" marB="396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同時執行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Server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與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58399"/>
                  </a:ext>
                </a:extLst>
              </a:tr>
              <a:tr h="16859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server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只執行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Server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120951"/>
                  </a:ext>
                </a:extLst>
              </a:tr>
              <a:tr h="16859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只執行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34237"/>
                  </a:ext>
                </a:extLst>
              </a:tr>
              <a:tr h="16859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-d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79230" marR="79230" marT="39615" marB="396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是否啟動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視窗</a:t>
                      </a:r>
                    </a:p>
                  </a:txBody>
                  <a:tcPr marL="79230" marR="79230" marT="39615" marB="396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啟動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視窗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小黑窗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524258"/>
                  </a:ext>
                </a:extLst>
              </a:tr>
              <a:tr h="16859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不啟動，但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資訊自動存入</a:t>
                      </a:r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檔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548758"/>
                  </a:ext>
                </a:extLst>
              </a:tr>
              <a:tr h="168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800" dirty="0" err="1">
                          <a:solidFill>
                            <a:schemeClr val="tx1"/>
                          </a:solidFill>
                        </a:rPr>
                        <a:t>nortss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不啟動</a:t>
                      </a:r>
                      <a:r>
                        <a:rPr lang="en-US" altLang="zh-TW" sz="800" dirty="0" err="1">
                          <a:solidFill>
                            <a:schemeClr val="tx1"/>
                          </a:solidFill>
                        </a:rPr>
                        <a:t>RCL_RTX.rtss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549113"/>
                  </a:ext>
                </a:extLst>
              </a:tr>
              <a:tr h="168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800" dirty="0" err="1">
                          <a:solidFill>
                            <a:schemeClr val="tx1"/>
                          </a:solidFill>
                        </a:rPr>
                        <a:t>initcmd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800" dirty="0">
                          <a:solidFill>
                            <a:schemeClr val="tx1"/>
                          </a:solidFill>
                        </a:rPr>
                        <a:t>切換成透過通訊啟動程式模式</a:t>
                      </a: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9747" marR="49747" marT="24874" marB="24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30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807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Server</a:t>
            </a:r>
            <a:r>
              <a:rPr lang="zh-TW" altLang="en-US" dirty="0"/>
              <a:t>處理訊息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189C558-CFB6-43AE-A954-DE77F4A7AB22}"/>
              </a:ext>
            </a:extLst>
          </p:cNvPr>
          <p:cNvSpPr txBox="1"/>
          <p:nvPr/>
        </p:nvSpPr>
        <p:spPr>
          <a:xfrm>
            <a:off x="3294591" y="970981"/>
            <a:ext cx="2554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RAS_Server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E7E3BD7-8876-4B7E-B410-CDE3FD60C092}"/>
              </a:ext>
            </a:extLst>
          </p:cNvPr>
          <p:cNvSpPr/>
          <p:nvPr/>
        </p:nvSpPr>
        <p:spPr bwMode="auto">
          <a:xfrm>
            <a:off x="450850" y="975667"/>
            <a:ext cx="2724150" cy="46166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位置、編碼器、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等資料更新執行緒 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更新頻率 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20Hz)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5DF0776-6506-47AA-92E8-35FAF7898A68}"/>
              </a:ext>
            </a:extLst>
          </p:cNvPr>
          <p:cNvSpPr/>
          <p:nvPr/>
        </p:nvSpPr>
        <p:spPr bwMode="auto">
          <a:xfrm>
            <a:off x="450850" y="1547087"/>
            <a:ext cx="2370666" cy="32145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TCP/IP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訊息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0CA1BC2-5635-44D0-A091-70237C74B33D}"/>
              </a:ext>
            </a:extLst>
          </p:cNvPr>
          <p:cNvSpPr txBox="1"/>
          <p:nvPr/>
        </p:nvSpPr>
        <p:spPr>
          <a:xfrm>
            <a:off x="450851" y="1913075"/>
            <a:ext cx="72199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RAS_Server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ProcessMessage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RC_MSG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hash_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toStdString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c_str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GVER"_hash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initByCmd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(!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isRunning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InitialSystem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SystemMode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KinematicsType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JointDOF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PoseDOF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msg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pt-BR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PoseMask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pt-B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to_ulong</a:t>
            </a:r>
            <a:r>
              <a:rPr lang="pt-B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pt-BR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DataDOF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61490F-320B-4499-A7E9-EA0610AAA419}"/>
              </a:ext>
            </a:extLst>
          </p:cNvPr>
          <p:cNvSpPr txBox="1"/>
          <p:nvPr/>
        </p:nvSpPr>
        <p:spPr>
          <a:xfrm>
            <a:off x="5200651" y="3666564"/>
            <a:ext cx="37740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typedef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RAS_COMM_MSG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command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type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err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RAS_MAX_DATA_NUMS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84D1E72-8B0D-4050-B4D0-0DDFEAB2C474}"/>
              </a:ext>
            </a:extLst>
          </p:cNvPr>
          <p:cNvSpPr/>
          <p:nvPr/>
        </p:nvSpPr>
        <p:spPr bwMode="auto">
          <a:xfrm>
            <a:off x="5300135" y="3322841"/>
            <a:ext cx="2370666" cy="32145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RAS_COMM_MSG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3385933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 Language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CCB9C59-B2D8-4E1F-9E58-D28BF386854A}"/>
              </a:ext>
            </a:extLst>
          </p:cNvPr>
          <p:cNvSpPr txBox="1"/>
          <p:nvPr/>
        </p:nvSpPr>
        <p:spPr>
          <a:xfrm>
            <a:off x="187325" y="1397338"/>
            <a:ext cx="87693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decoderCommands</a:t>
            </a:r>
            <a:r>
              <a:rPr lang="en-US" altLang="zh-TW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"PRINT"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"LOG"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"SLEEP"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"POINT"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"TIME"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"SQRT"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"POW"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"SIN"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"COS"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"TAN"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"ASIN"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"ACOS"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"ATAN"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s-E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"ATAN2"</a:t>
            </a:r>
            <a:endParaRPr lang="es-E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"DEG2RAD"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"RAD2DEG"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"CEIL"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"FLOOR"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"RAND"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n-NO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"ABS"</a:t>
            </a:r>
            <a:endParaRPr lang="nn-NO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"IF"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"ELSEIF"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"ELSE"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"ENDIF"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"WHILE"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"LOOP"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"FOR"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"NEXT"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"PAUSE"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"STOP"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"CMDPLUS"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"AREA"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"ACENTER"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"WAIT"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"PSPD"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"LSPD"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"SPDR"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"ACCT"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"DECT"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"ACCM"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"DECM"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"GETJ"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"GETP"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"GETE"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"INPUT"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"OUTPUT"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"ERROR"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"HOME"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"MOVJ"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"MOVL"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"MOVT"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"MOVF"</a:t>
            </a:r>
            <a:endParaRPr lang="en-US" altLang="zh-TW" sz="10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"ORIGIN"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"EXTEND"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"LOAD"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"UNLOAD"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0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"EXCHANGE"</a:t>
            </a:r>
            <a:r>
              <a:rPr lang="en-US" altLang="zh-TW" sz="10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zh-TW" altLang="en-US" sz="1000" dirty="0">
              <a:latin typeface="Consolas" panose="020B0609020204030204" pitchFamily="49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3FA3F12-D124-4AAF-84BC-29679A560CC2}"/>
              </a:ext>
            </a:extLst>
          </p:cNvPr>
          <p:cNvSpPr/>
          <p:nvPr/>
        </p:nvSpPr>
        <p:spPr bwMode="auto">
          <a:xfrm>
            <a:off x="323850" y="1015661"/>
            <a:ext cx="1157817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所有指令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DD999A8-CC6E-4DFC-A031-D8E3E1FD9453}"/>
              </a:ext>
            </a:extLst>
          </p:cNvPr>
          <p:cNvSpPr/>
          <p:nvPr/>
        </p:nvSpPr>
        <p:spPr bwMode="auto">
          <a:xfrm>
            <a:off x="323850" y="2842187"/>
            <a:ext cx="1157817" cy="32145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6DDEE67-F378-402E-A219-9727BF7A9CF8}"/>
              </a:ext>
            </a:extLst>
          </p:cNvPr>
          <p:cNvSpPr txBox="1"/>
          <p:nvPr/>
        </p:nvSpPr>
        <p:spPr>
          <a:xfrm>
            <a:off x="323850" y="3198292"/>
            <a:ext cx="74316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RAS_CODE_DESC RAS_Language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ProcessCode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RAS_CODE rc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run_index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RAS_CODE_DESC ret 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CODE_DESC_ERROR</a:t>
            </a:r>
            <a:r>
              <a:rPr lang="fr-FR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E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ret </a:t>
            </a:r>
            <a:r>
              <a:rPr lang="es-E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s-E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CODE_DESC_NO_ERROR</a:t>
            </a:r>
            <a:r>
              <a:rPr lang="es-E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s-E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rc_cmd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toStdString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hash_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rc_cmd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c_str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upper_exec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logic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lIndex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].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lIndex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MAX_LOGIC_RANGE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lIndex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MAX_LOGIC_RANGE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lIndex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36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 Language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3FA3F12-D124-4AAF-84BC-29679A560CC2}"/>
              </a:ext>
            </a:extLst>
          </p:cNvPr>
          <p:cNvSpPr/>
          <p:nvPr/>
        </p:nvSpPr>
        <p:spPr bwMode="auto">
          <a:xfrm>
            <a:off x="323850" y="1015662"/>
            <a:ext cx="1157817" cy="29667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B31995-E62D-4F64-9B76-934C521B482B}"/>
              </a:ext>
            </a:extLst>
          </p:cNvPr>
          <p:cNvSpPr txBox="1"/>
          <p:nvPr/>
        </p:nvSpPr>
        <p:spPr>
          <a:xfrm>
            <a:off x="323850" y="1312334"/>
            <a:ext cx="80835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以上省略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200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hash_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rc_cmd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c_str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ret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SetNumber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ret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SetPoint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ret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SetPoint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ret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SetPoint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TIME"_hash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clock_t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time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clock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SetValNum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)/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CLOCKS_PER_SEC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E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ret </a:t>
            </a:r>
            <a:r>
              <a:rPr lang="es-E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s-E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CODE_DESC_NO_ERROR</a:t>
            </a:r>
            <a:r>
              <a:rPr lang="es-E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s-E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333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 Language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61E39D2-46F5-497E-A12A-E1B5BC2EF7AD}"/>
              </a:ext>
            </a:extLst>
          </p:cNvPr>
          <p:cNvSpPr txBox="1"/>
          <p:nvPr/>
        </p:nvSpPr>
        <p:spPr>
          <a:xfrm>
            <a:off x="552450" y="1545997"/>
            <a:ext cx="723688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(*(*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'('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res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Eval0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da-DK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da-DK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')'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strtod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da-DK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Eval2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'*'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'/'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da-DK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'*'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)?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*=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Eval2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da-DK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)):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/=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Eval2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da-DK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da-DK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Eval1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'+'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'-'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res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+=(**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da-DK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'+'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)?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Eval1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da-DK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Eval1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da-DK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a-DK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end</a:t>
            </a:r>
            <a:r>
              <a:rPr lang="da-DK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da-DK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53D5924F-94C4-4770-9073-CEC1D1120F2C}"/>
              </a:ext>
            </a:extLst>
          </p:cNvPr>
          <p:cNvSpPr/>
          <p:nvPr/>
        </p:nvSpPr>
        <p:spPr bwMode="auto">
          <a:xfrm>
            <a:off x="501650" y="1090570"/>
            <a:ext cx="1157817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四則運算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2942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 Language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189C558-CFB6-43AE-A954-DE77F4A7AB22}"/>
              </a:ext>
            </a:extLst>
          </p:cNvPr>
          <p:cNvSpPr txBox="1"/>
          <p:nvPr/>
        </p:nvSpPr>
        <p:spPr>
          <a:xfrm>
            <a:off x="2914650" y="912589"/>
            <a:ext cx="25548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runThrd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runRL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E7E3BD7-8876-4B7E-B410-CDE3FD60C092}"/>
              </a:ext>
            </a:extLst>
          </p:cNvPr>
          <p:cNvSpPr/>
          <p:nvPr/>
        </p:nvSpPr>
        <p:spPr bwMode="auto">
          <a:xfrm>
            <a:off x="450850" y="975667"/>
            <a:ext cx="2370666" cy="88950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Language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更新執行緒</a:t>
            </a:r>
            <a:endParaRPr kumimoji="1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runRL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=1: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一般執行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runRL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runRL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=0: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停止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559BEFE-8C4E-46AF-BC3B-1427EDA9179B}"/>
              </a:ext>
            </a:extLst>
          </p:cNvPr>
          <p:cNvSpPr txBox="1"/>
          <p:nvPr/>
        </p:nvSpPr>
        <p:spPr>
          <a:xfrm>
            <a:off x="450850" y="2523849"/>
            <a:ext cx="73554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rcode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rcode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runLineIndex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runLineState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CODE_DESC_NO_ERROR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while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codePause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forceStop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g_server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errorCode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RAS_NO_ERROR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this_thread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sleep_for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chrono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milliseconds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forceStop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g_server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errorCode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RAS_NO_ERROR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forceStop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runState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RAS_RUN_STOP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IRA_Stop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codePause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langRunning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break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AF217C1-D210-4480-8ED7-320FBDB17FF8}"/>
              </a:ext>
            </a:extLst>
          </p:cNvPr>
          <p:cNvSpPr/>
          <p:nvPr/>
        </p:nvSpPr>
        <p:spPr bwMode="auto">
          <a:xfrm>
            <a:off x="450850" y="2142277"/>
            <a:ext cx="1157817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一般執行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0E3E09A-55D8-40C8-A729-91EED626DD3D}"/>
              </a:ext>
            </a:extLst>
          </p:cNvPr>
          <p:cNvSpPr/>
          <p:nvPr/>
        </p:nvSpPr>
        <p:spPr bwMode="auto">
          <a:xfrm>
            <a:off x="3239558" y="4865714"/>
            <a:ext cx="1648884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forceStop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強制停止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8239724-61A8-4791-8AA6-7B78627436E0}"/>
              </a:ext>
            </a:extLst>
          </p:cNvPr>
          <p:cNvSpPr/>
          <p:nvPr/>
        </p:nvSpPr>
        <p:spPr bwMode="auto">
          <a:xfrm>
            <a:off x="3239558" y="5247286"/>
            <a:ext cx="185737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codePause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是否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暫停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A725B677-5849-4333-ACDD-0126515CC37C}"/>
              </a:ext>
            </a:extLst>
          </p:cNvPr>
          <p:cNvSpPr/>
          <p:nvPr/>
        </p:nvSpPr>
        <p:spPr bwMode="auto">
          <a:xfrm>
            <a:off x="5808660" y="1588072"/>
            <a:ext cx="1446742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6E78F7-8832-4B5D-B8D1-BB9F8361D5EF}"/>
              </a:ext>
            </a:extLst>
          </p:cNvPr>
          <p:cNvSpPr txBox="1"/>
          <p:nvPr/>
        </p:nvSpPr>
        <p:spPr>
          <a:xfrm>
            <a:off x="5808660" y="2034483"/>
            <a:ext cx="2884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以上省略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200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(!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IsEmptyQ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PopQ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runLineState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runState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RAS_RUN_EXEC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runRL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578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教導點位系統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DD9306-92C7-44A8-90B7-216BA9A51E70}"/>
              </a:ext>
            </a:extLst>
          </p:cNvPr>
          <p:cNvSpPr txBox="1"/>
          <p:nvPr/>
        </p:nvSpPr>
        <p:spPr>
          <a:xfrm>
            <a:off x="450850" y="958690"/>
            <a:ext cx="71606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QThread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RAS_Server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parent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~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RAS_Language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SetValJoints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jnts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SetValPose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SetValData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DB63E7B-631A-45B4-8A36-76A74BF18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44786" y="2661541"/>
            <a:ext cx="1177502" cy="3498467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973FF52-66C4-46BE-AE69-9BD722917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305887"/>
              </p:ext>
            </p:extLst>
          </p:nvPr>
        </p:nvGraphicFramePr>
        <p:xfrm>
          <a:off x="657225" y="2975107"/>
          <a:ext cx="6911392" cy="339923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26859">
                  <a:extLst>
                    <a:ext uri="{9D8B030D-6E8A-4147-A177-3AD203B41FA5}">
                      <a16:colId xmlns:a16="http://schemas.microsoft.com/office/drawing/2014/main" val="2330968215"/>
                    </a:ext>
                  </a:extLst>
                </a:gridCol>
                <a:gridCol w="3229287">
                  <a:extLst>
                    <a:ext uri="{9D8B030D-6E8A-4147-A177-3AD203B41FA5}">
                      <a16:colId xmlns:a16="http://schemas.microsoft.com/office/drawing/2014/main" val="3560151883"/>
                    </a:ext>
                  </a:extLst>
                </a:gridCol>
                <a:gridCol w="1255246">
                  <a:extLst>
                    <a:ext uri="{9D8B030D-6E8A-4147-A177-3AD203B41FA5}">
                      <a16:colId xmlns:a16="http://schemas.microsoft.com/office/drawing/2014/main" val="3817989344"/>
                    </a:ext>
                  </a:extLst>
                </a:gridCol>
              </a:tblGrid>
              <a:tr h="121321"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參數名稱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說明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843876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Stage index (1 ~ 100)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站號 </a:t>
                      </a:r>
                      <a:r>
                        <a:rPr lang="en-US" sz="80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(1~100)</a:t>
                      </a:r>
                      <a:endParaRPr lang="zh-TW" sz="8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 </a:t>
                      </a:r>
                      <a:endParaRPr lang="zh-TW" sz="8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643019"/>
                  </a:ext>
                </a:extLst>
              </a:tr>
              <a:tr h="242643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Stage width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Stage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寬度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碰撞檢知用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433529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Stage safety distance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Stage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安全距離 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碰撞檢知用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566561"/>
                  </a:ext>
                </a:extLst>
              </a:tr>
              <a:tr h="242643">
                <a:tc>
                  <a:txBody>
                    <a:bodyPr/>
                    <a:lstStyle/>
                    <a:p>
                      <a:r>
                        <a:rPr lang="en-US" sz="800" kern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Wrist angle [deg]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關閉牙叉自動對心時，雙牙叉型式機器人之牙叉夾角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度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77159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Number of slots (1 ~ 100)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最大層數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931044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Slot interval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層與層之間間距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962093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Lifting quantity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取放過程中，抬升高度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884669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Retracting distance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取放過程中，抽出距離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063449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Extending distance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取放過程中，伸入距離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464086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Z-axis max speed [mm/s]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軸最大速度 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:mm/s)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74173"/>
                  </a:ext>
                </a:extLst>
              </a:tr>
              <a:tr h="23051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Z-axis acceleration [mm/s^2]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軸加速度 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:mm/s^2)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684332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In: Z-axis max speed [mm/s]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放片過程中，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軸最大速度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:mm/s)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381297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In: Z-axis acceleration [mm/s^2]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放片過程中，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軸加速度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:mm/s^2)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525082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Work contact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取片過程中，接觸點高度 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 (3~4)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45667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Offset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取片過程中，教導點偏移量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 (T~3)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638903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Retaining start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取片過程中，真空開啟時距離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 (5~6)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172671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Out: Retaining check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取片過程中，真空確認時距離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 (6~7)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68599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In: Work contact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放片過程中，接觸點高度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 (11~12)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528002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In: Offset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放片過程中，教導點偏移量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 (T~12)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324673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In: Retaining cancel [mm]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放片過程中，真空關閉時距離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:mm)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註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 (10~E)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876812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Retaining timeout [ms]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真空開啟時，真空產生最大延時 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單位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:ms)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582263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Wrist x</a:t>
                      </a:r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 Retaining ON id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真空開啟，對應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編號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表示不設置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71531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Wrist x</a:t>
                      </a:r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 Retaining OFF id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真空關閉，對應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編號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表示不設置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080346"/>
                  </a:ext>
                </a:extLst>
              </a:tr>
              <a:tr h="121321">
                <a:tc>
                  <a:txBody>
                    <a:bodyPr/>
                    <a:lstStyle/>
                    <a:p>
                      <a:r>
                        <a:rPr lang="en-US" sz="800" kern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Wrist x</a:t>
                      </a:r>
                      <a:r>
                        <a:rPr lang="en-US" sz="800" ker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細明體" panose="02020509000000000000" pitchFamily="49" charset="-120"/>
                        </a:rPr>
                        <a:t> Retaining check id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確認真空是否建立，對應</a:t>
                      </a:r>
                      <a:r>
                        <a:rPr lang="en-US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lang="zh-TW" sz="800" kern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編號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TW" sz="800" kern="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表示不偵測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488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382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RASC</a:t>
            </a:r>
            <a:r>
              <a:rPr lang="zh-TW" altLang="en-US" dirty="0"/>
              <a:t>初始化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62A61D-1277-4A08-A725-B83D67268A42}"/>
              </a:ext>
            </a:extLst>
          </p:cNvPr>
          <p:cNvSpPr txBox="1"/>
          <p:nvPr/>
        </p:nvSpPr>
        <p:spPr>
          <a:xfrm>
            <a:off x="188384" y="1010245"/>
            <a:ext cx="8955616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RASeMIO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g_err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rasComm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SystemMode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KinematicsType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JointDOF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PoseDOF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PoseMask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DataDOF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E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s-E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s-E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s-E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g_err </a:t>
            </a:r>
            <a:r>
              <a:rPr lang="es-E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s-E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RAS_NO_ERROR</a:t>
            </a:r>
            <a:r>
              <a:rPr lang="es-E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s-E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E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s-E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"Error"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"Error Occurred! Code: 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g_err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QMessageBox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Information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close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KinematicsType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RAS_A6_TYPE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SetCameraPosition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0.8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SetCameraFocalPoint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g_robot</a:t>
            </a:r>
            <a:r>
              <a:rPr lang="en-US" altLang="zh-TW" sz="105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push_back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CreateModel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"ITRI-AR607"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mecDH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program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QTimer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updateTimer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QTimer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connect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updateTimer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QTimer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timeout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]()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jnts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encs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});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updateTimer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start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050" dirty="0">
              <a:latin typeface="Consolas" panose="020B0609020204030204" pitchFamily="49" charset="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2E155E4-50C9-4826-B9F4-5AB33A9DB1BA}"/>
              </a:ext>
            </a:extLst>
          </p:cNvPr>
          <p:cNvSpPr/>
          <p:nvPr/>
        </p:nvSpPr>
        <p:spPr bwMode="auto">
          <a:xfrm>
            <a:off x="2850092" y="5060448"/>
            <a:ext cx="193357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Timer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更新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RASC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各種狀態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3F2BF82-57D2-499A-B496-5078461D9DBA}"/>
              </a:ext>
            </a:extLst>
          </p:cNvPr>
          <p:cNvSpPr/>
          <p:nvPr/>
        </p:nvSpPr>
        <p:spPr bwMode="auto">
          <a:xfrm>
            <a:off x="2701926" y="2778085"/>
            <a:ext cx="101494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初始化模型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A5FDFDE-F4E1-4289-82C6-510B810DF4B6}"/>
              </a:ext>
            </a:extLst>
          </p:cNvPr>
          <p:cNvSpPr/>
          <p:nvPr/>
        </p:nvSpPr>
        <p:spPr bwMode="auto">
          <a:xfrm>
            <a:off x="2194455" y="1062672"/>
            <a:ext cx="101494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初始化系統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33882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RASC</a:t>
            </a:r>
            <a:r>
              <a:rPr lang="zh-TW" altLang="en-US" dirty="0"/>
              <a:t>存檔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8C26CF-19CB-4705-83D6-914D80AFA6FB}"/>
              </a:ext>
            </a:extLst>
          </p:cNvPr>
          <p:cNvSpPr txBox="1"/>
          <p:nvPr/>
        </p:nvSpPr>
        <p:spPr>
          <a:xfrm>
            <a:off x="450849" y="1036639"/>
            <a:ext cx="58060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RASeMIO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QJsonObject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program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codeEditor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toPlainText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IRB_POINTS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robotTp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IRB_SCENE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render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IRB_FLOW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program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flow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IRB_USER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ArrayToString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userCoordinate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insert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IRB_TOOL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ArrayToString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toolCoordinate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QJsonDocument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irbDoc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irbDoc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QStringList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files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GetAllFiles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GetTempPath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JlCompress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compressFiles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emit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43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RASC</a:t>
            </a:r>
            <a:r>
              <a:rPr lang="zh-TW" altLang="en-US" dirty="0"/>
              <a:t>讀檔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8C26CF-19CB-4705-83D6-914D80AFA6FB}"/>
              </a:ext>
            </a:extLst>
          </p:cNvPr>
          <p:cNvSpPr txBox="1"/>
          <p:nvPr/>
        </p:nvSpPr>
        <p:spPr>
          <a:xfrm>
            <a:off x="450850" y="1036639"/>
            <a:ext cx="83693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RASeMIO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OpenIRB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QStringList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files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JlCompress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getFileList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RemoveFiles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JlCompress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extractFiles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GetTempPath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QJsonDocument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irbDoc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(!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OpenData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irbDoc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QJsonObject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irbDoc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program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codeEditor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setPlainText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IRB_CODE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program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flow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IRB_FLOW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toObject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render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IRB_SCENE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toObject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robotTp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SetJson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IRB_POINTS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toObject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userCoordinate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StringToArray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IRB_USER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toolCoordinate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StringToArray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</a:t>
            </a:r>
            <a:r>
              <a:rPr lang="en-US" altLang="zh-TW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IRB_TOOL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GetRenderRobot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SetUserCoord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Vector2Frame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MMDeg2MRad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userCoordinate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SetToolCoord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Vector2Frame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MMDeg2MRad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toolCoordinate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updateUserCoord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updateToolCoord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emit </a:t>
            </a:r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SetIRB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56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 Render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30A2DA-DA9C-40CB-8C43-EA9626578C2B}"/>
              </a:ext>
            </a:extLst>
          </p:cNvPr>
          <p:cNvSpPr txBox="1"/>
          <p:nvPr/>
        </p:nvSpPr>
        <p:spPr>
          <a:xfrm>
            <a:off x="416984" y="1380608"/>
            <a:ext cx="42185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RAS_Render</a:t>
            </a:r>
            <a:r>
              <a:rPr lang="en-US" altLang="zh-TW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QWidget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Q_OBJECT</a:t>
            </a:r>
          </a:p>
          <a:p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RAS_Render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QWidget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~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RAS_Render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CreateRenderWindow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GetSceneSize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SetCameraPosition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 pos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910CDB9-6BFA-4E2D-BB4D-AB684909FED0}"/>
              </a:ext>
            </a:extLst>
          </p:cNvPr>
          <p:cNvSpPr/>
          <p:nvPr/>
        </p:nvSpPr>
        <p:spPr bwMode="auto">
          <a:xfrm>
            <a:off x="450850" y="998931"/>
            <a:ext cx="1373716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3D Render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視窗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1ECED61-A5F0-46DE-BED5-90A1968A160A}"/>
              </a:ext>
            </a:extLst>
          </p:cNvPr>
          <p:cNvSpPr/>
          <p:nvPr/>
        </p:nvSpPr>
        <p:spPr bwMode="auto">
          <a:xfrm>
            <a:off x="450850" y="3395133"/>
            <a:ext cx="1373716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Render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9A4D347-BBD1-4455-B71B-2E7581CF4C5D}"/>
              </a:ext>
            </a:extLst>
          </p:cNvPr>
          <p:cNvSpPr txBox="1"/>
          <p:nvPr/>
        </p:nvSpPr>
        <p:spPr>
          <a:xfrm>
            <a:off x="5013324" y="1047796"/>
            <a:ext cx="390419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typedef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LINK_DESC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color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pos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rot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zh-TW" alt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std::vector&lt;LINK_DESC&gt;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sub_link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alias;</a:t>
            </a: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typedef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JOINT_DESC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pos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axis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tip_pos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QVector3D </a:t>
            </a:r>
            <a:r>
              <a:rPr lang="en-US" altLang="zh-TW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tip_rot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type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RAS_JOINT</a:t>
            </a:r>
            <a:r>
              <a:rPr lang="en-US" altLang="zh-TW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zh-TW" altLang="en-US" sz="1200" dirty="0">
              <a:latin typeface="Consolas" panose="020B0609020204030204" pitchFamily="49" charset="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6CF8641-2CE2-4F55-99F5-C56C6A92FB91}"/>
              </a:ext>
            </a:extLst>
          </p:cNvPr>
          <p:cNvSpPr/>
          <p:nvPr/>
        </p:nvSpPr>
        <p:spPr bwMode="auto">
          <a:xfrm>
            <a:off x="5013324" y="641162"/>
            <a:ext cx="1373716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連桿、關節結構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B304A77-B268-41E5-86D9-CBA6E4568EA5}"/>
              </a:ext>
            </a:extLst>
          </p:cNvPr>
          <p:cNvSpPr txBox="1"/>
          <p:nvPr/>
        </p:nvSpPr>
        <p:spPr>
          <a:xfrm>
            <a:off x="226483" y="3912128"/>
            <a:ext cx="1012401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QObject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Q_OBJECT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is_robot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RAS_Render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~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CopyFrom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SetKinematics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kine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NodeMat4x4 Pose2Matrix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LoadSTL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fromResource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color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alias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SetInitTrans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SetLinkPose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164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RAS Render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910CDB9-6BFA-4E2D-BB4D-AB684909FED0}"/>
              </a:ext>
            </a:extLst>
          </p:cNvPr>
          <p:cNvSpPr/>
          <p:nvPr/>
        </p:nvSpPr>
        <p:spPr bwMode="auto">
          <a:xfrm>
            <a:off x="95250" y="1826763"/>
            <a:ext cx="1373716" cy="26617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建立模型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04B5F0-AAFB-45E4-B7EE-A5FB44CBCFDA}"/>
              </a:ext>
            </a:extLst>
          </p:cNvPr>
          <p:cNvSpPr txBox="1"/>
          <p:nvPr/>
        </p:nvSpPr>
        <p:spPr>
          <a:xfrm>
            <a:off x="0" y="2101634"/>
            <a:ext cx="927946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RenderModel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RAS_Render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CreateModel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is_robot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map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RAS_A6_TYPE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"AR607_base.stl"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0.25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"AR607_link1.stl"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0.095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"AR607_link2.stl"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"AR607_link3.stl"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0.106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"AR607_link4.stl"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"AR607_link5.stl"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0.102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AddMechanism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RAS_LINK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"AR607_link6.stl"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230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RAS_JOINT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PI_2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PI_2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SetDefaultCoord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Frame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Rotation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RPY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0.345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CreateUserCoord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Frame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Rotation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RPY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0.3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CreateToolCoord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Frame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Rotation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RPY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KDL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0.15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InitialModel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05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UpdateModels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05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05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05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zh-TW" altLang="en-US" sz="1050" dirty="0">
              <a:latin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206EA3F-8200-484E-8AA7-1F073A165803}"/>
              </a:ext>
            </a:extLst>
          </p:cNvPr>
          <p:cNvSpPr txBox="1"/>
          <p:nvPr/>
        </p:nvSpPr>
        <p:spPr>
          <a:xfrm>
            <a:off x="1553633" y="1203426"/>
            <a:ext cx="8045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LINK_DESC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QColor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_color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_pos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_rot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_alias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JOINT_DESC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QVector3D _pos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_axis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_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QVector3D _trot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_type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062E38C-91C8-4517-AED3-7F388A534BF6}"/>
              </a:ext>
            </a:extLst>
          </p:cNvPr>
          <p:cNvSpPr/>
          <p:nvPr/>
        </p:nvSpPr>
        <p:spPr bwMode="auto">
          <a:xfrm>
            <a:off x="95250" y="1203426"/>
            <a:ext cx="1373716" cy="3816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建立連桿、關節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2833C12-F118-44B0-8BC4-A0F31577D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932" y="139718"/>
            <a:ext cx="1885271" cy="10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49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IRAL</a:t>
            </a:r>
            <a:r>
              <a:rPr lang="zh-TW" altLang="en-US" dirty="0"/>
              <a:t>指令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8C26CF-19CB-4705-83D6-914D80AFA6FB}"/>
              </a:ext>
            </a:extLst>
          </p:cNvPr>
          <p:cNvSpPr txBox="1"/>
          <p:nvPr/>
        </p:nvSpPr>
        <p:spPr>
          <a:xfrm>
            <a:off x="0" y="878132"/>
            <a:ext cx="927311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IRA_Initial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QSplashScreen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splash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初始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IRA_Release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釋放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IRA_GetRobotRCLVersion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版本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IRA_GetRCLVersion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版本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IRA_GetIRALVersion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Version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版本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IRA_Add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Dll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測試指令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a+b</a:t>
            </a:r>
            <a:endParaRPr lang="en-US" altLang="zh-TW" sz="11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IRA_LoadFile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讀取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Unicode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文字檔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IRA_SaveFile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儲存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Unicode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文字檔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IRA_LoadParameter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MaxParameter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讀取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Unicode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參數字檔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IRA_SaveParameter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ParameterNums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儲存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Unicode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參數檔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IRA_QStringToA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 char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IRA_GetSystemTime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得到系統時間</a:t>
            </a: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IRA_AppPath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path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得到目前路徑</a:t>
            </a:r>
            <a:endParaRPr lang="en-US" altLang="zh-TW" sz="11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IRA_RbtCommand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extern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IRAL_EXPORT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IRA_RbtRtCommand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60B5921-01CD-4338-A4C4-92459DF88D86}"/>
              </a:ext>
            </a:extLst>
          </p:cNvPr>
          <p:cNvSpPr/>
          <p:nvPr/>
        </p:nvSpPr>
        <p:spPr bwMode="auto">
          <a:xfrm>
            <a:off x="6209241" y="3156488"/>
            <a:ext cx="245004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SHM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函式，對應底層函式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1354A90-2A9C-4D30-B15E-759F2BD43DCA}"/>
              </a:ext>
            </a:extLst>
          </p:cNvPr>
          <p:cNvSpPr txBox="1"/>
          <p:nvPr/>
        </p:nvSpPr>
        <p:spPr>
          <a:xfrm>
            <a:off x="-15875" y="3835395"/>
            <a:ext cx="609600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Robotics_Sys_Ctl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Rbt_RbtCommand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RBT_CMD_TEST_TYPE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RBT_CMD_LOG_MODE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Robotics_Sys_Ctl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Rbt_RbtRtCommand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RBT_CMD_TEST_TYPE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RBT_CMD_SELECT_ID_SET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  <a:p>
            <a:endParaRPr lang="en-US" altLang="zh-TW" sz="11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753B0C0-4845-4343-B0AD-5310BCEFA1B7}"/>
              </a:ext>
            </a:extLst>
          </p:cNvPr>
          <p:cNvSpPr/>
          <p:nvPr/>
        </p:nvSpPr>
        <p:spPr bwMode="auto">
          <a:xfrm>
            <a:off x="2483386" y="4391896"/>
            <a:ext cx="5720813" cy="52151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對應底層</a:t>
            </a: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函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式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r>
              <a:rPr lang="zh-TW" altLang="en-US" sz="1100" dirty="0">
                <a:latin typeface="+mn-ea"/>
                <a:ea typeface="+mn-ea"/>
              </a:rPr>
              <a:t>位置：RASeMIO\eMIO\src\ROBOT_WinRTX_KS_Version\robotics</a:t>
            </a:r>
            <a:r>
              <a:rPr lang="en-US" altLang="zh-TW" sz="1100" dirty="0">
                <a:latin typeface="+mn-ea"/>
                <a:ea typeface="+mn-ea"/>
              </a:rPr>
              <a:t>\rbt_system.cpp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F1598A4-D092-46A5-A984-FBD64649867E}"/>
              </a:ext>
            </a:extLst>
          </p:cNvPr>
          <p:cNvSpPr/>
          <p:nvPr/>
        </p:nvSpPr>
        <p:spPr bwMode="auto">
          <a:xfrm>
            <a:off x="6209241" y="3485602"/>
            <a:ext cx="277389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 SHM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函式，對應底層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RT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函式</a:t>
            </a:r>
          </a:p>
        </p:txBody>
      </p:sp>
    </p:spTree>
    <p:extLst>
      <p:ext uri="{BB962C8B-B14F-4D97-AF65-F5344CB8AC3E}">
        <p14:creationId xmlns:p14="http://schemas.microsoft.com/office/powerpoint/2010/main" val="1684851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通訊流程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4ECC87-39B2-4916-8EDB-A0158061C9FE}"/>
              </a:ext>
            </a:extLst>
          </p:cNvPr>
          <p:cNvSpPr/>
          <p:nvPr/>
        </p:nvSpPr>
        <p:spPr bwMode="auto">
          <a:xfrm>
            <a:off x="323850" y="1022162"/>
            <a:ext cx="2859617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IRA_Move_J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  <a:endParaRPr kumimoji="1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\RAS\IRAL\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\iral.cpp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49C02A-0BF5-4C2D-8C77-BDA532BC669D}"/>
              </a:ext>
            </a:extLst>
          </p:cNvPr>
          <p:cNvSpPr txBox="1"/>
          <p:nvPr/>
        </p:nvSpPr>
        <p:spPr>
          <a:xfrm>
            <a:off x="323850" y="1527009"/>
            <a:ext cx="809201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IRA_Move_J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Degree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IRALApp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ROBOTRCL_Move_J2_API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Degree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IRALApp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ROBOTRCL_Move_J2_API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Degree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0622F3B-50E4-4DCB-A50B-CE27E19D7B8E}"/>
              </a:ext>
            </a:extLst>
          </p:cNvPr>
          <p:cNvSpPr/>
          <p:nvPr/>
        </p:nvSpPr>
        <p:spPr bwMode="auto">
          <a:xfrm>
            <a:off x="323849" y="3511147"/>
            <a:ext cx="4959351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ROBOTRCL_Move_J2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\rclq100_windows\</a:t>
            </a:r>
            <a:r>
              <a:rPr lang="en-US" altLang="zh-TW" sz="1100" dirty="0" err="1">
                <a:latin typeface="+mn-ea"/>
                <a:ea typeface="+mn-ea"/>
              </a:rPr>
              <a:t>RobotRCL</a:t>
            </a:r>
            <a:r>
              <a:rPr lang="en-US" altLang="zh-TW" sz="1100" dirty="0">
                <a:latin typeface="+mn-ea"/>
                <a:ea typeface="+mn-ea"/>
              </a:rPr>
              <a:t>\robotrcl.cpp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FF0C71-64BC-414B-92D1-ABE21897E24B}"/>
              </a:ext>
            </a:extLst>
          </p:cNvPr>
          <p:cNvSpPr txBox="1"/>
          <p:nvPr/>
        </p:nvSpPr>
        <p:spPr>
          <a:xfrm>
            <a:off x="323849" y="3142836"/>
            <a:ext cx="79332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ROBOTRCL_Move_J2_API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ROBOTRCL_Move_J2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hROBOTRCLDll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resolve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"ROBOTRCL_Move_J2"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3081D-8D42-4C53-A0BD-6BFC6131DA41}"/>
              </a:ext>
            </a:extLst>
          </p:cNvPr>
          <p:cNvSpPr txBox="1"/>
          <p:nvPr/>
        </p:nvSpPr>
        <p:spPr>
          <a:xfrm>
            <a:off x="323849" y="4053718"/>
            <a:ext cx="870161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ROBOTRCL_Move_J2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Degree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DWORD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cmdidx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RCL_PtP_V6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g_nGroupIndex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ROBOTRCL_WaitCommands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BEAF5EC-26F1-4A35-8E02-750F69151786}"/>
              </a:ext>
            </a:extLst>
          </p:cNvPr>
          <p:cNvSpPr/>
          <p:nvPr/>
        </p:nvSpPr>
        <p:spPr bwMode="auto">
          <a:xfrm>
            <a:off x="323849" y="5399968"/>
            <a:ext cx="4146551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RCL_PtP_V6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pt-BR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RASeMIO\eMIO\src\DLL_MCC_RTX_2.2\ptp_ctl.cpp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20857D-1B2D-45AB-BFAF-85D81931848B}"/>
              </a:ext>
            </a:extLst>
          </p:cNvPr>
          <p:cNvSpPr txBox="1"/>
          <p:nvPr/>
        </p:nvSpPr>
        <p:spPr>
          <a:xfrm>
            <a:off x="323849" y="5951582"/>
            <a:ext cx="738928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RCL_CALL RCL_PtP_V6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dfX3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wGroupIndex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dwAxisMask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620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通訊流程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4ECC87-39B2-4916-8EDB-A0158061C9FE}"/>
              </a:ext>
            </a:extLst>
          </p:cNvPr>
          <p:cNvSpPr/>
          <p:nvPr/>
        </p:nvSpPr>
        <p:spPr bwMode="auto">
          <a:xfrm>
            <a:off x="323851" y="1022162"/>
            <a:ext cx="1504950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寫入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RT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命令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RCL_PtP_V6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49C02A-0BF5-4C2D-8C77-BDA532BC669D}"/>
              </a:ext>
            </a:extLst>
          </p:cNvPr>
          <p:cNvSpPr txBox="1"/>
          <p:nvPr/>
        </p:nvSpPr>
        <p:spPr>
          <a:xfrm>
            <a:off x="323850" y="1527009"/>
            <a:ext cx="80920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WriteRTCommand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RCL_RTMOTION_CMD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RTMOTION_PTP_V6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&amp;(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int_argu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]),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&amp;(</a:t>
            </a:r>
            <a:r>
              <a:rPr lang="en-US" altLang="zh-TW" sz="11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dbl_argu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]));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7AEC00A-B590-465A-A60A-0834BE46DDA0}"/>
              </a:ext>
            </a:extLst>
          </p:cNvPr>
          <p:cNvSpPr/>
          <p:nvPr/>
        </p:nvSpPr>
        <p:spPr bwMode="auto">
          <a:xfrm>
            <a:off x="2687108" y="1266432"/>
            <a:ext cx="76729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主項目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DEE8DD-23BD-4B7C-B6B5-C35F618FF0AF}"/>
              </a:ext>
            </a:extLst>
          </p:cNvPr>
          <p:cNvSpPr/>
          <p:nvPr/>
        </p:nvSpPr>
        <p:spPr bwMode="auto">
          <a:xfrm>
            <a:off x="3986213" y="1274585"/>
            <a:ext cx="76729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項目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1C22C24-BA68-4245-9D86-EC3BA9695075}"/>
              </a:ext>
            </a:extLst>
          </p:cNvPr>
          <p:cNvSpPr txBox="1"/>
          <p:nvPr/>
        </p:nvSpPr>
        <p:spPr>
          <a:xfrm>
            <a:off x="323850" y="2387597"/>
            <a:ext cx="8693151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WriteRTCommand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uint16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cmd_item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cmd_order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int32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int_argu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dbl_argu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uint16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fgRealTimeRun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REAL_TIME_CMD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bTransCmdClass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bTransCmdType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bTransCmdItem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cmd_item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bTransCmdOrder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cmd_order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function argument</a:t>
            </a: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CMD_INT_LENGTH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lTransArgu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int_argu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n-NO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CMD_DBL_LENGTH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RtxShmCtl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pstTransRTCmdBuffer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rt_cmd_idx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dTransArgu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dbl_argu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6E49C78-23F7-48A0-B930-22881385AE03}"/>
              </a:ext>
            </a:extLst>
          </p:cNvPr>
          <p:cNvSpPr/>
          <p:nvPr/>
        </p:nvSpPr>
        <p:spPr bwMode="auto">
          <a:xfrm>
            <a:off x="323850" y="1874597"/>
            <a:ext cx="4146551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WriteRTCommand</a:t>
            </a:r>
            <a:endParaRPr kumimoji="1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pt-BR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RASeMIO\eMIO\src\DLL_MCC_RTX_2.2\rcl.cpp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2082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通訊流程</a:t>
            </a:r>
            <a:r>
              <a:rPr lang="en-US" altLang="zh-TW" dirty="0"/>
              <a:t>(3)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4ECC87-39B2-4916-8EDB-A0158061C9FE}"/>
              </a:ext>
            </a:extLst>
          </p:cNvPr>
          <p:cNvSpPr/>
          <p:nvPr/>
        </p:nvSpPr>
        <p:spPr bwMode="auto">
          <a:xfrm>
            <a:off x="323849" y="954076"/>
            <a:ext cx="5357283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Callback Function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中讀取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Memory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中資料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ROBOT_WinRTX_KS_Version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\main.cpp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49C02A-0BF5-4C2D-8C77-BDA532BC669D}"/>
              </a:ext>
            </a:extLst>
          </p:cNvPr>
          <p:cNvSpPr txBox="1"/>
          <p:nvPr/>
        </p:nvSpPr>
        <p:spPr>
          <a:xfrm>
            <a:off x="323849" y="1527009"/>
            <a:ext cx="882015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__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stdcall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MyCallBack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Context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IFM_GetSystemErrorCode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SYSTEM_NO_ERR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fgRTAvailableNextCmdExe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getRTCmdBufferStatus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WITH_RESIDUE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getRTCmd4Buffer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CMD_GET_SUCCESS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IFM_IncreaseCmdIndex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wCurrCmdType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wNextCmdType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nn-NO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CMD_INT_LENGTH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lCurrCmdArgu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lNextCmdArgu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nn-NO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CMD_DBL_LENGTH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dCurrCmdArgu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dNextCmdArgu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initializeRTCmd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getNextRTCmd4Buffer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CMD_GET_SUCCESS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wNextCmdType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stNextRecvRtCmd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stRecvRtCmd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15D4BCA-DAED-4945-8B94-7AFB3F2D41A4}"/>
              </a:ext>
            </a:extLst>
          </p:cNvPr>
          <p:cNvSpPr/>
          <p:nvPr/>
        </p:nvSpPr>
        <p:spPr bwMode="auto">
          <a:xfrm>
            <a:off x="3779308" y="6060437"/>
            <a:ext cx="102129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RT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命令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4BD9670-0566-4923-BDA3-B346649A4345}"/>
              </a:ext>
            </a:extLst>
          </p:cNvPr>
          <p:cNvSpPr/>
          <p:nvPr/>
        </p:nvSpPr>
        <p:spPr bwMode="auto">
          <a:xfrm>
            <a:off x="6751108" y="5247637"/>
            <a:ext cx="102129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取得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RT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33900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通訊流程</a:t>
            </a:r>
            <a:r>
              <a:rPr lang="en-US" altLang="zh-TW" dirty="0"/>
              <a:t>(4)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4ECC87-39B2-4916-8EDB-A0158061C9FE}"/>
              </a:ext>
            </a:extLst>
          </p:cNvPr>
          <p:cNvSpPr/>
          <p:nvPr/>
        </p:nvSpPr>
        <p:spPr bwMode="auto">
          <a:xfrm>
            <a:off x="323849" y="954076"/>
            <a:ext cx="5738284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processRTCmd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ROBOT_WinRTX_KS_Version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\system\sys_cmd_ctl.cpp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491DBE-618F-4FFF-AC13-F07736BFB42D}"/>
              </a:ext>
            </a:extLst>
          </p:cNvPr>
          <p:cNvSpPr txBox="1"/>
          <p:nvPr/>
        </p:nvSpPr>
        <p:spPr>
          <a:xfrm>
            <a:off x="214842" y="1544128"/>
            <a:ext cx="884131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int8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Api_Command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processRTCmd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RECV_CMD_PACKET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ret_value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bRecvCmdClass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RCL_JOG_CMD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0x38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ret_value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ProcessRclJog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bRecvCmdItem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bRecvCmdInner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bRecvCmdOrder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RCL_RTMOTION_CMD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0x98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ret_value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ProcessRclRTMotion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bRecvCmdItem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bRecvCmdInner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bRecvCmdOrder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dRecvArgu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6C0957-4F6A-447F-B486-1D41698E9290}"/>
              </a:ext>
            </a:extLst>
          </p:cNvPr>
          <p:cNvSpPr/>
          <p:nvPr/>
        </p:nvSpPr>
        <p:spPr bwMode="auto">
          <a:xfrm>
            <a:off x="323849" y="4173783"/>
            <a:ext cx="5738284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ProcessRclRTMotion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eMIO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</a:t>
            </a:r>
            <a:r>
              <a:rPr kumimoji="1" lang="en-US" altLang="zh-TW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ROBOT_WinRTX_KS_Version</a:t>
            </a:r>
            <a:r>
              <a:rPr kumimoji="1" lang="en-US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\system\sys_api_ctl.cpp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83EB1AC-68E8-4EC2-93E5-A88D34C3871A}"/>
              </a:ext>
            </a:extLst>
          </p:cNvPr>
          <p:cNvSpPr txBox="1"/>
          <p:nvPr/>
        </p:nvSpPr>
        <p:spPr>
          <a:xfrm>
            <a:off x="269346" y="4678630"/>
            <a:ext cx="86053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int8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ProcessRclRTMotion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v_uint8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v_uint8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cmd_item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v_uint8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cmd_inner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v_uint8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cmd_order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v_int32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cmd_arg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volatile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cmd_d_arg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RTMOTION_PTP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RTMOTION_PTP_V6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w_input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uint16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cmd_arg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dw_input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uint32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cmd_arg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245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通訊流程</a:t>
            </a:r>
            <a:r>
              <a:rPr lang="en-US" altLang="zh-TW" dirty="0"/>
              <a:t>(5)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44ECC87-39B2-4916-8EDB-A0158061C9FE}"/>
              </a:ext>
            </a:extLst>
          </p:cNvPr>
          <p:cNvSpPr/>
          <p:nvPr/>
        </p:nvSpPr>
        <p:spPr bwMode="auto">
          <a:xfrm>
            <a:off x="323849" y="954076"/>
            <a:ext cx="5179484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RCL_PtP_V6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maio</a:t>
            </a:r>
            <a:r>
              <a:rPr lang="en-US" altLang="zh-TW" sz="1100" dirty="0">
                <a:latin typeface="+mn-ea"/>
                <a:ea typeface="+mn-ea"/>
              </a:rPr>
              <a:t>\RCL_Fun.cpp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DCC807-B2FE-470E-B2FA-46E0DAFD18B2}"/>
              </a:ext>
            </a:extLst>
          </p:cNvPr>
          <p:cNvSpPr txBox="1"/>
          <p:nvPr/>
        </p:nvSpPr>
        <p:spPr>
          <a:xfrm>
            <a:off x="323849" y="1449082"/>
            <a:ext cx="8496301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RCL_CALL RCL_PtP_V6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j3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wGroupIndex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dwAxisMask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MOVP_id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MclPtpCtl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RCL_PtP_V6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j3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wGroupIndex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dwAxisMask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MOVP_id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DBE7F9F-17EC-44F0-BD46-47C06E94D554}"/>
              </a:ext>
            </a:extLst>
          </p:cNvPr>
          <p:cNvSpPr/>
          <p:nvPr/>
        </p:nvSpPr>
        <p:spPr bwMode="auto">
          <a:xfrm>
            <a:off x="323849" y="5096234"/>
            <a:ext cx="5560484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Mcl_Ptp_Ctl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::RCL_PtP_V6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maio</a:t>
            </a:r>
            <a:r>
              <a:rPr lang="en-US" altLang="zh-TW" sz="1100" dirty="0">
                <a:latin typeface="+mn-ea"/>
                <a:ea typeface="+mn-ea"/>
              </a:rPr>
              <a:t>\maio_ptp_ctl.cpp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A367902-91CB-4C85-B524-E8E5912E53A7}"/>
              </a:ext>
            </a:extLst>
          </p:cNvPr>
          <p:cNvSpPr txBox="1"/>
          <p:nvPr/>
        </p:nvSpPr>
        <p:spPr>
          <a:xfrm>
            <a:off x="323849" y="5604900"/>
            <a:ext cx="8496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Mcl_Ptp_Ctl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RCL_PtP_V6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dfX3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dfX7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wGroupIndex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DWORD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dwAxisMask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MOVP_id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8604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r>
              <a:rPr lang="zh-TW" altLang="en-US" dirty="0"/>
              <a:t>中非</a:t>
            </a:r>
            <a:r>
              <a:rPr lang="en-US" altLang="zh-TW" dirty="0"/>
              <a:t>RT</a:t>
            </a:r>
            <a:r>
              <a:rPr lang="zh-TW" altLang="en-US" dirty="0"/>
              <a:t>命令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5BCB002-91F1-4EF0-8CF7-D5F8CEEF4653}"/>
              </a:ext>
            </a:extLst>
          </p:cNvPr>
          <p:cNvSpPr/>
          <p:nvPr/>
        </p:nvSpPr>
        <p:spPr bwMode="auto">
          <a:xfrm>
            <a:off x="323850" y="991438"/>
            <a:ext cx="5560484" cy="5048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Memory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中非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RT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命令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\main.cpp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B396D3C-30AE-415B-9455-980011903D20}"/>
              </a:ext>
            </a:extLst>
          </p:cNvPr>
          <p:cNvSpPr txBox="1"/>
          <p:nvPr/>
        </p:nvSpPr>
        <p:spPr>
          <a:xfrm>
            <a:off x="323850" y="1578838"/>
            <a:ext cx="1085426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cdecl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wmain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wchar_t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wchar_t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envp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LARGE_INTEGER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delay_time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used for a delay in main loop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delay_time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QuadPart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THREAD_SLEEP_TIME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RtPrintf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("----------RTSS Go!\n");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std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"---------- RTSS: Initialize at 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GetCurrentDateTime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fgMainLoopExecute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status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ApiQueueCmd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getCmd4Buffer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status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CMD_GET_SUCCESS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RtPrintf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("OK");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ApiQueueCmd.initializeCmd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ApiQueueCmd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processCmd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recv_cmd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status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NO_CMD_IN_BUFFER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//break;</a:t>
            </a: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RtPrintf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"getCmd4Buffer=%d\n"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status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RtSleepFt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delay_time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SYS_ExecuteBeforeTerminate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5076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Kinematics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8C26CF-19CB-4705-83D6-914D80AFA6FB}"/>
              </a:ext>
            </a:extLst>
          </p:cNvPr>
          <p:cNvSpPr txBox="1"/>
          <p:nvPr/>
        </p:nvSpPr>
        <p:spPr>
          <a:xfrm>
            <a:off x="450850" y="1274236"/>
            <a:ext cx="83693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Robot_Basic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calcKine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eRobotType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ROBOT_A6_TYPE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ROBOT_A7_TYPE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ROBOT_SCARA_TYPE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ROBOT_UNKNOWN_TYPE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calcKineGen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wDof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wFix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ROBOT_WAFER4_TYPE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ROBOT_WAFER5_TYPE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ROBOT_WAFER4S_TYPE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ROBOT_WAFER4O_TYPE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calcKineWafer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ROBOT_A6_KDL_TYPE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ROBOT_M6_KDL_TYPE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calcKineKDL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wDof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wFix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CC125F-2F51-4C55-AFE4-8D65B942E270}"/>
              </a:ext>
            </a:extLst>
          </p:cNvPr>
          <p:cNvSpPr/>
          <p:nvPr/>
        </p:nvSpPr>
        <p:spPr bwMode="auto">
          <a:xfrm>
            <a:off x="450850" y="933013"/>
            <a:ext cx="5560484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\robotics\rbt_kine.cpp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70474D4-EC71-4EE0-85DE-7033EBBF30F7}"/>
              </a:ext>
            </a:extLst>
          </p:cNvPr>
          <p:cNvSpPr/>
          <p:nvPr/>
        </p:nvSpPr>
        <p:spPr bwMode="auto">
          <a:xfrm>
            <a:off x="450850" y="5546088"/>
            <a:ext cx="5560484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\robotics\rbt_kine.cpp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272787F-4131-4C56-AEA7-63C371D83384}"/>
              </a:ext>
            </a:extLst>
          </p:cNvPr>
          <p:cNvSpPr txBox="1"/>
          <p:nvPr/>
        </p:nvSpPr>
        <p:spPr>
          <a:xfrm>
            <a:off x="450849" y="5939720"/>
            <a:ext cx="68982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Robot_Basic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calcKineGen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uint16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0890268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1F52A5-CE2B-4B9D-9D43-AF659CA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Inverse Kinematics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6AA22-D826-4B1A-AEE9-90C2A1167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77271" y="6374341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8C26CF-19CB-4705-83D6-914D80AFA6FB}"/>
              </a:ext>
            </a:extLst>
          </p:cNvPr>
          <p:cNvSpPr txBox="1"/>
          <p:nvPr/>
        </p:nvSpPr>
        <p:spPr>
          <a:xfrm>
            <a:off x="450850" y="1274236"/>
            <a:ext cx="83693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Robot_Basic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calcInvKineGen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Tobj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int32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uint16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end_link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uint2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converge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uint16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max_idx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altLang="zh-TW" sz="1100" b="1" dirty="0">
              <a:solidFill>
                <a:srgbClr val="00008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eRobotType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ROBOT_A6_KDL_TYPE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ROBOT_M6_KDL_TYPE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RbtSysCtl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fgApplyCaliDh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fgEnAssignPosture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q_out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calcInvKineKDL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Tobj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end_link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converge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q_out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q_out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q_prev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converge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CC125F-2F51-4C55-AFE4-8D65B942E270}"/>
              </a:ext>
            </a:extLst>
          </p:cNvPr>
          <p:cNvSpPr/>
          <p:nvPr/>
        </p:nvSpPr>
        <p:spPr bwMode="auto">
          <a:xfrm>
            <a:off x="450849" y="933013"/>
            <a:ext cx="6745817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\robotics\</a:t>
            </a:r>
            <a:r>
              <a:rPr lang="en-US" altLang="zh-TW" sz="1100" dirty="0" err="1">
                <a:latin typeface="+mn-ea"/>
                <a:ea typeface="+mn-ea"/>
              </a:rPr>
              <a:t>invkine</a:t>
            </a:r>
            <a:r>
              <a:rPr lang="en-US" altLang="zh-TW" sz="1100" dirty="0">
                <a:latin typeface="+mn-ea"/>
                <a:ea typeface="+mn-ea"/>
              </a:rPr>
              <a:t>\invkine_numerical.cpp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12FF322-6617-4C63-B7DD-79280B4E9F5F}"/>
              </a:ext>
            </a:extLst>
          </p:cNvPr>
          <p:cNvSpPr/>
          <p:nvPr/>
        </p:nvSpPr>
        <p:spPr bwMode="auto">
          <a:xfrm>
            <a:off x="450849" y="4650843"/>
            <a:ext cx="6745817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src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ROBOT_WinRTX_KS_Version</a:t>
            </a:r>
            <a:r>
              <a:rPr lang="en-US" altLang="zh-TW" sz="1100" dirty="0">
                <a:latin typeface="+mn-ea"/>
                <a:ea typeface="+mn-ea"/>
              </a:rPr>
              <a:t>\robotics\</a:t>
            </a:r>
            <a:r>
              <a:rPr lang="en-US" altLang="zh-TW" sz="1100" dirty="0" err="1">
                <a:latin typeface="+mn-ea"/>
                <a:ea typeface="+mn-ea"/>
              </a:rPr>
              <a:t>invkine</a:t>
            </a:r>
            <a:r>
              <a:rPr lang="en-US" altLang="zh-TW" sz="1100" dirty="0">
                <a:latin typeface="+mn-ea"/>
                <a:ea typeface="+mn-ea"/>
              </a:rPr>
              <a:t>\invkine_analytic.cpp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1B29A0F-BE46-450B-914B-2724F43E8CC4}"/>
              </a:ext>
            </a:extLst>
          </p:cNvPr>
          <p:cNvSpPr txBox="1"/>
          <p:nvPr/>
        </p:nvSpPr>
        <p:spPr>
          <a:xfrm>
            <a:off x="450849" y="5093334"/>
            <a:ext cx="84476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colvec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Robot_Basic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calcInvKineA6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Tobj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int32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uint16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end_link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uint2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converge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39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4D0174-9716-42DA-B907-23799F9C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初始化系統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7FA8B9-AF20-4BDF-B474-8DE976F5F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FC2374-4605-4EE7-8A34-C698C98F16AA}"/>
              </a:ext>
            </a:extLst>
          </p:cNvPr>
          <p:cNvSpPr txBox="1"/>
          <p:nvPr/>
        </p:nvSpPr>
        <p:spPr>
          <a:xfrm>
            <a:off x="450850" y="862530"/>
            <a:ext cx="716915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ROBOTRCL_InitialSystem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RCL_SetSysMaxSpeed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6000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]={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)};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參數名稱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]={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參數值</a:t>
            </a: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zh-TW" altLang="en-US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設定參數</a:t>
            </a: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2014/8/13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System_Mode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Number_Of_Joints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Absolute_Encoder_Mode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//name[3] =	_T("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Card_Index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");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//name[4] = _T("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Card_Type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"); //Gray20180930 mark for ECAT_START_BY_UI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"Joint_1_Initial_Degree"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"Joint_2_Initial_Degree"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_T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"Joint_3_Initial_Degree"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zh-TW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2024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EXT_JOINTS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Initial_Degree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315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PosToEncoderDir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330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"_PPR"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345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"_RPM"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360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"_Pitch"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375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GearRatio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390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HighLimit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LowLimit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420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ABSwap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435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ExtCollision_Lim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450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"Motor_"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Zero_pose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465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Track_Err_Lim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480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"Joint_"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QString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"_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InPos_Lim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20A3844-8C66-4433-BE24-B0867D7EA126}"/>
              </a:ext>
            </a:extLst>
          </p:cNvPr>
          <p:cNvSpPr/>
          <p:nvPr/>
        </p:nvSpPr>
        <p:spPr bwMode="auto">
          <a:xfrm>
            <a:off x="5200120" y="2353944"/>
            <a:ext cx="1234548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Robot.ini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940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4D0174-9716-42DA-B907-23799F9C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初始化系統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7FA8B9-AF20-4BDF-B474-8DE976F5F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FC2374-4605-4EE7-8A34-C698C98F16AA}"/>
              </a:ext>
            </a:extLst>
          </p:cNvPr>
          <p:cNvSpPr txBox="1"/>
          <p:nvPr/>
        </p:nvSpPr>
        <p:spPr>
          <a:xfrm>
            <a:off x="450850" y="862530"/>
            <a:ext cx="86931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接續上頁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   set motion control parameters..."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//2014/8/14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//for (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ROBOTRCLApp.CardType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2;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//Gray20180930 modify for ECAT_START_BY_UI</a:t>
            </a: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MacParam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ROBOTRCL_SetMacParam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    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34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36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37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38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39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41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170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ENCConfig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ROBOTRCL_SetENCConfig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      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42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43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ENC_TYPE_AB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n-NO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n-NO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nn-NO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InitialRCL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SystemMode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INTERPOLATIONTIME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0x0001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!=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std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cout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Initial_RCL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succeed!\n"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//2014/8/14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Jointmask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JointNumber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Jointmask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Jointmask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ROBOTRCL_Servo_ON_OFF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SERVOON_BIT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SET_ABSPOS_BIT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22C4012-4826-4B2E-99DA-389D9247F909}"/>
              </a:ext>
            </a:extLst>
          </p:cNvPr>
          <p:cNvSpPr/>
          <p:nvPr/>
        </p:nvSpPr>
        <p:spPr bwMode="auto">
          <a:xfrm>
            <a:off x="3718453" y="3141344"/>
            <a:ext cx="4477280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初始化系統，透過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Memory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呼叫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底層</a:t>
            </a: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RCL_InitSystem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3B0C0F6-2EC6-46F6-B8AA-1FECB876F323}"/>
              </a:ext>
            </a:extLst>
          </p:cNvPr>
          <p:cNvSpPr/>
          <p:nvPr/>
        </p:nvSpPr>
        <p:spPr bwMode="auto">
          <a:xfrm>
            <a:off x="4912252" y="5110055"/>
            <a:ext cx="131074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進行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Servo ON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76771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4D0174-9716-42DA-B907-23799F9C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初始化系統</a:t>
            </a:r>
            <a:r>
              <a:rPr lang="en-US" altLang="zh-TW" dirty="0"/>
              <a:t>(3)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7FA8B9-AF20-4BDF-B474-8DE976F5F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FC2374-4605-4EE7-8A34-C698C98F16AA}"/>
              </a:ext>
            </a:extLst>
          </p:cNvPr>
          <p:cNvSpPr txBox="1"/>
          <p:nvPr/>
        </p:nvSpPr>
        <p:spPr>
          <a:xfrm>
            <a:off x="450849" y="862530"/>
            <a:ext cx="8583083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Mcl_Sys_Ctl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::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RCL_InitSystem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nInterpolateTime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volatile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ParameterVal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WORD i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j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mio_card_num 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t-BR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aio_card_num 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pt-BR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ParameterValue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pt-BR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INI_PARA_LEN</a:t>
            </a:r>
            <a:r>
              <a:rPr lang="pt-BR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dirty="0">
                <a:solidFill>
                  <a:srgbClr val="804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#ifdef ECAT_START_BY_UI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IFM_GetRobot_ini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ParameterValue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IFM_EC_Master_Start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!=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804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#endif	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init_error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RCL_SetKinematicFun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RBT_FwdKineFun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RBT_InvKineFun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load internal kinematics function</a:t>
            </a: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pMclCtl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fgInit_Success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true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pMclStatusChk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-&gt;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RCL_ResetCommandIndex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B0219D2-1D38-4EAA-855A-7C24CF5807B0}"/>
              </a:ext>
            </a:extLst>
          </p:cNvPr>
          <p:cNvSpPr/>
          <p:nvPr/>
        </p:nvSpPr>
        <p:spPr bwMode="auto">
          <a:xfrm>
            <a:off x="5200119" y="1660835"/>
            <a:ext cx="131074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Robot.ini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BC2A9AB-7035-452A-8DAF-252407BCF0A4}"/>
              </a:ext>
            </a:extLst>
          </p:cNvPr>
          <p:cNvSpPr/>
          <p:nvPr/>
        </p:nvSpPr>
        <p:spPr bwMode="auto">
          <a:xfrm>
            <a:off x="4852986" y="2033368"/>
            <a:ext cx="946682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E-CAT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啟動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648F795-1064-4E90-B9B6-30C72E519023}"/>
              </a:ext>
            </a:extLst>
          </p:cNvPr>
          <p:cNvSpPr/>
          <p:nvPr/>
        </p:nvSpPr>
        <p:spPr bwMode="auto">
          <a:xfrm>
            <a:off x="2617785" y="3285172"/>
            <a:ext cx="139541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設定運動學函式</a:t>
            </a:r>
          </a:p>
        </p:txBody>
      </p:sp>
    </p:spTree>
    <p:extLst>
      <p:ext uri="{BB962C8B-B14F-4D97-AF65-F5344CB8AC3E}">
        <p14:creationId xmlns:p14="http://schemas.microsoft.com/office/powerpoint/2010/main" val="39516389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4D0174-9716-42DA-B907-23799F9C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初始化系統</a:t>
            </a:r>
            <a:r>
              <a:rPr lang="en-US" altLang="zh-TW" dirty="0"/>
              <a:t>(4)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7FA8B9-AF20-4BDF-B474-8DE976F5F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FC2374-4605-4EE7-8A34-C698C98F16AA}"/>
              </a:ext>
            </a:extLst>
          </p:cNvPr>
          <p:cNvSpPr txBox="1"/>
          <p:nvPr/>
        </p:nvSpPr>
        <p:spPr>
          <a:xfrm>
            <a:off x="450849" y="862530"/>
            <a:ext cx="8583083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ROBOTRCL_Servo_ON_OFF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DWORD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RIO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RobotOutputIOs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SET_ABSPOS_BIT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SET_ABSPOS_BIT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AbsEncMode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(!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ROBOTRCL_SetAbsPos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AbsEncMode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ABSENC_ERR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ROBOTRCLApp</a:t>
            </a:r>
            <a:r>
              <a:rPr lang="en-US" altLang="zh-TW" sz="11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AbsEncMode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//for old 32b </a:t>
            </a:r>
            <a:r>
              <a:rPr lang="en-US" altLang="zh-TW" sz="11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eMIO</a:t>
            </a:r>
            <a:endParaRPr lang="en-US" altLang="zh-TW" sz="11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SERVOON_BIT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SERVOON_BIT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RCL_Servo_on_off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SERVOON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SERVO_ON_CMD_ERR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DWORD ready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wait_cnt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Sleep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wait_cnt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case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SERVOON_BIT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SERVOON_BIT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//ROBOTRCL_RIO_SetOutput1(1, 1);//bit1 on, servo-on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		Sleep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</a:t>
            </a:r>
            <a:r>
              <a:rPr lang="en-US" altLang="zh-TW" sz="1100" b="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//ROBOTRCL_RIO_SetOutput1(1, 0);//bit1 off, servo-on</a:t>
            </a: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	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RCL_Servo_on_off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SERVOON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mask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!=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NO_ERR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SERVO_ON_CMD_ERR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1C7A971-B025-4566-82E0-3FCB9CDA0371}"/>
              </a:ext>
            </a:extLst>
          </p:cNvPr>
          <p:cNvSpPr/>
          <p:nvPr/>
        </p:nvSpPr>
        <p:spPr bwMode="auto">
          <a:xfrm>
            <a:off x="4124853" y="3141344"/>
            <a:ext cx="1505479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讀取絕對式編碼器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A83A991-CCD8-426E-BFEC-05231B70D6AD}"/>
              </a:ext>
            </a:extLst>
          </p:cNvPr>
          <p:cNvSpPr/>
          <p:nvPr/>
        </p:nvSpPr>
        <p:spPr bwMode="auto">
          <a:xfrm>
            <a:off x="3303849" y="4609538"/>
            <a:ext cx="2877081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E-CAT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讀取，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AbsEncMode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=101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5ABA159-4C64-44D1-98DD-02E2BDACC3B2}"/>
              </a:ext>
            </a:extLst>
          </p:cNvPr>
          <p:cNvSpPr/>
          <p:nvPr/>
        </p:nvSpPr>
        <p:spPr bwMode="auto">
          <a:xfrm>
            <a:off x="3657601" y="5790076"/>
            <a:ext cx="4470400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Servo ON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Memory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呼叫底層</a:t>
            </a: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RCL_Servo_on_off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97560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4D0174-9716-42DA-B907-23799F9C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ITRI.lic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7FA8B9-AF20-4BDF-B474-8DE976F5F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62</a:t>
            </a:fld>
            <a:endParaRPr lang="en-US" altLang="zh-TW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96361F-B822-4941-B8BA-045CF7FD6EFC}"/>
              </a:ext>
            </a:extLst>
          </p:cNvPr>
          <p:cNvSpPr/>
          <p:nvPr/>
        </p:nvSpPr>
        <p:spPr bwMode="auto">
          <a:xfrm>
            <a:off x="450850" y="933013"/>
            <a:ext cx="2859618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eKey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mkey</a:t>
            </a:r>
            <a:r>
              <a:rPr lang="en-US" altLang="zh-TW" sz="1100" dirty="0">
                <a:latin typeface="+mn-ea"/>
                <a:ea typeface="+mn-ea"/>
              </a:rPr>
              <a:t>\mkey.cpp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2179AD9-C7AA-4940-B096-7ACFB016AFFE}"/>
              </a:ext>
            </a:extLst>
          </p:cNvPr>
          <p:cNvSpPr txBox="1"/>
          <p:nvPr/>
        </p:nvSpPr>
        <p:spPr>
          <a:xfrm>
            <a:off x="378884" y="1353161"/>
            <a:ext cx="564091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system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"wmic 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memorychip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get 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serialnumber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ITRI.mkf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TW" altLang="en-US" sz="1100" dirty="0">
              <a:latin typeface="Consolas" panose="020B0609020204030204" pitchFamily="49" charset="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F6C60C6-DE28-48CF-B67D-71D3F62EA6D7}"/>
              </a:ext>
            </a:extLst>
          </p:cNvPr>
          <p:cNvSpPr/>
          <p:nvPr/>
        </p:nvSpPr>
        <p:spPr bwMode="auto">
          <a:xfrm>
            <a:off x="5115453" y="1678692"/>
            <a:ext cx="115834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取得硬體編號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E7ACD6E-DE5D-40AF-B82B-37C90E1613E4}"/>
              </a:ext>
            </a:extLst>
          </p:cNvPr>
          <p:cNvSpPr/>
          <p:nvPr/>
        </p:nvSpPr>
        <p:spPr bwMode="auto">
          <a:xfrm>
            <a:off x="450849" y="2365733"/>
            <a:ext cx="3232151" cy="34629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100" dirty="0">
                <a:latin typeface="+mn-ea"/>
                <a:ea typeface="+mn-ea"/>
              </a:rPr>
              <a:t>位置：</a:t>
            </a:r>
            <a:r>
              <a:rPr lang="en-US" altLang="zh-TW" sz="1100" dirty="0" err="1">
                <a:latin typeface="+mn-ea"/>
                <a:ea typeface="+mn-ea"/>
              </a:rPr>
              <a:t>RASeMIO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eKey</a:t>
            </a:r>
            <a:r>
              <a:rPr lang="en-US" altLang="zh-TW" sz="1100" dirty="0">
                <a:latin typeface="+mn-ea"/>
                <a:ea typeface="+mn-ea"/>
              </a:rPr>
              <a:t>\</a:t>
            </a:r>
            <a:r>
              <a:rPr lang="en-US" altLang="zh-TW" sz="1100" dirty="0" err="1">
                <a:latin typeface="+mn-ea"/>
                <a:ea typeface="+mn-ea"/>
              </a:rPr>
              <a:t>eMIO_Lic</a:t>
            </a:r>
            <a:r>
              <a:rPr lang="en-US" altLang="zh-TW" sz="1100" dirty="0">
                <a:latin typeface="+mn-ea"/>
                <a:ea typeface="+mn-ea"/>
              </a:rPr>
              <a:t>\main.cpp</a:t>
            </a:r>
            <a:endParaRPr lang="zh-TW" altLang="en-US" sz="1100" dirty="0">
              <a:latin typeface="+mn-ea"/>
              <a:ea typeface="+mn-ea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B25448F-B772-4654-A195-274F0FC1C034}"/>
              </a:ext>
            </a:extLst>
          </p:cNvPr>
          <p:cNvSpPr txBox="1"/>
          <p:nvPr/>
        </p:nvSpPr>
        <p:spPr>
          <a:xfrm>
            <a:off x="450850" y="2712028"/>
            <a:ext cx="8574617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||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strcmp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)==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BinaryHearde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'L'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'Q'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'1'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'0'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'0'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data_buffer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ptable_data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data_buffer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TW" altLang="en-US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raw_data_dest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reg_count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altLang="zh-TW" sz="11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memset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raw_data_dest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reg_count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raw_data_tmp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reg_count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altLang="zh-TW" sz="11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memset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raw_data_tmp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reg_count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compress_size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QLZCompress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data_buffer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raw_data_dest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reg_count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raw_data_tmp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zh-TW" altLang="en-US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file_name_encrypt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256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ITRI.lic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FILE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fd_encrypt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file_name_encrypt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w+b</a:t>
            </a:r>
            <a:r>
              <a:rPr lang="en-US" altLang="zh-TW" sz="11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fwrite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raw_data_dest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compress_size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altLang="zh-TW" sz="11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fd_encrypt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LOG_KEY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0x49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0x54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0x52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0x49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fwrite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LOG_KEY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sizeof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fd_encrypt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altLang="zh-TW" sz="11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1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fd_encrypt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1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D624F39-9F73-4F1C-ADBC-52040D861DDC}"/>
              </a:ext>
            </a:extLst>
          </p:cNvPr>
          <p:cNvSpPr/>
          <p:nvPr/>
        </p:nvSpPr>
        <p:spPr bwMode="auto">
          <a:xfrm>
            <a:off x="5090053" y="5446620"/>
            <a:ext cx="156474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ITRI License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77091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AE3BF36-DCDC-4401-963D-CEE1F91C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晶圓機器人指令 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D7F4D9-58DC-4202-A6EC-3459881C7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63</a:t>
            </a:fld>
            <a:endParaRPr lang="en-US" altLang="zh-TW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B9908ED-E0B4-4931-8F0C-BBDE92B37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85942"/>
              </p:ext>
            </p:extLst>
          </p:nvPr>
        </p:nvGraphicFramePr>
        <p:xfrm>
          <a:off x="337609" y="1111091"/>
          <a:ext cx="5267960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76960">
                  <a:extLst>
                    <a:ext uri="{9D8B030D-6E8A-4147-A177-3AD203B41FA5}">
                      <a16:colId xmlns:a16="http://schemas.microsoft.com/office/drawing/2014/main" val="386593015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2637062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4285018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481219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ORIGIN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可省略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19358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BE46238-8B3E-4F8D-AD35-744C4FFA6071}"/>
              </a:ext>
            </a:extLst>
          </p:cNvPr>
          <p:cNvSpPr txBox="1"/>
          <p:nvPr/>
        </p:nvSpPr>
        <p:spPr>
          <a:xfrm>
            <a:off x="337609" y="1453802"/>
            <a:ext cx="85957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：直線移動到系統所設定之原點，會進行安全位置判別。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：直線移動到系統所設定之原點，分兩階段移動，先移動水平，再移動升降，會進行安全位置判別。</a:t>
            </a:r>
          </a:p>
          <a:p>
            <a:r>
              <a:rPr lang="zh-TW" altLang="zh-TW" sz="1400" kern="100" dirty="0">
                <a:solidFill>
                  <a:srgbClr val="FF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注意：安全位置判別，指的是晶圓機器人會判別目前所在位置是否在站點內，若是在站點內，則退出站點後再移動，以避免撞機</a:t>
            </a:r>
            <a:endParaRPr lang="zh-TW" altLang="zh-TW" sz="14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範例如下。</a:t>
            </a:r>
          </a:p>
          <a:p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ORIGIN</a:t>
            </a:r>
            <a:r>
              <a:rPr lang="pt-BR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 (100, 1, 1)</a:t>
            </a:r>
            <a:endParaRPr lang="zh-TW" altLang="en-US" sz="1400" dirty="0">
              <a:latin typeface="+mn-ea"/>
              <a:ea typeface="+mn-ea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77BCD71-3ABC-4800-82AA-5616ABDE1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948226"/>
              </p:ext>
            </p:extLst>
          </p:nvPr>
        </p:nvGraphicFramePr>
        <p:xfrm>
          <a:off x="337609" y="2990359"/>
          <a:ext cx="6130925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53381">
                  <a:extLst>
                    <a:ext uri="{9D8B030D-6E8A-4147-A177-3AD203B41FA5}">
                      <a16:colId xmlns:a16="http://schemas.microsoft.com/office/drawing/2014/main" val="3169581374"/>
                    </a:ext>
                  </a:extLst>
                </a:gridCol>
                <a:gridCol w="1362017">
                  <a:extLst>
                    <a:ext uri="{9D8B030D-6E8A-4147-A177-3AD203B41FA5}">
                      <a16:colId xmlns:a16="http://schemas.microsoft.com/office/drawing/2014/main" val="1261231280"/>
                    </a:ext>
                  </a:extLst>
                </a:gridCol>
                <a:gridCol w="878697">
                  <a:extLst>
                    <a:ext uri="{9D8B030D-6E8A-4147-A177-3AD203B41FA5}">
                      <a16:colId xmlns:a16="http://schemas.microsoft.com/office/drawing/2014/main" val="1992753715"/>
                    </a:ext>
                  </a:extLst>
                </a:gridCol>
                <a:gridCol w="878697">
                  <a:extLst>
                    <a:ext uri="{9D8B030D-6E8A-4147-A177-3AD203B41FA5}">
                      <a16:colId xmlns:a16="http://schemas.microsoft.com/office/drawing/2014/main" val="1199652293"/>
                    </a:ext>
                  </a:extLst>
                </a:gridCol>
                <a:gridCol w="878697">
                  <a:extLst>
                    <a:ext uri="{9D8B030D-6E8A-4147-A177-3AD203B41FA5}">
                      <a16:colId xmlns:a16="http://schemas.microsoft.com/office/drawing/2014/main" val="2799898429"/>
                    </a:ext>
                  </a:extLst>
                </a:gridCol>
                <a:gridCol w="879436">
                  <a:extLst>
                    <a:ext uri="{9D8B030D-6E8A-4147-A177-3AD203B41FA5}">
                      <a16:colId xmlns:a16="http://schemas.microsoft.com/office/drawing/2014/main" val="1409657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HOME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(mm/s)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站點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層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339560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6F06F26F-79A2-442C-9868-18CCD6DF1972}"/>
              </a:ext>
            </a:extLst>
          </p:cNvPr>
          <p:cNvSpPr txBox="1"/>
          <p:nvPr/>
        </p:nvSpPr>
        <p:spPr>
          <a:xfrm>
            <a:off x="337609" y="3355281"/>
            <a:ext cx="85428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：直線移動到該站點所設定層數的安全位置，會進行安全位置判別。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：直線移動到該站點所設定層數的預備位置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未升起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：直線移動到該站點所設定層數的預備位置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已升起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範例如下。</a:t>
            </a:r>
          </a:p>
          <a:p>
            <a:r>
              <a:rPr lang="pt-BR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HOME (100, 1, 1, 3, 6)</a:t>
            </a:r>
            <a:endParaRPr lang="zh-TW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42787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AE3BF36-DCDC-4401-963D-CEE1F91C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晶圓機器人指令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D7F4D9-58DC-4202-A6EC-3459881C7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2E1E76-B474-456E-AF83-4A8BE6755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01186"/>
              </p:ext>
            </p:extLst>
          </p:nvPr>
        </p:nvGraphicFramePr>
        <p:xfrm>
          <a:off x="337609" y="1099820"/>
          <a:ext cx="6080124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42995">
                  <a:extLst>
                    <a:ext uri="{9D8B030D-6E8A-4147-A177-3AD203B41FA5}">
                      <a16:colId xmlns:a16="http://schemas.microsoft.com/office/drawing/2014/main" val="3954913198"/>
                    </a:ext>
                  </a:extLst>
                </a:gridCol>
                <a:gridCol w="1350732">
                  <a:extLst>
                    <a:ext uri="{9D8B030D-6E8A-4147-A177-3AD203B41FA5}">
                      <a16:colId xmlns:a16="http://schemas.microsoft.com/office/drawing/2014/main" val="4137476790"/>
                    </a:ext>
                  </a:extLst>
                </a:gridCol>
                <a:gridCol w="871416">
                  <a:extLst>
                    <a:ext uri="{9D8B030D-6E8A-4147-A177-3AD203B41FA5}">
                      <a16:colId xmlns:a16="http://schemas.microsoft.com/office/drawing/2014/main" val="2568384505"/>
                    </a:ext>
                  </a:extLst>
                </a:gridCol>
                <a:gridCol w="871416">
                  <a:extLst>
                    <a:ext uri="{9D8B030D-6E8A-4147-A177-3AD203B41FA5}">
                      <a16:colId xmlns:a16="http://schemas.microsoft.com/office/drawing/2014/main" val="1814198314"/>
                    </a:ext>
                  </a:extLst>
                </a:gridCol>
                <a:gridCol w="871416">
                  <a:extLst>
                    <a:ext uri="{9D8B030D-6E8A-4147-A177-3AD203B41FA5}">
                      <a16:colId xmlns:a16="http://schemas.microsoft.com/office/drawing/2014/main" val="698094120"/>
                    </a:ext>
                  </a:extLst>
                </a:gridCol>
                <a:gridCol w="872149">
                  <a:extLst>
                    <a:ext uri="{9D8B030D-6E8A-4147-A177-3AD203B41FA5}">
                      <a16:colId xmlns:a16="http://schemas.microsoft.com/office/drawing/2014/main" val="468331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EXTEND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(mm/s)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站點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層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54570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05EFC1-D38B-433F-A456-F672457560F1}"/>
              </a:ext>
            </a:extLst>
          </p:cNvPr>
          <p:cNvSpPr txBox="1"/>
          <p:nvPr/>
        </p:nvSpPr>
        <p:spPr>
          <a:xfrm>
            <a:off x="337608" y="1542934"/>
            <a:ext cx="83692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所有模式皆會進行安全位置判別，若目標站點與現在站點不同，則會移動到安全位置後再進行指令移動。</a:t>
            </a:r>
            <a:endParaRPr lang="zh-TW" altLang="en-US" sz="1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8C572BC-5272-414E-95A0-D15703BD5A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141" y="1793101"/>
            <a:ext cx="4133850" cy="287655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56BEC73-B82F-4BA7-8156-1F471A7108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24375" y="1964551"/>
            <a:ext cx="4048125" cy="27051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E0BA17-FE43-47DA-A21B-9EF917D6F337}"/>
              </a:ext>
            </a:extLst>
          </p:cNvPr>
          <p:cNvSpPr txBox="1"/>
          <p:nvPr/>
        </p:nvSpPr>
        <p:spPr>
          <a:xfrm>
            <a:off x="315383" y="1793101"/>
            <a:ext cx="1310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晶圓取出：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C071E75-AFD5-4B72-8E97-C699AC188153}"/>
              </a:ext>
            </a:extLst>
          </p:cNvPr>
          <p:cNvSpPr txBox="1"/>
          <p:nvPr/>
        </p:nvSpPr>
        <p:spPr>
          <a:xfrm>
            <a:off x="4607984" y="1793101"/>
            <a:ext cx="16531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晶圓放入：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AF54E7-B878-40BC-9AEE-E67EAB46B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19906"/>
              </p:ext>
            </p:extLst>
          </p:nvPr>
        </p:nvGraphicFramePr>
        <p:xfrm>
          <a:off x="315383" y="4675978"/>
          <a:ext cx="7265511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78325">
                  <a:extLst>
                    <a:ext uri="{9D8B030D-6E8A-4147-A177-3AD203B41FA5}">
                      <a16:colId xmlns:a16="http://schemas.microsoft.com/office/drawing/2014/main" val="2555345816"/>
                    </a:ext>
                  </a:extLst>
                </a:gridCol>
                <a:gridCol w="1367100">
                  <a:extLst>
                    <a:ext uri="{9D8B030D-6E8A-4147-A177-3AD203B41FA5}">
                      <a16:colId xmlns:a16="http://schemas.microsoft.com/office/drawing/2014/main" val="960079131"/>
                    </a:ext>
                  </a:extLst>
                </a:gridCol>
                <a:gridCol w="1603562">
                  <a:extLst>
                    <a:ext uri="{9D8B030D-6E8A-4147-A177-3AD203B41FA5}">
                      <a16:colId xmlns:a16="http://schemas.microsoft.com/office/drawing/2014/main" val="1818408854"/>
                    </a:ext>
                  </a:extLst>
                </a:gridCol>
                <a:gridCol w="704131">
                  <a:extLst>
                    <a:ext uri="{9D8B030D-6E8A-4147-A177-3AD203B41FA5}">
                      <a16:colId xmlns:a16="http://schemas.microsoft.com/office/drawing/2014/main" val="2073319475"/>
                    </a:ext>
                  </a:extLst>
                </a:gridCol>
                <a:gridCol w="704131">
                  <a:extLst>
                    <a:ext uri="{9D8B030D-6E8A-4147-A177-3AD203B41FA5}">
                      <a16:colId xmlns:a16="http://schemas.microsoft.com/office/drawing/2014/main" val="589936267"/>
                    </a:ext>
                  </a:extLst>
                </a:gridCol>
                <a:gridCol w="704131">
                  <a:extLst>
                    <a:ext uri="{9D8B030D-6E8A-4147-A177-3AD203B41FA5}">
                      <a16:colId xmlns:a16="http://schemas.microsoft.com/office/drawing/2014/main" val="600863949"/>
                    </a:ext>
                  </a:extLst>
                </a:gridCol>
                <a:gridCol w="704131">
                  <a:extLst>
                    <a:ext uri="{9D8B030D-6E8A-4147-A177-3AD203B41FA5}">
                      <a16:colId xmlns:a16="http://schemas.microsoft.com/office/drawing/2014/main" val="2340241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EXCHANGE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(mm/s)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交換片速度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(%)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站點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層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951098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9690C3D3-A142-42D1-B017-3D9B6630910A}"/>
              </a:ext>
            </a:extLst>
          </p:cNvPr>
          <p:cNvSpPr txBox="1"/>
          <p:nvPr/>
        </p:nvSpPr>
        <p:spPr>
          <a:xfrm>
            <a:off x="337607" y="5019437"/>
            <a:ext cx="764645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進行晶圓交換片動作，會進行安全位置判別。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速度分為直線移動時速度，以及交換片時速度。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參考附錄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取放片流程：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2-3-5-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交換片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-12-13</a:t>
            </a:r>
            <a:endParaRPr lang="zh-TW" altLang="zh-TW" sz="14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2-3-5-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交換片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-12-13 (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切換片後水平路徑會經過原點位置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TW" altLang="zh-TW" sz="14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範例如下。</a:t>
            </a:r>
          </a:p>
          <a:p>
            <a:r>
              <a:rPr lang="pt-BR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EXCHANGE (80, 10, 0, 1, 3, 1)</a:t>
            </a:r>
            <a:endParaRPr lang="zh-TW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00496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AE3BF36-DCDC-4401-963D-CEE1F91C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晶圓機器人指令 </a:t>
            </a:r>
            <a:r>
              <a:rPr lang="en-US" altLang="zh-TW" dirty="0"/>
              <a:t>(3)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D7F4D9-58DC-4202-A6EC-3459881C7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05EFC1-D38B-433F-A456-F672457560F1}"/>
              </a:ext>
            </a:extLst>
          </p:cNvPr>
          <p:cNvSpPr txBox="1"/>
          <p:nvPr/>
        </p:nvSpPr>
        <p:spPr>
          <a:xfrm>
            <a:off x="337608" y="1542934"/>
            <a:ext cx="83692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進行晶圓取出動作，會進行安全位置判別。</a:t>
            </a:r>
          </a:p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速度設定可分成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段，也可以僅給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段速度。</a:t>
            </a:r>
          </a:p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參考附錄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取放片流程：</a:t>
            </a:r>
          </a:p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2-3-4-5-6-7-8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，並且會啟動真空以及檢查真空。</a:t>
            </a:r>
          </a:p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2-3-4-C-6-7-8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，並且在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的位置時啟動真空，在</a:t>
            </a:r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的位置檢查真空。</a:t>
            </a:r>
          </a:p>
          <a:p>
            <a:r>
              <a:rPr lang="zh-TW" altLang="en-US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範例如下。</a:t>
            </a:r>
          </a:p>
          <a:p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LOAD (80, 0, 1, 3, 1)</a:t>
            </a:r>
          </a:p>
          <a:p>
            <a:r>
              <a:rPr lang="en-US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LOAD (80, 40, 120, 0, 1, 3, 1)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371341-1A23-4CDD-9FE4-61C0002F9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258741"/>
              </p:ext>
            </p:extLst>
          </p:nvPr>
        </p:nvGraphicFramePr>
        <p:xfrm>
          <a:off x="346075" y="1097009"/>
          <a:ext cx="5919311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10120">
                  <a:extLst>
                    <a:ext uri="{9D8B030D-6E8A-4147-A177-3AD203B41FA5}">
                      <a16:colId xmlns:a16="http://schemas.microsoft.com/office/drawing/2014/main" val="881666258"/>
                    </a:ext>
                  </a:extLst>
                </a:gridCol>
                <a:gridCol w="1315006">
                  <a:extLst>
                    <a:ext uri="{9D8B030D-6E8A-4147-A177-3AD203B41FA5}">
                      <a16:colId xmlns:a16="http://schemas.microsoft.com/office/drawing/2014/main" val="2615319767"/>
                    </a:ext>
                  </a:extLst>
                </a:gridCol>
                <a:gridCol w="848368">
                  <a:extLst>
                    <a:ext uri="{9D8B030D-6E8A-4147-A177-3AD203B41FA5}">
                      <a16:colId xmlns:a16="http://schemas.microsoft.com/office/drawing/2014/main" val="146924129"/>
                    </a:ext>
                  </a:extLst>
                </a:gridCol>
                <a:gridCol w="848368">
                  <a:extLst>
                    <a:ext uri="{9D8B030D-6E8A-4147-A177-3AD203B41FA5}">
                      <a16:colId xmlns:a16="http://schemas.microsoft.com/office/drawing/2014/main" val="2075651915"/>
                    </a:ext>
                  </a:extLst>
                </a:gridCol>
                <a:gridCol w="848368">
                  <a:extLst>
                    <a:ext uri="{9D8B030D-6E8A-4147-A177-3AD203B41FA5}">
                      <a16:colId xmlns:a16="http://schemas.microsoft.com/office/drawing/2014/main" val="4149355972"/>
                    </a:ext>
                  </a:extLst>
                </a:gridCol>
                <a:gridCol w="849081">
                  <a:extLst>
                    <a:ext uri="{9D8B030D-6E8A-4147-A177-3AD203B41FA5}">
                      <a16:colId xmlns:a16="http://schemas.microsoft.com/office/drawing/2014/main" val="2935826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LOAD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(mm/s)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站點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層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66004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EFB3546-24CF-4D6D-B72D-E240302A1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22892"/>
              </p:ext>
            </p:extLst>
          </p:nvPr>
        </p:nvGraphicFramePr>
        <p:xfrm>
          <a:off x="337608" y="3695250"/>
          <a:ext cx="5814535" cy="243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88700">
                  <a:extLst>
                    <a:ext uri="{9D8B030D-6E8A-4147-A177-3AD203B41FA5}">
                      <a16:colId xmlns:a16="http://schemas.microsoft.com/office/drawing/2014/main" val="1082328375"/>
                    </a:ext>
                  </a:extLst>
                </a:gridCol>
                <a:gridCol w="1291730">
                  <a:extLst>
                    <a:ext uri="{9D8B030D-6E8A-4147-A177-3AD203B41FA5}">
                      <a16:colId xmlns:a16="http://schemas.microsoft.com/office/drawing/2014/main" val="4118760329"/>
                    </a:ext>
                  </a:extLst>
                </a:gridCol>
                <a:gridCol w="833351">
                  <a:extLst>
                    <a:ext uri="{9D8B030D-6E8A-4147-A177-3AD203B41FA5}">
                      <a16:colId xmlns:a16="http://schemas.microsoft.com/office/drawing/2014/main" val="1439563055"/>
                    </a:ext>
                  </a:extLst>
                </a:gridCol>
                <a:gridCol w="833351">
                  <a:extLst>
                    <a:ext uri="{9D8B030D-6E8A-4147-A177-3AD203B41FA5}">
                      <a16:colId xmlns:a16="http://schemas.microsoft.com/office/drawing/2014/main" val="749430583"/>
                    </a:ext>
                  </a:extLst>
                </a:gridCol>
                <a:gridCol w="833351">
                  <a:extLst>
                    <a:ext uri="{9D8B030D-6E8A-4147-A177-3AD203B41FA5}">
                      <a16:colId xmlns:a16="http://schemas.microsoft.com/office/drawing/2014/main" val="3060120361"/>
                    </a:ext>
                  </a:extLst>
                </a:gridCol>
                <a:gridCol w="834052">
                  <a:extLst>
                    <a:ext uri="{9D8B030D-6E8A-4147-A177-3AD203B41FA5}">
                      <a16:colId xmlns:a16="http://schemas.microsoft.com/office/drawing/2014/main" val="3605754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UNLOAD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(mm/s)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模式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手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站點</a:t>
                      </a:r>
                      <a:endParaRPr lang="zh-TW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層</a:t>
                      </a:r>
                      <a:endParaRPr lang="zh-TW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471956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77E134-4F83-47DC-976B-D9C565AE152B}"/>
              </a:ext>
            </a:extLst>
          </p:cNvPr>
          <p:cNvSpPr txBox="1"/>
          <p:nvPr/>
        </p:nvSpPr>
        <p:spPr>
          <a:xfrm>
            <a:off x="337607" y="4081404"/>
            <a:ext cx="81290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進行晶圓放入動作，會進行安全位置判別。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速度設定可分成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段，也可以僅給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段速度。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參考附錄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取放片流程：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9-10-11-12-13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，並且會停止真空。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模式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：運行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9-10-D-11-12-13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，並且在</a:t>
            </a:r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10</a:t>
            </a:r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的位置停止真空。</a:t>
            </a:r>
          </a:p>
          <a:p>
            <a:r>
              <a:rPr lang="zh-TW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範例如下。</a:t>
            </a:r>
          </a:p>
          <a:p>
            <a:r>
              <a:rPr lang="pt-BR" altLang="zh-TW" sz="14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UNLOAD (80, 0, 1, 3, 1)</a:t>
            </a:r>
            <a:endParaRPr lang="zh-TW" altLang="zh-TW" sz="14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pt-BR" altLang="zh-TW" sz="14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UNLOAD (80, 40, 120, 0, 1, 3, 1)</a:t>
            </a:r>
            <a:endParaRPr lang="zh-TW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66492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E6087F6-B3CA-47D6-B37D-C9365202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Interface.ini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8B556-44E4-4D34-808D-DC6C94C12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C1ADB1-0874-494D-96B9-1BA1FAD59DC0}"/>
              </a:ext>
            </a:extLst>
          </p:cNvPr>
          <p:cNvSpPr txBox="1"/>
          <p:nvPr/>
        </p:nvSpPr>
        <p:spPr>
          <a:xfrm>
            <a:off x="450850" y="1097346"/>
            <a:ext cx="27453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8000FF"/>
                </a:solidFill>
                <a:highlight>
                  <a:srgbClr val="F2F4FF"/>
                </a:highlight>
                <a:latin typeface="Consolas" panose="020B0609020204030204" pitchFamily="49" charset="0"/>
              </a:rPr>
              <a:t>[System]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Server_IP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127.0.0.1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Server_Port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Advanced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Translate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57DAF6-7D5C-4C67-A6B3-D035A40B5439}"/>
              </a:ext>
            </a:extLst>
          </p:cNvPr>
          <p:cNvSpPr/>
          <p:nvPr/>
        </p:nvSpPr>
        <p:spPr bwMode="auto">
          <a:xfrm>
            <a:off x="2587358" y="1449042"/>
            <a:ext cx="162057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RAS_Server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的位址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82B8371-BBAA-426A-B85C-DF7DE502906C}"/>
              </a:ext>
            </a:extLst>
          </p:cNvPr>
          <p:cNvSpPr/>
          <p:nvPr/>
        </p:nvSpPr>
        <p:spPr bwMode="auto">
          <a:xfrm>
            <a:off x="1823508" y="1979241"/>
            <a:ext cx="3696759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Translate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：翻譯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文件的路徑，若設為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表示不翻譯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84627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(1)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8000FF"/>
                </a:solidFill>
                <a:highlight>
                  <a:srgbClr val="F2F4FF"/>
                </a:highlight>
                <a:latin typeface="Consolas" panose="020B0609020204030204" pitchFamily="49" charset="0"/>
              </a:rPr>
              <a:t>[System]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Pixel_Mode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Auto_Communication_Mode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Auto_Communication_IP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127.0.0.1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Auto_Communication_Port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Auto_Communication_Com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Auto_Communication_Type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Auto_Communication_Buffer_Size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20480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Auto_Load_Project_Name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Auto_Log_Msg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Auto_Log_Com_Msg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Modbus_Port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127.0.0.1:4001</a:t>
            </a:r>
          </a:p>
          <a:p>
            <a:endParaRPr lang="zh-TW" altLang="en-US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A7CE0B1-6B23-4EA9-8CC7-E38D357A5862}"/>
              </a:ext>
            </a:extLst>
          </p:cNvPr>
          <p:cNvSpPr/>
          <p:nvPr/>
        </p:nvSpPr>
        <p:spPr bwMode="auto">
          <a:xfrm>
            <a:off x="4699394" y="1937129"/>
            <a:ext cx="162057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這些參數無作用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右大括弧 7">
            <a:extLst>
              <a:ext uri="{FF2B5EF4-FFF2-40B4-BE49-F238E27FC236}">
                <a16:creationId xmlns:a16="http://schemas.microsoft.com/office/drawing/2014/main" id="{5B75EB82-D4C7-4FE0-BB14-465FE1756B14}"/>
              </a:ext>
            </a:extLst>
          </p:cNvPr>
          <p:cNvSpPr/>
          <p:nvPr/>
        </p:nvSpPr>
        <p:spPr bwMode="auto">
          <a:xfrm>
            <a:off x="4309533" y="1206500"/>
            <a:ext cx="262467" cy="180763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D0F6D9C-C322-484B-996E-EA8A648D34DE}"/>
              </a:ext>
            </a:extLst>
          </p:cNvPr>
          <p:cNvSpPr/>
          <p:nvPr/>
        </p:nvSpPr>
        <p:spPr bwMode="auto">
          <a:xfrm>
            <a:off x="3183861" y="3429000"/>
            <a:ext cx="2819006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Modbus Server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位址，設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表示不開啟</a:t>
            </a:r>
          </a:p>
        </p:txBody>
      </p:sp>
    </p:spTree>
    <p:extLst>
      <p:ext uri="{BB962C8B-B14F-4D97-AF65-F5344CB8AC3E}">
        <p14:creationId xmlns:p14="http://schemas.microsoft.com/office/powerpoint/2010/main" val="21543234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10453" y="6434383"/>
            <a:ext cx="571500" cy="238125"/>
          </a:xfrm>
        </p:spPr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i="0" dirty="0">
                <a:solidFill>
                  <a:srgbClr val="8000FF"/>
                </a:solidFill>
                <a:highlight>
                  <a:srgbClr val="F2F4FF"/>
                </a:highlight>
                <a:latin typeface="Consolas" panose="020B0609020204030204" pitchFamily="49" charset="0"/>
              </a:rPr>
              <a:t>[Kinematics]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Kinematics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Mechanical_a1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Mechanical_a2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210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Mechanical_a3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210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Mechanical_a4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345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Mechanical_a5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345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Mechanical_a6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Mechanical_a7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Mechanical_a8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Mechanical_d1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451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Mechanical_d2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Mechanical_d3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Mechanical_d4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57.6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Mechanical_d5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67.6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Mechanical_d6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Mechanical_d7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Mechanical_d8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Mechanical_dPe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Mechanical_dPf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Mechanical_dRe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Mechanical_dRf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Simulation_Type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C0CD254-1C4F-40C5-97DC-C2DF0A64D995}"/>
              </a:ext>
            </a:extLst>
          </p:cNvPr>
          <p:cNvSpPr/>
          <p:nvPr/>
        </p:nvSpPr>
        <p:spPr bwMode="auto">
          <a:xfrm>
            <a:off x="1837197" y="1012206"/>
            <a:ext cx="162057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運動學連桿參數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0F478DB8-9A6C-40A0-973D-0F0B897F63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40" t="-1" r="29779" b="-135"/>
          <a:stretch/>
        </p:blipFill>
        <p:spPr>
          <a:xfrm>
            <a:off x="4672612" y="1969921"/>
            <a:ext cx="4316981" cy="4564254"/>
          </a:xfrm>
          <a:prstGeom prst="rect">
            <a:avLst/>
          </a:prstGeom>
        </p:spPr>
      </p:pic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768472C-A8C1-454B-8BD7-AF98DD057DF1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1939383" y="1409054"/>
            <a:ext cx="784458" cy="11713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0D4777B-B758-4A8D-8349-3A7A20FCFF92}"/>
              </a:ext>
            </a:extLst>
          </p:cNvPr>
          <p:cNvSpPr txBox="1"/>
          <p:nvPr/>
        </p:nvSpPr>
        <p:spPr>
          <a:xfrm>
            <a:off x="2723841" y="1372297"/>
            <a:ext cx="363844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運動學編號，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為單牙叉型，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為雙牙叉型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2098B2E-ED88-4BAF-A6F0-044F5C253221}"/>
              </a:ext>
            </a:extLst>
          </p:cNvPr>
          <p:cNvSpPr txBox="1"/>
          <p:nvPr/>
        </p:nvSpPr>
        <p:spPr>
          <a:xfrm>
            <a:off x="3184203" y="1762461"/>
            <a:ext cx="1179335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JZ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軸 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Pitch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BB0B2ED2-A1D5-4859-B3CD-B683EA808878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2142067" y="1621507"/>
            <a:ext cx="1042136" cy="294843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25AAF9FF-18B5-4806-9C44-36B73A61B4E8}"/>
              </a:ext>
            </a:extLst>
          </p:cNvPr>
          <p:cNvCxnSpPr>
            <a:cxnSpLocks/>
          </p:cNvCxnSpPr>
          <p:nvPr/>
        </p:nvCxnSpPr>
        <p:spPr>
          <a:xfrm flipH="1" flipV="1">
            <a:off x="2235201" y="1887260"/>
            <a:ext cx="5139266" cy="83299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36A7225-C329-47FD-9E2E-510E124DC14E}"/>
              </a:ext>
            </a:extLst>
          </p:cNvPr>
          <p:cNvCxnSpPr>
            <a:cxnSpLocks/>
          </p:cNvCxnSpPr>
          <p:nvPr/>
        </p:nvCxnSpPr>
        <p:spPr>
          <a:xfrm flipH="1" flipV="1">
            <a:off x="2235200" y="2058753"/>
            <a:ext cx="4299459" cy="672843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232755E-E4FD-4FC2-BC77-E09EB3481C25}"/>
              </a:ext>
            </a:extLst>
          </p:cNvPr>
          <p:cNvSpPr txBox="1"/>
          <p:nvPr/>
        </p:nvSpPr>
        <p:spPr>
          <a:xfrm>
            <a:off x="4690353" y="1886922"/>
            <a:ext cx="132137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連桿長度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(mm)</a:t>
            </a: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F732A6A-4B43-4366-BC78-FFB90CBF067D}"/>
              </a:ext>
            </a:extLst>
          </p:cNvPr>
          <p:cNvCxnSpPr>
            <a:cxnSpLocks/>
          </p:cNvCxnSpPr>
          <p:nvPr/>
        </p:nvCxnSpPr>
        <p:spPr>
          <a:xfrm flipH="1" flipV="1">
            <a:off x="2297003" y="2500271"/>
            <a:ext cx="2916692" cy="139953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92817E3-F577-4DF1-9EE3-6765CFE6B7C6}"/>
              </a:ext>
            </a:extLst>
          </p:cNvPr>
          <p:cNvCxnSpPr>
            <a:cxnSpLocks/>
          </p:cNvCxnSpPr>
          <p:nvPr/>
        </p:nvCxnSpPr>
        <p:spPr>
          <a:xfrm flipH="1" flipV="1">
            <a:off x="2235202" y="2231326"/>
            <a:ext cx="2836037" cy="1761757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8EC8E96-862C-4468-9DCA-DC6436C7CB22}"/>
              </a:ext>
            </a:extLst>
          </p:cNvPr>
          <p:cNvSpPr txBox="1"/>
          <p:nvPr/>
        </p:nvSpPr>
        <p:spPr>
          <a:xfrm>
            <a:off x="2551284" y="2297625"/>
            <a:ext cx="513085" cy="2462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Fork 1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B55DB14-2F4C-4193-BA8C-35331C2BD581}"/>
              </a:ext>
            </a:extLst>
          </p:cNvPr>
          <p:cNvSpPr txBox="1"/>
          <p:nvPr/>
        </p:nvSpPr>
        <p:spPr>
          <a:xfrm>
            <a:off x="2432746" y="2694234"/>
            <a:ext cx="513085" cy="2462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Fork 2</a:t>
            </a: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99D7E484-DC36-434D-BD34-AF0CCE4A7FC3}"/>
              </a:ext>
            </a:extLst>
          </p:cNvPr>
          <p:cNvCxnSpPr>
            <a:cxnSpLocks/>
          </p:cNvCxnSpPr>
          <p:nvPr/>
        </p:nvCxnSpPr>
        <p:spPr>
          <a:xfrm flipH="1" flipV="1">
            <a:off x="2246118" y="3343410"/>
            <a:ext cx="2389382" cy="1942423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23188DE-B6C7-41CA-94A3-8CCED819FB48}"/>
              </a:ext>
            </a:extLst>
          </p:cNvPr>
          <p:cNvCxnSpPr>
            <a:cxnSpLocks/>
          </p:cNvCxnSpPr>
          <p:nvPr/>
        </p:nvCxnSpPr>
        <p:spPr>
          <a:xfrm flipH="1" flipV="1">
            <a:off x="2144322" y="3810671"/>
            <a:ext cx="2660512" cy="570267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9FC999E-FF64-4FDB-8D7B-9B1891C46E19}"/>
              </a:ext>
            </a:extLst>
          </p:cNvPr>
          <p:cNvSpPr txBox="1"/>
          <p:nvPr/>
        </p:nvSpPr>
        <p:spPr>
          <a:xfrm>
            <a:off x="2997523" y="3586399"/>
            <a:ext cx="88657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高度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(mm)</a:t>
            </a: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5EE2070C-B890-46B0-8E26-D37BA52C8660}"/>
              </a:ext>
            </a:extLst>
          </p:cNvPr>
          <p:cNvCxnSpPr>
            <a:cxnSpLocks/>
          </p:cNvCxnSpPr>
          <p:nvPr/>
        </p:nvCxnSpPr>
        <p:spPr>
          <a:xfrm flipH="1" flipV="1">
            <a:off x="2342904" y="3973054"/>
            <a:ext cx="2461931" cy="142645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78D213C8-1298-46D5-92DA-6B3254855C12}"/>
              </a:ext>
            </a:extLst>
          </p:cNvPr>
          <p:cNvCxnSpPr/>
          <p:nvPr/>
        </p:nvCxnSpPr>
        <p:spPr>
          <a:xfrm>
            <a:off x="4854596" y="3993083"/>
            <a:ext cx="0" cy="258965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6D11ECB-C1A9-44B5-8D86-DC4BD4CD5167}"/>
              </a:ext>
            </a:extLst>
          </p:cNvPr>
          <p:cNvCxnSpPr/>
          <p:nvPr/>
        </p:nvCxnSpPr>
        <p:spPr>
          <a:xfrm>
            <a:off x="4870539" y="4263447"/>
            <a:ext cx="0" cy="258965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584250F-EEE2-4132-B70A-A67E470A00AD}"/>
              </a:ext>
            </a:extLst>
          </p:cNvPr>
          <p:cNvCxnSpPr>
            <a:cxnSpLocks/>
          </p:cNvCxnSpPr>
          <p:nvPr/>
        </p:nvCxnSpPr>
        <p:spPr>
          <a:xfrm>
            <a:off x="4712553" y="4522412"/>
            <a:ext cx="0" cy="1490189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25978B3F-D20B-4A71-A0C7-2D7981884BA6}"/>
              </a:ext>
            </a:extLst>
          </p:cNvPr>
          <p:cNvCxnSpPr>
            <a:cxnSpLocks/>
          </p:cNvCxnSpPr>
          <p:nvPr/>
        </p:nvCxnSpPr>
        <p:spPr>
          <a:xfrm flipH="1">
            <a:off x="2342904" y="4059382"/>
            <a:ext cx="2284198" cy="12483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headEnd type="diamond" w="med" len="med"/>
            <a:tailEnd type="triangle" w="med" len="med"/>
          </a:ln>
          <a:effectLst/>
        </p:spPr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F3A85DD-499E-4C4E-AE99-65C364875018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672612" y="3961479"/>
            <a:ext cx="0" cy="290569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793550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69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8000FF"/>
                </a:solidFill>
                <a:highlight>
                  <a:srgbClr val="F2F4FF"/>
                </a:highlight>
                <a:latin typeface="Consolas" panose="020B0609020204030204" pitchFamily="49" charset="0"/>
              </a:rPr>
              <a:t>[Control]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System_Mode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Number_Of_Joints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Absolute_Encoder_Mode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Joint_1_Initial_Degree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Joint_2_Initial_Degree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-124.85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Joint_3_Initial_Degree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-110.3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Joint_4_Initial_Degree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-124.85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Joint_5_Initial_Degree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-124.85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Joint_6_Initial_Degree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Joint_7_Initial_Degree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Joint_8_Initial_Degree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RIO_Set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it-IT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ESTOP_Alarm_IO_ID</a:t>
            </a:r>
            <a:r>
              <a:rPr lang="it-IT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it-IT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</a:p>
          <a:p>
            <a:r>
              <a:rPr lang="it-IT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ESTOP_Alarm_IO_Swap</a:t>
            </a:r>
            <a:r>
              <a:rPr lang="it-IT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it-IT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C0CD254-1C4F-40C5-97DC-C2DF0A64D995}"/>
              </a:ext>
            </a:extLst>
          </p:cNvPr>
          <p:cNvSpPr/>
          <p:nvPr/>
        </p:nvSpPr>
        <p:spPr bwMode="auto">
          <a:xfrm>
            <a:off x="1937145" y="1130300"/>
            <a:ext cx="269835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系統模式：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表示實機，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表示模擬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2CF560A-D79D-4D37-B9FD-6C0FEE996FC7}"/>
              </a:ext>
            </a:extLst>
          </p:cNvPr>
          <p:cNvSpPr/>
          <p:nvPr/>
        </p:nvSpPr>
        <p:spPr bwMode="auto">
          <a:xfrm>
            <a:off x="2365769" y="1474099"/>
            <a:ext cx="61449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軸數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607258E-C81F-4A21-8305-81E77EFC0124}"/>
              </a:ext>
            </a:extLst>
          </p:cNvPr>
          <p:cNvSpPr/>
          <p:nvPr/>
        </p:nvSpPr>
        <p:spPr bwMode="auto">
          <a:xfrm>
            <a:off x="3965243" y="2657315"/>
            <a:ext cx="1340513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各軸初始化角度</a:t>
            </a:r>
          </a:p>
        </p:txBody>
      </p:sp>
      <p:sp>
        <p:nvSpPr>
          <p:cNvPr id="9" name="右大括弧 8">
            <a:extLst>
              <a:ext uri="{FF2B5EF4-FFF2-40B4-BE49-F238E27FC236}">
                <a16:creationId xmlns:a16="http://schemas.microsoft.com/office/drawing/2014/main" id="{6CF88D2D-8E9E-42C7-9297-76D4ED14FD72}"/>
              </a:ext>
            </a:extLst>
          </p:cNvPr>
          <p:cNvSpPr/>
          <p:nvPr/>
        </p:nvSpPr>
        <p:spPr bwMode="auto">
          <a:xfrm>
            <a:off x="3669634" y="2105554"/>
            <a:ext cx="262467" cy="1391179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A6EEC21-6336-4ABF-9892-AF35F25AB5FF}"/>
              </a:ext>
            </a:extLst>
          </p:cNvPr>
          <p:cNvSpPr/>
          <p:nvPr/>
        </p:nvSpPr>
        <p:spPr bwMode="auto">
          <a:xfrm>
            <a:off x="2755235" y="3968196"/>
            <a:ext cx="1478098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緊急停止的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I/O ID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19596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Motor_1_PosToEncoderDir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Motor_1_PPR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67108864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Motor_1_RPM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1500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Motor_1_Pitch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Motor_1_GearRatio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Motor_1_HighLimit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16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Motor_1_LowLimit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-0.1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Motor_1_ABSwap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Motor_8_PosToEncoderDir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Motor_8_PPR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131072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Motor_8_RPM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Motor_8_Pitch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Motor_8_GearRatio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Motor_8_HighLimit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Motor_8_LowLimit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-4.31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Motor_8_ABSwap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25D3C3-1944-4FED-B92F-3B992D01679D}"/>
              </a:ext>
            </a:extLst>
          </p:cNvPr>
          <p:cNvSpPr/>
          <p:nvPr/>
        </p:nvSpPr>
        <p:spPr bwMode="auto">
          <a:xfrm>
            <a:off x="3503262" y="905015"/>
            <a:ext cx="2009578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軸命令相對編碼器方向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95D2DED0-58F3-4C69-8B13-B925A3B52543}"/>
              </a:ext>
            </a:extLst>
          </p:cNvPr>
          <p:cNvSpPr/>
          <p:nvPr/>
        </p:nvSpPr>
        <p:spPr bwMode="auto">
          <a:xfrm>
            <a:off x="3521039" y="1205278"/>
            <a:ext cx="901664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PPR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735BCD5-DB99-4D59-B320-B12BBFAA5B8E}"/>
              </a:ext>
            </a:extLst>
          </p:cNvPr>
          <p:cNvSpPr/>
          <p:nvPr/>
        </p:nvSpPr>
        <p:spPr bwMode="auto">
          <a:xfrm>
            <a:off x="4565685" y="1444896"/>
            <a:ext cx="943997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RPM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2BDB0B84-006C-4064-AF63-5067C6A81CD8}"/>
              </a:ext>
            </a:extLst>
          </p:cNvPr>
          <p:cNvSpPr/>
          <p:nvPr/>
        </p:nvSpPr>
        <p:spPr bwMode="auto">
          <a:xfrm>
            <a:off x="2120936" y="1672513"/>
            <a:ext cx="774664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固定為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4ED7FE9C-6866-467D-8629-F4369FC7390D}"/>
              </a:ext>
            </a:extLst>
          </p:cNvPr>
          <p:cNvSpPr/>
          <p:nvPr/>
        </p:nvSpPr>
        <p:spPr bwMode="auto">
          <a:xfrm>
            <a:off x="3851042" y="1936043"/>
            <a:ext cx="107946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軸減速比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5B78F4F9-CE16-4D00-89EE-CD19A6A5FD6C}"/>
              </a:ext>
            </a:extLst>
          </p:cNvPr>
          <p:cNvSpPr/>
          <p:nvPr/>
        </p:nvSpPr>
        <p:spPr bwMode="auto">
          <a:xfrm>
            <a:off x="3008572" y="2232888"/>
            <a:ext cx="1079465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上下極限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圈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912DC10E-74CB-4368-A1FE-464FBC41B40A}"/>
              </a:ext>
            </a:extLst>
          </p:cNvPr>
          <p:cNvSpPr/>
          <p:nvPr/>
        </p:nvSpPr>
        <p:spPr bwMode="auto">
          <a:xfrm>
            <a:off x="3573936" y="2593883"/>
            <a:ext cx="1697533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1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1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軸編碼器是否反向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C5D6F3-7280-4D11-962D-67E70DE45AB3}"/>
              </a:ext>
            </a:extLst>
          </p:cNvPr>
          <p:cNvCxnSpPr>
            <a:stCxn id="26" idx="1"/>
          </p:cNvCxnSpPr>
          <p:nvPr/>
        </p:nvCxnSpPr>
        <p:spPr bwMode="auto">
          <a:xfrm flipH="1">
            <a:off x="3064933" y="1048843"/>
            <a:ext cx="438329" cy="1386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CEDE9D14-88D4-4A46-819E-8B54AA87F709}"/>
              </a:ext>
            </a:extLst>
          </p:cNvPr>
          <p:cNvCxnSpPr>
            <a:stCxn id="27" idx="1"/>
          </p:cNvCxnSpPr>
          <p:nvPr/>
        </p:nvCxnSpPr>
        <p:spPr bwMode="auto">
          <a:xfrm flipH="1">
            <a:off x="2556933" y="1349106"/>
            <a:ext cx="964106" cy="599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DB1F223-50DF-43D8-A335-5BEF9DBAC109}"/>
              </a:ext>
            </a:extLst>
          </p:cNvPr>
          <p:cNvCxnSpPr>
            <a:cxnSpLocks/>
            <a:stCxn id="28" idx="1"/>
          </p:cNvCxnSpPr>
          <p:nvPr/>
        </p:nvCxnSpPr>
        <p:spPr bwMode="auto">
          <a:xfrm flipH="1" flipV="1">
            <a:off x="2218267" y="1539715"/>
            <a:ext cx="2347418" cy="49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7660A3FF-F8AD-4C43-8AEC-491C518A4C35}"/>
              </a:ext>
            </a:extLst>
          </p:cNvPr>
          <p:cNvCxnSpPr/>
          <p:nvPr/>
        </p:nvCxnSpPr>
        <p:spPr bwMode="auto">
          <a:xfrm flipH="1">
            <a:off x="2556933" y="2053665"/>
            <a:ext cx="129410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右大括弧 39">
            <a:extLst>
              <a:ext uri="{FF2B5EF4-FFF2-40B4-BE49-F238E27FC236}">
                <a16:creationId xmlns:a16="http://schemas.microsoft.com/office/drawing/2014/main" id="{E3933119-C675-4BE1-8AB1-7B47BFC8C157}"/>
              </a:ext>
            </a:extLst>
          </p:cNvPr>
          <p:cNvSpPr/>
          <p:nvPr/>
        </p:nvSpPr>
        <p:spPr bwMode="auto">
          <a:xfrm>
            <a:off x="2691108" y="2200979"/>
            <a:ext cx="262467" cy="332281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4F1D665-9C22-4269-9638-934BA475EDA1}"/>
              </a:ext>
            </a:extLst>
          </p:cNvPr>
          <p:cNvCxnSpPr>
            <a:cxnSpLocks/>
            <a:stCxn id="32" idx="1"/>
          </p:cNvCxnSpPr>
          <p:nvPr/>
        </p:nvCxnSpPr>
        <p:spPr bwMode="auto">
          <a:xfrm flipH="1" flipV="1">
            <a:off x="2197784" y="2688043"/>
            <a:ext cx="1376152" cy="49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004694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71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altLang="zh-TW" sz="1400" i="0" dirty="0">
                <a:solidFill>
                  <a:srgbClr val="0000FF"/>
                </a:solidFill>
                <a:highlight>
                  <a:srgbClr val="FFFFFF"/>
                </a:highlight>
              </a:rPr>
              <a:t>Motor_1_Zero_pose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Motor_2_Zero_pose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Motor_3_Zero_pose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Motor_4_Zero_pose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Motor_5_Zero_pose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Motor_6_Zero_pose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Motor_7_Zero_pose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pt-BR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Motor_8_Zero_pose</a:t>
            </a:r>
            <a:r>
              <a:rPr lang="pt-BR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pt-BR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pt-BR" altLang="zh-TW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400" i="0" dirty="0">
                <a:solidFill>
                  <a:srgbClr val="0000FF"/>
                </a:solidFill>
                <a:highlight>
                  <a:srgbClr val="FFFFFF"/>
                </a:highlight>
              </a:rPr>
              <a:t>EIO_0_IDX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EIO_0_IN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EIO_0_OUT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EIO_1_IDX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EIO_1_IN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EIO_1_OUT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EIO_2_IDX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2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EIO_2_IN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EIO_2_OUT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EIO_3_IDX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3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EIO_3_IN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EIO_3_OUT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0</a:t>
            </a:r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7283E63-B77B-465B-A6BB-9B3ECED8E15C}"/>
              </a:ext>
            </a:extLst>
          </p:cNvPr>
          <p:cNvSpPr/>
          <p:nvPr/>
        </p:nvSpPr>
        <p:spPr bwMode="auto">
          <a:xfrm>
            <a:off x="2874467" y="2040395"/>
            <a:ext cx="1697533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各軸歸零校正點位置</a:t>
            </a:r>
            <a:endParaRPr kumimoji="1" lang="zh-TW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右大括弧 18">
            <a:extLst>
              <a:ext uri="{FF2B5EF4-FFF2-40B4-BE49-F238E27FC236}">
                <a16:creationId xmlns:a16="http://schemas.microsoft.com/office/drawing/2014/main" id="{D68A0F1F-EB7E-418B-A44F-01802AD62D9F}"/>
              </a:ext>
            </a:extLst>
          </p:cNvPr>
          <p:cNvSpPr/>
          <p:nvPr/>
        </p:nvSpPr>
        <p:spPr bwMode="auto">
          <a:xfrm>
            <a:off x="2547175" y="1362779"/>
            <a:ext cx="262467" cy="1642888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76C0995-7591-4937-A18C-7AE809AC4233}"/>
              </a:ext>
            </a:extLst>
          </p:cNvPr>
          <p:cNvSpPr txBox="1"/>
          <p:nvPr/>
        </p:nvSpPr>
        <p:spPr>
          <a:xfrm>
            <a:off x="2547174" y="3247272"/>
            <a:ext cx="1220737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卡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01EEC56-34EB-4F97-89D2-D1FB14FD2BF4}"/>
              </a:ext>
            </a:extLst>
          </p:cNvPr>
          <p:cNvSpPr txBox="1"/>
          <p:nvPr/>
        </p:nvSpPr>
        <p:spPr>
          <a:xfrm>
            <a:off x="2547174" y="3957986"/>
            <a:ext cx="1220737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A06063F-1308-4BE4-ACEE-25020572F227}"/>
              </a:ext>
            </a:extLst>
          </p:cNvPr>
          <p:cNvSpPr txBox="1"/>
          <p:nvPr/>
        </p:nvSpPr>
        <p:spPr>
          <a:xfrm>
            <a:off x="2547174" y="4313343"/>
            <a:ext cx="1045229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卡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9E72CFE-0108-45D3-BD77-6703E7F2492E}"/>
              </a:ext>
            </a:extLst>
          </p:cNvPr>
          <p:cNvSpPr txBox="1"/>
          <p:nvPr/>
        </p:nvSpPr>
        <p:spPr>
          <a:xfrm>
            <a:off x="2547174" y="4668700"/>
            <a:ext cx="132135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Input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0775828-7103-4E2E-93C0-F1C15DDC263E}"/>
              </a:ext>
            </a:extLst>
          </p:cNvPr>
          <p:cNvSpPr txBox="1"/>
          <p:nvPr/>
        </p:nvSpPr>
        <p:spPr>
          <a:xfrm>
            <a:off x="2547174" y="5024056"/>
            <a:ext cx="132135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8B4C068-813C-435C-855D-5E7A1A606160}"/>
              </a:ext>
            </a:extLst>
          </p:cNvPr>
          <p:cNvSpPr txBox="1"/>
          <p:nvPr/>
        </p:nvSpPr>
        <p:spPr>
          <a:xfrm>
            <a:off x="2547174" y="3602629"/>
            <a:ext cx="1194498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Input</a:t>
            </a:r>
            <a:r>
              <a:rPr kumimoji="0" lang="zh-TW" altLang="en-US" sz="14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kumimoji="0" lang="en-US" altLang="zh-TW" sz="14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9DD3B0A-3B47-4308-97B6-F7DC67D4315B}"/>
              </a:ext>
            </a:extLst>
          </p:cNvPr>
          <p:cNvCxnSpPr>
            <a:cxnSpLocks/>
            <a:stCxn id="33" idx="1"/>
          </p:cNvCxnSpPr>
          <p:nvPr/>
        </p:nvCxnSpPr>
        <p:spPr bwMode="auto">
          <a:xfrm flipH="1" flipV="1">
            <a:off x="1752600" y="3324216"/>
            <a:ext cx="794574" cy="769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69CD068-A2B2-4CBC-AE97-8F09776D4CC1}"/>
              </a:ext>
            </a:extLst>
          </p:cNvPr>
          <p:cNvCxnSpPr/>
          <p:nvPr/>
        </p:nvCxnSpPr>
        <p:spPr bwMode="auto">
          <a:xfrm flipH="1" flipV="1">
            <a:off x="1634067" y="3554199"/>
            <a:ext cx="913107" cy="2023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710A42B-DE40-460A-8247-DC7A573E7447}"/>
              </a:ext>
            </a:extLst>
          </p:cNvPr>
          <p:cNvCxnSpPr/>
          <p:nvPr/>
        </p:nvCxnSpPr>
        <p:spPr bwMode="auto">
          <a:xfrm flipH="1" flipV="1">
            <a:off x="1752600" y="3756093"/>
            <a:ext cx="794574" cy="3270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FAFA23A-5333-4450-B851-E6DDECCB7184}"/>
              </a:ext>
            </a:extLst>
          </p:cNvPr>
          <p:cNvCxnSpPr>
            <a:stCxn id="37" idx="1"/>
          </p:cNvCxnSpPr>
          <p:nvPr/>
        </p:nvCxnSpPr>
        <p:spPr bwMode="auto">
          <a:xfrm flipH="1" flipV="1">
            <a:off x="1634067" y="3957985"/>
            <a:ext cx="913107" cy="5092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C0616A-B11E-4E54-B27B-45EAAA2F0F13}"/>
              </a:ext>
            </a:extLst>
          </p:cNvPr>
          <p:cNvCxnSpPr>
            <a:stCxn id="38" idx="1"/>
          </p:cNvCxnSpPr>
          <p:nvPr/>
        </p:nvCxnSpPr>
        <p:spPr bwMode="auto">
          <a:xfrm flipH="1" flipV="1">
            <a:off x="1634067" y="4159454"/>
            <a:ext cx="913107" cy="6631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A37F824-22F4-4F94-8328-F776A03BD3EF}"/>
              </a:ext>
            </a:extLst>
          </p:cNvPr>
          <p:cNvCxnSpPr/>
          <p:nvPr/>
        </p:nvCxnSpPr>
        <p:spPr bwMode="auto">
          <a:xfrm flipH="1" flipV="1">
            <a:off x="1752600" y="4409605"/>
            <a:ext cx="794574" cy="7683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67043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70F4DF0-39C8-4E2C-A64A-DB8909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Robot.ini (6)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4A63E2-18FF-4156-AD39-1DE8ED425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72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620CF-ADBB-4BD6-BD02-2CA991F5DBB6}"/>
              </a:ext>
            </a:extLst>
          </p:cNvPr>
          <p:cNvSpPr txBox="1"/>
          <p:nvPr/>
        </p:nvSpPr>
        <p:spPr>
          <a:xfrm>
            <a:off x="450850" y="1047621"/>
            <a:ext cx="505883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中間省略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TW" sz="1400" b="1" dirty="0">
                <a:solidFill>
                  <a:srgbClr val="8000FF"/>
                </a:solidFill>
                <a:highlight>
                  <a:srgbClr val="F2F4FF"/>
                </a:highlight>
              </a:rPr>
              <a:t>[</a:t>
            </a:r>
            <a:r>
              <a:rPr lang="en-US" altLang="zh-TW" sz="1400" b="1" dirty="0" err="1">
                <a:solidFill>
                  <a:srgbClr val="8000FF"/>
                </a:solidFill>
                <a:highlight>
                  <a:srgbClr val="F2F4FF"/>
                </a:highlight>
              </a:rPr>
              <a:t>IO_define</a:t>
            </a:r>
            <a:r>
              <a:rPr lang="en-US" altLang="zh-TW" sz="1400" b="1" dirty="0">
                <a:solidFill>
                  <a:srgbClr val="8000FF"/>
                </a:solidFill>
                <a:highlight>
                  <a:srgbClr val="F2F4FF"/>
                </a:highlight>
              </a:rPr>
              <a:t>]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Input_0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I0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SERVO_ON_DETECT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Input_2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ACTION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Input_3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REMOTE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Input_4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TEACH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Input_5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I5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Input_6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I6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Input_7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ESTOP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Input_8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SENSOR_1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Input_9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SENSOR_2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Input_10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SENSOR_3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Input_11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SENSOR_4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Input_12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SENSOR_5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Input_13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SENSOR_6</a:t>
            </a:r>
          </a:p>
          <a:p>
            <a:r>
              <a:rPr lang="en-US" altLang="zh-TW" sz="1400" b="0" i="0" dirty="0">
                <a:solidFill>
                  <a:srgbClr val="0000FF"/>
                </a:solidFill>
                <a:highlight>
                  <a:srgbClr val="FFFFFF"/>
                </a:highlight>
              </a:rPr>
              <a:t>Input_14</a:t>
            </a:r>
            <a:r>
              <a:rPr lang="en-US" altLang="zh-TW" sz="1400" b="1" i="0" dirty="0">
                <a:solidFill>
                  <a:srgbClr val="FF0000"/>
                </a:solidFill>
                <a:highlight>
                  <a:srgbClr val="FFFFFF"/>
                </a:highlight>
              </a:rPr>
              <a:t>=</a:t>
            </a:r>
            <a:r>
              <a:rPr lang="en-US" altLang="zh-TW" sz="1400" b="0" i="0" dirty="0">
                <a:solidFill>
                  <a:srgbClr val="000000"/>
                </a:solidFill>
                <a:highlight>
                  <a:srgbClr val="FFFFFF"/>
                </a:highlight>
              </a:rPr>
              <a:t>SENSOR_7</a:t>
            </a:r>
          </a:p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</a:t>
            </a:r>
            <a:r>
              <a:rPr lang="zh-TW" alt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以下省略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</a:t>
            </a:r>
            <a:endParaRPr lang="en-US" altLang="zh-TW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TW" sz="1400" b="0" i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598E6C69-57AE-4DD0-AD2E-B87C1E9BBA09}"/>
              </a:ext>
            </a:extLst>
          </p:cNvPr>
          <p:cNvSpPr/>
          <p:nvPr/>
        </p:nvSpPr>
        <p:spPr bwMode="auto">
          <a:xfrm>
            <a:off x="1934668" y="1336962"/>
            <a:ext cx="1333466" cy="28765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編號名稱定義</a:t>
            </a:r>
          </a:p>
        </p:txBody>
      </p:sp>
    </p:spTree>
    <p:extLst>
      <p:ext uri="{BB962C8B-B14F-4D97-AF65-F5344CB8AC3E}">
        <p14:creationId xmlns:p14="http://schemas.microsoft.com/office/powerpoint/2010/main" val="1411500813"/>
      </p:ext>
    </p:extLst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簡報內頁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簡報內頁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簡報內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8167</TotalTime>
  <Words>13840</Words>
  <Application>Microsoft Office PowerPoint</Application>
  <PresentationFormat>如螢幕大小 (4:3)</PresentationFormat>
  <Paragraphs>2986</Paragraphs>
  <Slides>72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72</vt:i4>
      </vt:variant>
    </vt:vector>
  </HeadingPairs>
  <TitlesOfParts>
    <vt:vector size="79" baseType="lpstr">
      <vt:lpstr>微軟正黑體</vt:lpstr>
      <vt:lpstr>Arial</vt:lpstr>
      <vt:lpstr>Calibri</vt:lpstr>
      <vt:lpstr>Consolas</vt:lpstr>
      <vt:lpstr>Courier New</vt:lpstr>
      <vt:lpstr>Times New Roman</vt:lpstr>
      <vt:lpstr>簡報內頁</vt:lpstr>
      <vt:lpstr>RASeMIO程式教學說明</vt:lpstr>
      <vt:lpstr>RASeMIO架構</vt:lpstr>
      <vt:lpstr>編譯環境</vt:lpstr>
      <vt:lpstr>程式碼架構</vt:lpstr>
      <vt:lpstr>RAS bat 說明</vt:lpstr>
      <vt:lpstr>3D顯示介面</vt:lpstr>
      <vt:lpstr>教導與模型載入介面</vt:lpstr>
      <vt:lpstr>程式撰寫介面</vt:lpstr>
      <vt:lpstr>設定與IO介面</vt:lpstr>
      <vt:lpstr>多國語言設定</vt:lpstr>
      <vt:lpstr>通訊格式說明</vt:lpstr>
      <vt:lpstr>CRC32說明</vt:lpstr>
      <vt:lpstr>範例1</vt:lpstr>
      <vt:lpstr>範例2</vt:lpstr>
      <vt:lpstr>範例3</vt:lpstr>
      <vt:lpstr>範例4</vt:lpstr>
      <vt:lpstr>範例5</vt:lpstr>
      <vt:lpstr>範例6</vt:lpstr>
      <vt:lpstr>範例7</vt:lpstr>
      <vt:lpstr>範例8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指令列表</vt:lpstr>
      <vt:lpstr>Modbus TCP</vt:lpstr>
      <vt:lpstr>多種啟動模式</vt:lpstr>
      <vt:lpstr>Server處理訊息</vt:lpstr>
      <vt:lpstr>Robot Language</vt:lpstr>
      <vt:lpstr>Robot Language</vt:lpstr>
      <vt:lpstr>Robot Language</vt:lpstr>
      <vt:lpstr>Robot Language</vt:lpstr>
      <vt:lpstr>教導點位系統</vt:lpstr>
      <vt:lpstr>RASC初始化</vt:lpstr>
      <vt:lpstr>RASC存檔</vt:lpstr>
      <vt:lpstr>RASC讀檔</vt:lpstr>
      <vt:lpstr>RAS Render</vt:lpstr>
      <vt:lpstr>RAS Render</vt:lpstr>
      <vt:lpstr>IRAL指令</vt:lpstr>
      <vt:lpstr>Shared Memory通訊流程(1)</vt:lpstr>
      <vt:lpstr>Shared Memory通訊流程(2)</vt:lpstr>
      <vt:lpstr>Shared Memory通訊流程(3)</vt:lpstr>
      <vt:lpstr>Shared Memory通訊流程(4)</vt:lpstr>
      <vt:lpstr>Shared Memory通訊流程(5)</vt:lpstr>
      <vt:lpstr>Shared Memory中非RT命令</vt:lpstr>
      <vt:lpstr>Forward Kinematics</vt:lpstr>
      <vt:lpstr>Inverse Kinematics</vt:lpstr>
      <vt:lpstr>初始化系統(1)</vt:lpstr>
      <vt:lpstr>初始化系統(2)</vt:lpstr>
      <vt:lpstr>初始化系統(3)</vt:lpstr>
      <vt:lpstr>初始化系統(4)</vt:lpstr>
      <vt:lpstr>ITRI.lic</vt:lpstr>
      <vt:lpstr>晶圓機器人指令 (1)</vt:lpstr>
      <vt:lpstr>晶圓機器人指令 (2)</vt:lpstr>
      <vt:lpstr>晶圓機器人指令 (3)</vt:lpstr>
      <vt:lpstr>Interface.ini</vt:lpstr>
      <vt:lpstr>Robot.ini (1)</vt:lpstr>
      <vt:lpstr>Robot.ini (2)</vt:lpstr>
      <vt:lpstr>Robot.ini (3)</vt:lpstr>
      <vt:lpstr>Robot.ini (4)</vt:lpstr>
      <vt:lpstr>Robot.ini (5)</vt:lpstr>
      <vt:lpstr>Robot.ini (6)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RASeMIO程式教學說明</dc:title>
  <dc:creator>ITRI</dc:creator>
  <cp:keywords>2008NewCIS</cp:keywords>
  <cp:lastModifiedBy>Jason Li</cp:lastModifiedBy>
  <cp:revision>1485</cp:revision>
  <cp:lastPrinted>2025-04-16T05:25:17Z</cp:lastPrinted>
  <dcterms:created xsi:type="dcterms:W3CDTF">2008-05-08T04:38:45Z</dcterms:created>
  <dcterms:modified xsi:type="dcterms:W3CDTF">2025-06-11T09:21:43Z</dcterms:modified>
</cp:coreProperties>
</file>